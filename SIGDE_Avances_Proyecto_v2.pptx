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1e01386a804944" /><Relationship Type="http://schemas.openxmlformats.org/officeDocument/2006/relationships/extended-properties" Target="/docProps/app.xml" Id="R4cb9e8bb8f004b2f" /><Relationship Type="http://schemas.openxmlformats.org/officeDocument/2006/relationships/officeDocument" Target="/ppt/presentation.xml" Id="Rbc13620e3b624e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a2c49fa0b34779"/>
  </p:sldMasterIdLst>
  <p:notesMasterIdLst>
    <p:notesMasterId xmlns:r="http://schemas.openxmlformats.org/officeDocument/2006/relationships" r:id="R670d28b7fe744e2a"/>
  </p:notesMasterIdLst>
  <p:sldIdLst>
    <p:sldId xmlns:r="http://schemas.openxmlformats.org/officeDocument/2006/relationships" id="256" r:id="Re982c29fcb074e59"/>
    <p:sldId xmlns:r="http://schemas.openxmlformats.org/officeDocument/2006/relationships" id="257" r:id="R8a2d5b786c5741b0"/>
    <p:sldId xmlns:r="http://schemas.openxmlformats.org/officeDocument/2006/relationships" id="258" r:id="Rdc46ad81584e4f32"/>
    <p:sldId xmlns:r="http://schemas.openxmlformats.org/officeDocument/2006/relationships" id="259" r:id="R061bf09433b84c86"/>
    <p:sldId xmlns:r="http://schemas.openxmlformats.org/officeDocument/2006/relationships" id="260" r:id="R3e29ee7ec0294fab"/>
    <p:sldId xmlns:r="http://schemas.openxmlformats.org/officeDocument/2006/relationships" id="261" r:id="R3021b81190f6451e"/>
    <p:sldId xmlns:r="http://schemas.openxmlformats.org/officeDocument/2006/relationships" id="262" r:id="Rcae8368c294d4cbd"/>
    <p:sldId xmlns:r="http://schemas.openxmlformats.org/officeDocument/2006/relationships" id="263" r:id="R56f90db14e964cf2"/>
    <p:sldId xmlns:r="http://schemas.openxmlformats.org/officeDocument/2006/relationships" id="264" r:id="R8ed46ccb046e42cf"/>
    <p:sldId xmlns:r="http://schemas.openxmlformats.org/officeDocument/2006/relationships" id="265" r:id="R9cc1fbca31fd46fb"/>
    <p:sldId xmlns:r="http://schemas.openxmlformats.org/officeDocument/2006/relationships" id="266" r:id="Rb38b5757e97948e4"/>
    <p:sldId xmlns:r="http://schemas.openxmlformats.org/officeDocument/2006/relationships" id="267" r:id="R4765f0b68c19425b"/>
    <p:sldId xmlns:r="http://schemas.openxmlformats.org/officeDocument/2006/relationships" id="268" r:id="R5a3d7518846341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304f999f5a410c" /><Relationship Type="http://schemas.openxmlformats.org/officeDocument/2006/relationships/slideMaster" Target="/ppt/slideMasters/slideMaster1.xml" Id="R1ba2c49fa0b34779" /><Relationship Type="http://schemas.openxmlformats.org/officeDocument/2006/relationships/notesMaster" Target="/ppt/notesMasters/notesMaster1.xml" Id="R670d28b7fe744e2a" /><Relationship Type="http://schemas.openxmlformats.org/officeDocument/2006/relationships/presProps" Target="/ppt/presProps.xml" Id="R26d780b0dd1847ab" /><Relationship Type="http://schemas.openxmlformats.org/officeDocument/2006/relationships/tableStyles" Target="/ppt/tableStyles.xml" Id="R19e2d06ed04847a5" /><Relationship Type="http://schemas.openxmlformats.org/officeDocument/2006/relationships/slide" Target="/ppt/slides/slide1.xml" Id="Re982c29fcb074e59" /><Relationship Type="http://schemas.openxmlformats.org/officeDocument/2006/relationships/slide" Target="/ppt/slides/slide2.xml" Id="R8a2d5b786c5741b0" /><Relationship Type="http://schemas.openxmlformats.org/officeDocument/2006/relationships/slide" Target="/ppt/slides/slide3.xml" Id="Rdc46ad81584e4f32" /><Relationship Type="http://schemas.openxmlformats.org/officeDocument/2006/relationships/slide" Target="/ppt/slides/slide4.xml" Id="R061bf09433b84c86" /><Relationship Type="http://schemas.openxmlformats.org/officeDocument/2006/relationships/slide" Target="/ppt/slides/slide5.xml" Id="R3e29ee7ec0294fab" /><Relationship Type="http://schemas.openxmlformats.org/officeDocument/2006/relationships/slide" Target="/ppt/slides/slide6.xml" Id="R3021b81190f6451e" /><Relationship Type="http://schemas.openxmlformats.org/officeDocument/2006/relationships/slide" Target="/ppt/slides/slide7.xml" Id="Rcae8368c294d4cbd" /><Relationship Type="http://schemas.openxmlformats.org/officeDocument/2006/relationships/slide" Target="/ppt/slides/slide8.xml" Id="R56f90db14e964cf2" /><Relationship Type="http://schemas.openxmlformats.org/officeDocument/2006/relationships/slide" Target="/ppt/slides/slide9.xml" Id="R8ed46ccb046e42cf" /><Relationship Type="http://schemas.openxmlformats.org/officeDocument/2006/relationships/slide" Target="/ppt/slides/slide10.xml" Id="R9cc1fbca31fd46fb" /><Relationship Type="http://schemas.openxmlformats.org/officeDocument/2006/relationships/slide" Target="/ppt/slides/slide11.xml" Id="Rb38b5757e97948e4" /><Relationship Type="http://schemas.openxmlformats.org/officeDocument/2006/relationships/slide" Target="/ppt/slides/slide12.xml" Id="R4765f0b68c19425b" /><Relationship Type="http://schemas.openxmlformats.org/officeDocument/2006/relationships/slide" Target="/ppt/slides/slide13.xml" Id="R5a3d7518846341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fc0bbc8f6641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6d5bb4d3674e2c" /><Relationship Type="http://schemas.openxmlformats.org/officeDocument/2006/relationships/notesMaster" Target="/ppt/notesMasters/notesMaster1.xml" Id="Re8dc9f4d530944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f81671704041a3" /><Relationship Type="http://schemas.openxmlformats.org/officeDocument/2006/relationships/notesMaster" Target="/ppt/notesMasters/notesMaster1.xml" Id="R2445485ff35941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34448da8ee42b9" /><Relationship Type="http://schemas.openxmlformats.org/officeDocument/2006/relationships/notesMaster" Target="/ppt/notesMasters/notesMaster1.xml" Id="R20d4b62823ec44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80fd88013947ad" /><Relationship Type="http://schemas.openxmlformats.org/officeDocument/2006/relationships/notesMaster" Target="/ppt/notesMasters/notesMaster1.xml" Id="Rc55be6f3ddfb4f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bbbc6123b64eb9" /><Relationship Type="http://schemas.openxmlformats.org/officeDocument/2006/relationships/notesMaster" Target="/ppt/notesMasters/notesMaster1.xml" Id="R1cc86e52d1a646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c9f49b844a44a2" /><Relationship Type="http://schemas.openxmlformats.org/officeDocument/2006/relationships/notesMaster" Target="/ppt/notesMasters/notesMaster1.xml" Id="R36a562ae3bb540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d402bf5bd54399" /><Relationship Type="http://schemas.openxmlformats.org/officeDocument/2006/relationships/notesMaster" Target="/ppt/notesMasters/notesMaster1.xml" Id="R8713985333e141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1938ed907140b2" /><Relationship Type="http://schemas.openxmlformats.org/officeDocument/2006/relationships/notesMaster" Target="/ppt/notesMasters/notesMaster1.xml" Id="Rfcf0ea3db21a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51f3ed759d4da6" /><Relationship Type="http://schemas.openxmlformats.org/officeDocument/2006/relationships/notesMaster" Target="/ppt/notesMasters/notesMaster1.xml" Id="R266a174b84bb45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e6f7c4586b4188" /><Relationship Type="http://schemas.openxmlformats.org/officeDocument/2006/relationships/notesMaster" Target="/ppt/notesMasters/notesMaster1.xml" Id="Re586bae309dc4c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39cef4fc2444f3" /><Relationship Type="http://schemas.openxmlformats.org/officeDocument/2006/relationships/notesMaster" Target="/ppt/notesMasters/notesMaster1.xml" Id="R994d4ec716624f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c01970c563467c" /><Relationship Type="http://schemas.openxmlformats.org/officeDocument/2006/relationships/notesMaster" Target="/ppt/notesMasters/notesMaster1.xml" Id="R8dc813d1254743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ee1e578bbd4995" /><Relationship Type="http://schemas.openxmlformats.org/officeDocument/2006/relationships/notesMaster" Target="/ppt/notesMasters/notesMaster1.xml" Id="Re6139f9ad52a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nombre completo y el propósito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C:/Users/edits/sistema-escolar/frontend/public/sigde-space-background.png</a:t>
            </a:r>
          </a:p>
          <a:p xmlns:a="http://schemas.openxmlformats.org/drawingml/2006/main">
            <a:r>
              <a:t>- C:/Users/edits/sistema-escolar/frontend/public/Logo-login.png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SIGDE en una sola frase antes de enumerar los módulos.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C:/Users/edits/AppData/Local/Temp/codex-clipboard-23807993-f086-4f90-907b-140af167cc61.png</a:t>
            </a:r>
          </a:p>
          <a:p xmlns:a="http://schemas.openxmlformats.org/drawingml/2006/main">
            <a:r>
              <a:t>- Resumen basado en los módulos y servicios del repositorio SIGDE.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afirmar resultados medidos; presentar la mejora como objetivo del 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C:/Users/edits/AppData/Local/Temp/codex-clipboard-a5e4f482-051f-4c30-befb-ebea0b2f754d.png</a:t>
            </a:r>
          </a:p>
          <a:p xmlns:a="http://schemas.openxmlformats.org/drawingml/2006/main">
            <a:r>
              <a:t>- Problemas y soluciones derivados del alcance funcional del proyecto.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color con una función, no solo con una preferencia estética.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C:/Users/edits/sistema-escolar/frontend/public/Logo.png</a:t>
            </a:r>
          </a:p>
          <a:p xmlns:a="http://schemas.openxmlformats.org/drawingml/2006/main">
            <a:r>
              <a:t>- C:/Users/edits/sistema-escolar/frontend/public/sigde-space-background.png</a:t>
            </a:r>
          </a:p>
          <a:p xmlns:a="http://schemas.openxmlformats.org/drawingml/2006/main">
            <a:r>
              <a:t>- Colores verificados en la interfaz y estilos del proyecto.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primero la navegación, luego la barra superior y por último el contenido.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C:/Users/edits/AppData/Local/Temp/codex-clipboard-280987c4-4828-49ba-954f-1c1e265ce3e6.png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los botones del menú no equivalen por sí solos a una interfaz terminada.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C:/Users/edits/AppData/Local/Temp/codex-clipboard-a82e8277-61f2-48a8-ac20-267b43f6a2cf.png</a:t>
            </a:r>
          </a:p>
          <a:p xmlns:a="http://schemas.openxmlformats.org/drawingml/2006/main">
            <a:r>
              <a:t>- C:/Users/edits/AppData/Local/Temp/codex-clipboard-2083fb94-993e-442c-9c5b-5df6c610a68d.png</a:t>
            </a:r>
          </a:p>
          <a:p xmlns:a="http://schemas.openxmlformats.org/drawingml/2006/main">
            <a:r>
              <a:t>- C:/Users/edits/AppData/Local/Temp/codex-clipboard-e8d41022-5ade-4b0d-a919-ab6586f53cd4.png</a:t>
            </a:r>
          </a:p>
          <a:p xmlns:a="http://schemas.openxmlformats.org/drawingml/2006/main">
            <a:r>
              <a:t>- C:/Users/edits/AppData/Local/Temp/codex-clipboard-2bafa633-28e5-4848-b049-36ac675c2112.png</a:t>
            </a:r>
          </a:p>
          <a:p xmlns:a="http://schemas.openxmlformats.org/drawingml/2006/main">
            <a:r>
              <a:t>- Conteo del inventario funcional informado por el usuario al 1 de septiembre de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primero la fila superior. Después explicar que el menú cambia según el rol y cerrar diferenciando funciones implementadas de las pendientes.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C:/Users/edits/AppData/Local/Temp/codex-clipboard-23807993-f086-4f90-907b-140af167cc61.png</a:t>
            </a:r>
          </a:p>
          <a:p xmlns:a="http://schemas.openxmlformats.org/drawingml/2006/main">
            <a:r>
              <a:t>- C:/Users/edits/AppData/Local/Temp/codex-clipboard-280987c4-4828-49ba-954f-1c1e265ce3e6.png</a:t>
            </a:r>
          </a:p>
          <a:p xmlns:a="http://schemas.openxmlformats.org/drawingml/2006/main">
            <a:r>
              <a:t>- C:/Users/edits/AppData/Local/Temp/codex-clipboard-a5e4f482-051f-4c30-befb-ebea0b2f754d.png</a:t>
            </a:r>
          </a:p>
          <a:p xmlns:a="http://schemas.openxmlformats.org/drawingml/2006/main">
            <a:r>
              <a:t>- C:/Users/edits/AppData/Local/Temp/codex-clipboard-a82e8277-61f2-48a8-ac20-267b43f6a2cf.png</a:t>
            </a:r>
          </a:p>
          <a:p xmlns:a="http://schemas.openxmlformats.org/drawingml/2006/main">
            <a:r>
              <a:t>- C:/Users/edits/AppData/Local/Temp/codex-clipboard-2bafa633-28e5-4848-b049-36ac675c2112.png</a:t>
            </a:r>
          </a:p>
          <a:p xmlns:a="http://schemas.openxmlformats.org/drawingml/2006/main">
            <a:r>
              <a:t>- C:/Users/edits/AppData/Local/Temp/codex-clipboard-474c74d8-6802-464f-a5ba-0738b64b51a8.png</a:t>
            </a:r>
          </a:p>
          <a:p xmlns:a="http://schemas.openxmlformats.org/drawingml/2006/main">
            <a:r>
              <a:t>- Inventario funcional confirmado por el usuario al 1 de septiembre de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Señalar que el encabezado se conserva incluso cuando cambia el contenido central.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C:/Users/edits/AppData/Local/Temp/codex-clipboard-c80c1d51-d137-42e8-ae30-6198f97dd1f1.png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existencia de los documentos y reconocer el dato institucional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C:/Users/edits/AppData/Local/Temp/codex-clipboard-a37271a1-39e4-4d16-807b-a5fef0300eb0.png</a:t>
            </a:r>
          </a:p>
          <a:p xmlns:a="http://schemas.openxmlformats.org/drawingml/2006/main">
            <a:r>
              <a:t>- C:/Users/edits/AppData/Local/Temp/codex-clipboard-4c5fb432-0345-48c9-a4d0-444f1269fab6.png</a:t>
            </a:r>
          </a:p>
          <a:p xmlns:a="http://schemas.openxmlformats.org/drawingml/2006/main">
            <a:r>
              <a:t>- Textos legales implementados en frontend/src/components/legal/LegalPage.tsx.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los tres menús y volver a separar permiso, visibilidad y estado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C:/Users/edits/AppData/Local/Temp/codex-clipboard-280987c4-4828-49ba-954f-1c1e265ce3e6.png</a:t>
            </a:r>
          </a:p>
          <a:p xmlns:a="http://schemas.openxmlformats.org/drawingml/2006/main">
            <a:r>
              <a:t>- C:/Users/edits/AppData/Local/Temp/codex-clipboard-f323f7f9-6fc8-4552-9729-5569fbef70e1.png</a:t>
            </a:r>
          </a:p>
          <a:p xmlns:a="http://schemas.openxmlformats.org/drawingml/2006/main">
            <a:r>
              <a:t>- C:/Users/edits/AppData/Local/Temp/codex-clipboard-02e47e51-1836-4819-bd81-335f40c1c329.png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hay retorno tanto dentro de un flujo como dentro de la navegación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C:/Users/edits/AppData/Local/Temp/codex-clipboard-7a6435bf-a8cb-488a-b747-d3abf22b98b4.png</a:t>
            </a:r>
          </a:p>
          <a:p xmlns:a="http://schemas.openxmlformats.org/drawingml/2006/main">
            <a:r>
              <a:t>- C:/Users/edits/AppData/Local/Temp/codex-clipboard-affd2f35-8448-426d-895c-367cbf9c9f85.png</a:t>
            </a:r>
          </a:p>
          <a:p xmlns:a="http://schemas.openxmlformats.org/drawingml/2006/main">
            <a:r>
              <a:t>- Control de retorno legal verificado en las páginas de Términos y Política.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SIGDE no vende productos físicos; el producto es la plataforma y los servicios son sus módulos.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Modelo de datos basado en database/prisma/schema.prisma.</a:t>
            </a:r>
          </a:p>
          <a:p xmlns:a="http://schemas.openxmlformats.org/drawingml/2006/main">
            <a:r>
              <a:t>- Arquitectura de persistencia basada en la configuración real del proyecto.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el avance real con el siguiente objetivo concreto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C:/Users/edits/AppData/Local/Temp/codex-clipboard-23807993-f086-4f90-907b-140af167cc61.png</a:t>
            </a:r>
          </a:p>
          <a:p xmlns:a="http://schemas.openxmlformats.org/drawingml/2006/main">
            <a:r>
              <a:t>- C:/Users/edits/AppData/Local/Temp/codex-clipboard-a9067e59-caa7-4277-9f1c-56cab529aa2a.png</a:t>
            </a:r>
          </a:p>
          <a:p xmlns:a="http://schemas.openxmlformats.org/drawingml/2006/main">
            <a:r>
              <a:t>- C:/Users/edits/AppData/Local/Temp/codex-clipboard-c9801032-4448-4829-956b-1b6c7060a6c6.png</a:t>
            </a:r>
          </a:p>
          <a:p xmlns:a="http://schemas.openxmlformats.org/drawingml/2006/main">
            <a:r>
              <a:t>- Flujo de autenticación implementado en frontend/src/components/auth/LoginExperience.tsx y backend/src/services/auth.service.ts.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0ccce4a3346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366d284834ede" /><Relationship Type="http://schemas.openxmlformats.org/officeDocument/2006/relationships/slideLayout" Target="/ppt/slideLayouts/slideLayout1.xml" Id="Rd36b1e9fd79145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6b1e9fd79145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f48e511e0428d" /><Relationship Type="http://schemas.openxmlformats.org/officeDocument/2006/relationships/image" Target="/ppt/media/image.png" Id="R330560131fbd460b" /><Relationship Type="http://schemas.openxmlformats.org/officeDocument/2006/relationships/image" Target="/ppt/media/image2.png" Id="Rd13167376bd04c67" /><Relationship Type="http://schemas.openxmlformats.org/officeDocument/2006/relationships/notesSlide" Target="/ppt/notesSlides/notesSlide1.xml" Id="R443608736042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20d4d4cad42af" /><Relationship Type="http://schemas.openxmlformats.org/officeDocument/2006/relationships/image" Target="/ppt/media/image3.png" Id="R0dd7b79610bc436d" /><Relationship Type="http://schemas.openxmlformats.org/officeDocument/2006/relationships/notesSlide" Target="/ppt/notesSlides/notesSlide2.xml" Id="Ra9ec893487b747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395b550334bf1" /><Relationship Type="http://schemas.openxmlformats.org/officeDocument/2006/relationships/image" Target="/ppt/media/image4.png" Id="R10c167cb6c4f4052" /><Relationship Type="http://schemas.openxmlformats.org/officeDocument/2006/relationships/notesSlide" Target="/ppt/notesSlides/notesSlide3.xml" Id="R162445cc17d345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694fda4af4df1" /><Relationship Type="http://schemas.openxmlformats.org/officeDocument/2006/relationships/image" Target="/ppt/media/image5.png" Id="R548f73ac66bb4582" /><Relationship Type="http://schemas.openxmlformats.org/officeDocument/2006/relationships/notesSlide" Target="/ppt/notesSlides/notesSlide4.xml" Id="Rfc13a138b20f43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86154c07546a8" /><Relationship Type="http://schemas.openxmlformats.org/officeDocument/2006/relationships/image" Target="/ppt/media/image6.png" Id="R4af7264a9df64977" /><Relationship Type="http://schemas.openxmlformats.org/officeDocument/2006/relationships/notesSlide" Target="/ppt/notesSlides/notesSlide5.xml" Id="R757bdf8f291046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018dd6a0443cd" /><Relationship Type="http://schemas.openxmlformats.org/officeDocument/2006/relationships/image" Target="/ppt/media/image7.png" Id="R62a26eb6591d4d74" /><Relationship Type="http://schemas.openxmlformats.org/officeDocument/2006/relationships/image" Target="/ppt/media/image8.png" Id="R813d6c212cc84ec2" /><Relationship Type="http://schemas.openxmlformats.org/officeDocument/2006/relationships/image" Target="/ppt/media/image9.png" Id="R8b96bdcb61b44b38" /><Relationship Type="http://schemas.openxmlformats.org/officeDocument/2006/relationships/image" Target="/ppt/media/image10.png" Id="R1676f74706c74bbe" /><Relationship Type="http://schemas.openxmlformats.org/officeDocument/2006/relationships/notesSlide" Target="/ppt/notesSlides/notesSlide6.xml" Id="R20b32806e88c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7cd51572e4db3" /><Relationship Type="http://schemas.openxmlformats.org/officeDocument/2006/relationships/image" Target="/ppt/media/image11.png" Id="R6868c4347f214c40" /><Relationship Type="http://schemas.openxmlformats.org/officeDocument/2006/relationships/image" Target="/ppt/media/image12.png" Id="R9331d96a8e254960" /><Relationship Type="http://schemas.openxmlformats.org/officeDocument/2006/relationships/image" Target="/ppt/media/image13.png" Id="R0f2b45ba6ef74c35" /><Relationship Type="http://schemas.openxmlformats.org/officeDocument/2006/relationships/image" Target="/ppt/media/image14.png" Id="R1e004a7371db4f17" /><Relationship Type="http://schemas.openxmlformats.org/officeDocument/2006/relationships/image" Target="/ppt/media/image15.png" Id="R1b5980200a684629" /><Relationship Type="http://schemas.openxmlformats.org/officeDocument/2006/relationships/notesSlide" Target="/ppt/notesSlides/notesSlide7.xml" Id="R9b1540f665ef40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32f2547e240d7" /><Relationship Type="http://schemas.openxmlformats.org/officeDocument/2006/relationships/image" Target="/ppt/media/image16.png" Id="Rb877df050cbe4b72" /><Relationship Type="http://schemas.openxmlformats.org/officeDocument/2006/relationships/notesSlide" Target="/ppt/notesSlides/notesSlide8.xml" Id="Rffdefa152c4f49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a74231d7145ff" /><Relationship Type="http://schemas.openxmlformats.org/officeDocument/2006/relationships/image" Target="/ppt/media/image17.png" Id="R6d07a6c0cf594779" /><Relationship Type="http://schemas.openxmlformats.org/officeDocument/2006/relationships/image" Target="/ppt/media/image18.png" Id="R1b31e4d20fab4800" /><Relationship Type="http://schemas.openxmlformats.org/officeDocument/2006/relationships/notesSlide" Target="/ppt/notesSlides/notesSlide9.xml" Id="Re1e2c5b3dd2e48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ddec4ba74e7f" /><Relationship Type="http://schemas.openxmlformats.org/officeDocument/2006/relationships/image" Target="/ppt/media/image19.png" Id="Rde323957537343d2" /><Relationship Type="http://schemas.openxmlformats.org/officeDocument/2006/relationships/image" Target="/ppt/media/image20.png" Id="Rfdffc8dcda7548e6" /><Relationship Type="http://schemas.openxmlformats.org/officeDocument/2006/relationships/image" Target="/ppt/media/image21.png" Id="R45fe98d487ff40a3" /><Relationship Type="http://schemas.openxmlformats.org/officeDocument/2006/relationships/notesSlide" Target="/ppt/notesSlides/notesSlide10.xml" Id="Ra1320486f2014a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bf7a1d69043b8" /><Relationship Type="http://schemas.openxmlformats.org/officeDocument/2006/relationships/image" Target="/ppt/media/image22.png" Id="R1ccd7babbfd64c9b" /><Relationship Type="http://schemas.openxmlformats.org/officeDocument/2006/relationships/image" Target="/ppt/media/image23.png" Id="Rf3c7d33c8ca647ea" /><Relationship Type="http://schemas.openxmlformats.org/officeDocument/2006/relationships/notesSlide" Target="/ppt/notesSlides/notesSlide11.xml" Id="R146fd030f20e44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ea92a8dae40e5" /><Relationship Type="http://schemas.openxmlformats.org/officeDocument/2006/relationships/notesSlide" Target="/ppt/notesSlides/notesSlide12.xml" Id="R31a6f9c7746c4a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8889bc9084769" /><Relationship Type="http://schemas.openxmlformats.org/officeDocument/2006/relationships/image" Target="/ppt/media/image24.png" Id="Rfda5d62da9834a2d" /><Relationship Type="http://schemas.openxmlformats.org/officeDocument/2006/relationships/image" Target="/ppt/media/image25.png" Id="R1f5d43ac2ea4440f" /><Relationship Type="http://schemas.openxmlformats.org/officeDocument/2006/relationships/image" Target="/ppt/media/image26.png" Id="Rb49ca20a71084eb1" /><Relationship Type="http://schemas.openxmlformats.org/officeDocument/2006/relationships/notesSlide" Target="/ppt/notesSlides/notesSlide13.xml" Id="R7b385ed4f0d643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560131fbd460b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19B84-DBE8-4FC5-B83E-C8D85E5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57300"/>
            <a:ext cx="5238750" cy="3429000"/>
          </a:xfrm>
          <a:prstGeom xmlns:a="http://schemas.openxmlformats.org/drawingml/2006/main" prst="roundRect">
            <a:avLst>
              <a:gd name="adj" fmla="val 7222"/>
            </a:avLst>
          </a:prstGeom>
          <a:solidFill xmlns:a="http://schemas.openxmlformats.org/drawingml/2006/main">
            <a:srgbClr val="07162B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167376bd04c67"/>
          <a:stretch xmlns:a="http://schemas.openxmlformats.org/drawingml/2006/main"/>
        </p:blipFill>
        <p:spPr>
          <a:xfrm xmlns:a="http://schemas.openxmlformats.org/drawingml/2006/main">
            <a:off x="5334982" y="1457325"/>
            <a:ext cx="1522037" cy="1619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CF45D-975D-45B8-8B80-32DF659C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F4F8FC"/>
                </a:solidFill>
              </a:defRPr>
            </a:pPr>
            <a:r>
              <a:rPr sz="4350" b="1" i="0">
                <a:solidFill>
                  <a:srgbClr val="F4F8FC"/>
                </a:solidFill>
              </a:rPr>
              <a:t>SIGDE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DB2C0-C191-4530-AE69-F9C9074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5D8F0"/>
                </a:solidFill>
              </a:defRPr>
            </a:pPr>
            <a:r>
              <a:rPr sz="1200" b="1" i="0">
                <a:solidFill>
                  <a:srgbClr val="85D8F0"/>
                </a:solidFill>
              </a:rPr>
              <a:t>SISTEMA DE GESTIÓN DIGITAL ESCOLAR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812CE-8CD7-4CBC-BDD7-2A8AC7C9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624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4F8FC"/>
                </a:solidFill>
              </a:defRPr>
            </a:pPr>
            <a:r>
              <a:rPr sz="1350" b="0" i="0">
                <a:solidFill>
                  <a:srgbClr val="F4F8FC"/>
                </a:solidFill>
              </a:rPr>
              <a:t>Registro, seguimiento y análisis de convivencia en tiempo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AB6F7-0A6D-4944-8070-DE8887A2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2857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ED744-CBD0-4C47-9033-CCAE31BD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4F8FC"/>
                </a:solidFill>
              </a:defRPr>
            </a:pPr>
            <a:r>
              <a:rPr sz="900" b="1" i="0">
                <a:solidFill>
                  <a:srgbClr val="F4F8FC"/>
                </a:solidFill>
              </a:rPr>
              <a:t>PROYECTO ESCOLAR · GRADO 11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3BD2F-B6EA-4DE6-8A13-8AF9C064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8FC"/>
                </a:solidFill>
              </a:defRPr>
            </a:pPr>
            <a:r>
              <a:rPr sz="1650" b="1" i="0">
                <a:solidFill>
                  <a:srgbClr val="F4F8FC"/>
                </a:solidFill>
              </a:rPr>
              <a:t>Alejandro Hurtado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275BA-D51C-4EA1-9305-D2B31B8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007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I.E.T.I. Rafael Navia Varón</a:t>
            </a:r>
          </a:p>
        </p:txBody>
      </p:sp>
    </p:spTree>
    <p:extLst>
      <p:ext uri="{BB962C8B-B14F-4D97-AF65-F5344CB8AC3E}">
        <p14:creationId xmlns:p14="http://schemas.microsoft.com/office/powerpoint/2010/main" val="1370270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B0E05-2CF8-4DC8-8FCF-C20673C1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2F623-85E6-4E7D-B3D5-BB8B0254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SIGDE convierte la gestión escolar en un flujo trazable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D462F-6E32-42AB-BBF5-543A6536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Una plataforma web para organizar convivencia, salidas, comunicaciones y seguridad por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3A84A-D52B-4DB4-AC14-D39BCECA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A346E-D20F-4C78-8995-060BF6BB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28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0">
            <a:solidFill>
              <a:srgbClr val="39C4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4DE1F-EBDF-4807-83F6-794B4B12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Centraliza la información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92FB0-9F80-4F14-B2F5-F2588E0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Reúne reportes, estudiantes, usuarios, salidas y comunicaciones en un solo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6F66F-DFB3-4C7D-B50B-E1F97862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solidFill>
              <a:srgbClr val="2B8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CC693-73E0-466F-A1F3-C65889A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Asigna acceso según el 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EA218-1653-4C31-B3D0-D60A32CB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Coordinador, Docente y Portería ven únicamente las funciones necesarias para su trabajo.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DBE5D-2C83-4FE7-8B4F-FF9FE98E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D0021-995D-490B-B8D5-EBEAEC8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3409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Conserva evidencia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4052B-DA46-495C-B710-D6ACCA00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3409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Registra estados, responsables y movimientos para facilitar el seguimiento institucional.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F12E7-ADAC-45F2-992E-CB463298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524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EA935-2522-4D39-924A-FC0046CA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Las alertas se basan en umbrales configurables; no se presentan como inteligencia artificial.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4B158-C203-4B02-A140-4719A5EC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76425"/>
            <a:ext cx="6962775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7b79610bc436d"/>
          <a:srcRect xmlns:a="http://schemas.openxmlformats.org/drawingml/2006/main" l="5559" t="0" r="55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14875" y="1905000"/>
            <a:ext cx="6905625" cy="37147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740FC-8CB9-46EA-94F3-E896582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38256-763F-4989-A304-4F8228E4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B6B31-641B-4AD4-BAF6-E1B03BE8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6326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A6CE9-82C1-4213-A1CD-19D3B718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20668-E152-4C0B-903B-EBCFEA03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problema no era registrar más, sino conectar el proceso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48E31-933F-4896-B20C-D2F092FA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SIGDE responde a tres dificultades observadas en la gestión disciplinaria y operativa.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03FF8-5F9D-467B-B931-F62D2AD6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4042A-8CC0-4555-84F2-8BFF5F6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B94C"/>
                </a:solidFill>
              </a:defRPr>
            </a:pPr>
            <a:r>
              <a:rPr sz="1575" b="1" i="0">
                <a:solidFill>
                  <a:srgbClr val="F5B94C"/>
                </a:solidFill>
              </a:rPr>
              <a:t>Información dispersa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BAAC-43D7-4291-A11A-CE279B88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solidFill>
              <a:srgbClr val="F5B9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AE04B-BF32-4005-8965-FFC2D615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Un solo registro digital por estudiante, hecho y responsable.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AD086-33DA-479E-B0C1-B16516B0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8D4C5-685B-4C69-A4CF-88E00DDB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Seguimiento 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060A7-13FF-4E12-ADE9-5968195A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E407D-4725-4050-AAA7-718AFD4C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7657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Estados, filtros, evidencias y auditoría para reconstruir cada caso.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D41E4-6D96-43B2-A62A-F4D2507D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3ED61-01F7-4C81-B669-56FD1DB6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Acceso poco diferenciado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E5E16-F9DF-4AAF-93B9-FD4F269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67200"/>
            <a:ext cx="609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F6504-8529-4DFD-AE1F-57E94394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00525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Permisos por rol y módulos específicos para cada responsabilidad.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3924-ABA0-4C18-853E-E4F00A31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943100"/>
            <a:ext cx="386715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167cb6c4f4052"/>
          <a:srcRect xmlns:a="http://schemas.openxmlformats.org/drawingml/2006/main" l="22205" t="0" r="22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971675"/>
            <a:ext cx="3810000" cy="3276600"/>
          </a:xfrm>
          <a:prstGeom xmlns:a="http://schemas.openxmlformats.org/drawingml/2006/main" prst="roundRect">
            <a:avLst>
              <a:gd name="adj" fmla="val 523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5F529-05BB-4DE6-B0CB-80DE0D7A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8100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11430">
            <a:solidFill>
              <a:srgbClr val="1F6F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4EFC5-7164-444C-9342-24CB2D60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9C4E6"/>
                </a:solidFill>
              </a:defRPr>
            </a:pPr>
            <a:r>
              <a:rPr sz="1050" b="1" i="0">
                <a:solidFill>
                  <a:srgbClr val="39C4E6"/>
                </a:solidFill>
              </a:rPr>
              <a:t>Resultado esperado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D05A-8C0C-4C0A-832D-5916BB5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95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4F8FC"/>
                </a:solidFill>
              </a:defRPr>
            </a:pPr>
            <a:r>
              <a:rPr sz="1125" b="0" i="0">
                <a:solidFill>
                  <a:srgbClr val="F4F8FC"/>
                </a:solidFill>
              </a:rPr>
              <a:t>Menos pérdida de contexto y decisiones mejor documentadas.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1E974-B13B-40C2-B6C7-C309AF31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A2CBF-1A8B-4D07-A80E-B6352FC7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845A9-B248-4533-89C1-A25DB8F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47022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B207E2-7553-4475-A872-A9D6D950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27B8-17C7-4864-913D-08C473C6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diseño combina confianza institucional y cercanía escolar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9DC4-8D6F-4BFF-9B27-439182E5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identidad visual nace del login y se mantiene en los paneles de trabajo.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B0EF-122F-40A0-882C-44600BE3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f73ac66bb4582"/>
          <a:stretch xmlns:a="http://schemas.openxmlformats.org/drawingml/2006/main"/>
        </p:blipFill>
        <p:spPr>
          <a:xfrm xmlns:a="http://schemas.openxmlformats.org/drawingml/2006/main">
            <a:off x="666750" y="200025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1DE44-7E0B-4791-B54C-49F6902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Libro abierto + circuitos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2DD09-E577-484C-A692-5018B130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Educación, tecnología y trazabilidad en una sola marca.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1E5B7-BCF0-4E3E-9B2E-8641DE17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7162B"/>
          </a:solidFill>
          <a:ln xmlns:a="http://schemas.openxmlformats.org/drawingml/2006/main" w="11430">
            <a:solidFill>
              <a:srgbClr val="0716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D5639-A20F-4E99-A5F1-21CC8AFE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#0A1628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3DA29-3F9A-4F5A-B5B2-D9F007D9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Base / navegación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743DC-148F-472A-87F2-C2309E51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11430">
            <a:solidFill>
              <a:srgbClr val="1F6F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2C748-5FE3-4487-8F40-C2E7BE5E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#1F6FB8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72BCE-666F-4353-8947-AC88EF7D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Acciones principales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7CA3F-ED7B-486F-9E05-215DC615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39C4E6"/>
          </a:solidFill>
          <a:ln xmlns:a="http://schemas.openxmlformats.org/drawingml/2006/main" w="11430">
            <a:solidFill>
              <a:srgbClr val="39C4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78629-4847-4389-90A3-1A373B3E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#39C4E6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31A0F-6075-40A9-8604-A1A89222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Acentos y estados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00046-EADF-438B-8F05-0F2175C3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11430">
            <a:solidFill>
              <a:srgbClr val="24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C8FE68-4F5A-472D-B96C-E4104EF1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#EAF2FA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9B9C8-315E-4D7E-9225-914F9B45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Contraste y lectura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4B1EB-8FFC-40FE-83E1-7A870EB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43125"/>
            <a:ext cx="13144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5B94C"/>
          </a:solidFill>
          <a:ln xmlns:a="http://schemas.openxmlformats.org/drawingml/2006/main" w="11430">
            <a:solidFill>
              <a:srgbClr val="F5B9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06C10A-F852-48DD-B44B-50B07784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3372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#F5B94C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72228-5FDE-40C2-AC7E-E5B93E6E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Alertas y atención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DD363-2390-4FB1-A468-7399D4E0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7639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E7430-B374-4C25-B156-675A7B64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4F8FC"/>
                </a:solidFill>
              </a:defRPr>
            </a:pPr>
            <a:r>
              <a:rPr sz="1725" b="1" i="0">
                <a:solidFill>
                  <a:srgbClr val="F4F8FC"/>
                </a:solidFill>
              </a:rPr>
              <a:t>Principios visuales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98FB82-F12F-4CFD-9EDA-2AE0ED1D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72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C4E6"/>
                </a:solidFill>
              </a:defRPr>
            </a:pPr>
            <a:r>
              <a:rPr sz="1275" b="1" i="0">
                <a:solidFill>
                  <a:srgbClr val="39C4E6"/>
                </a:solidFill>
              </a:rPr>
              <a:t>Contraste alto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2D844-901F-42EE-A33B-66231BD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48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Fondos oscuros y texto claro.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4EA74B-797C-43EE-866D-29934FE9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C4E6"/>
                </a:solidFill>
              </a:defRPr>
            </a:pPr>
            <a:r>
              <a:rPr sz="1275" b="1" i="0">
                <a:solidFill>
                  <a:srgbClr val="39C4E6"/>
                </a:solidFill>
              </a:rPr>
              <a:t>Jerarquía simple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0130F-E3BB-4340-B2E3-9B6BBD5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Títulos, acciones y estados visibles.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8616DE-000F-492B-86BF-EA5D825A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7720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C4E6"/>
                </a:solidFill>
              </a:defRPr>
            </a:pPr>
            <a:r>
              <a:rPr sz="1275" b="1" i="0">
                <a:solidFill>
                  <a:srgbClr val="39C4E6"/>
                </a:solidFill>
              </a:rPr>
              <a:t>Lenguaje humano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3643F-1C62-4018-B992-4F3DC865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482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Mensajes directos para la comunidad.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E55DF3-6809-46E4-8AF2-F5DCB054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8A604D-AA49-40E6-B6A7-E36C11E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82324-2E57-4082-9AC3-239069A4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7230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C050D-88AF-4D2D-8107-05A59E5A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52204-73E3-4F0B-B7F4-3F04CB53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Una estructura estable deja cada función a un clic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147EF-5A12-409C-8B86-B862BB58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pantalla mantiene tres zonas reconocibles en todos los módulos.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CD09B-4185-4A8B-9FC7-A167BDB7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E7682-98AA-4797-828C-FDDEE790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19275"/>
            <a:ext cx="8629650" cy="4152900"/>
          </a:xfrm>
          <a:prstGeom xmlns:a="http://schemas.openxmlformats.org/drawingml/2006/main" prst="roundRect">
            <a:avLst>
              <a:gd name="adj" fmla="val 412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7264a9df64977"/>
          <a:srcRect xmlns:a="http://schemas.openxmlformats.org/drawingml/2006/main" l="0" t="721" r="0" b="7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47850"/>
            <a:ext cx="85725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00885-544A-49D7-B11D-4D4A73E6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33BC2-10C8-4780-B134-62964A12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27C8B-8B44-48D6-B9E7-3E813AE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3BEB7-E1DF-4F47-A02F-2B660F4D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9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AC4BB-5AEA-4E81-A5F7-2337C696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A1216-8AA0-46EC-9646-C1C3ADDC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62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20DA2-2623-430B-B5E7-2FFEAE45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91AD6-B6E2-47BF-90ED-EAAFE2E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14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9C4E6"/>
                </a:solidFill>
              </a:defRPr>
            </a:pPr>
            <a:r>
              <a:rPr sz="1500" b="1" i="0">
                <a:solidFill>
                  <a:srgbClr val="39C4E6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8F0-AC6F-4907-B739-4E97CC69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859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Menú lateral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E2601-15FE-4D5A-B02E-24C2A6EE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288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Agrupa módulos por tipo y filtra opciones según el rol.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E9F21-8F3C-4357-A9D1-F8A01DCF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56C80-D343-4479-A68B-D20BEBA8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B94C"/>
                </a:solidFill>
              </a:defRPr>
            </a:pPr>
            <a:r>
              <a:rPr sz="1500" b="1" i="0">
                <a:solidFill>
                  <a:srgbClr val="F5B94C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B6E7E-FA79-4059-8C5D-0B38C4D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432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Barra superior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AE02B-D53A-4C63-9CC7-A6AB104A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861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Búsqueda, identidad de la sesión y acceso a la cuenta.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D9302-0856-475A-B900-D835D8B6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67225"/>
            <a:ext cx="21907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FDE96-F303-4F80-8F4E-228546E4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9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41C39B"/>
                </a:solidFill>
              </a:defRPr>
            </a:pPr>
            <a:r>
              <a:rPr sz="1500" b="1" i="0">
                <a:solidFill>
                  <a:srgbClr val="41C39B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15F6A-2F93-4BC3-9BA4-70B39F61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005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Área de trabajo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B871BC-4572-4390-8C95-F248E09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43475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Métricas, formularios, tablas y acciones del módulo activo.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3098C-13EB-45B4-906D-BA0CCF8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83D67-F298-465A-88D1-7B23A23B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933BA-335B-4C17-ADBB-0769802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6767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85186-1DB9-4F1B-9A32-F7269D42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231F6-9DCD-437B-93C4-4147FD5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Avance actual: 17 interfaces listas de 23 planificadas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2444-65AE-4E07-878C-764A5E55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El inventario distingue pantallas terminadas, bases parciales y módulos aún sin desarrollar.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A5173-AC81-4F11-A09A-FEA76C02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C03E7-33D5-4D3C-AB50-52602AD0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4F8FC"/>
                </a:solidFill>
              </a:defRPr>
            </a:pPr>
            <a:r>
              <a:rPr sz="4800" b="1" i="0">
                <a:solidFill>
                  <a:srgbClr val="F4F8FC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BC59F-815E-4F17-8FE3-972A7467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B8C9"/>
                </a:solidFill>
              </a:defRPr>
            </a:pPr>
            <a:r>
              <a:rPr sz="975" b="1" i="0">
                <a:solidFill>
                  <a:srgbClr val="A8B8C9"/>
                </a:solidFill>
              </a:rPr>
              <a:t>TOTAL PLANIFICADAS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6DFC1-935B-46E8-86EA-208B52AC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C7B15-3F96-4E3B-B945-38D55782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41C39B"/>
                </a:solidFill>
              </a:defRPr>
            </a:pPr>
            <a:r>
              <a:rPr sz="4800" b="1" i="0">
                <a:solidFill>
                  <a:srgbClr val="41C39B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F8BBA-24CC-4DF0-8E0F-71D5A5E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B8C9"/>
                </a:solidFill>
              </a:defRPr>
            </a:pPr>
            <a:r>
              <a:rPr sz="975" b="1" i="0">
                <a:solidFill>
                  <a:srgbClr val="A8B8C9"/>
                </a:solidFill>
              </a:rPr>
              <a:t>REALIZADAS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78A42-3588-4900-8BE0-DCD44C0F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6F17-5B36-4D30-A613-75F8682E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5B94C"/>
                </a:solidFill>
              </a:defRPr>
            </a:pPr>
            <a:r>
              <a:rPr sz="4800" b="1" i="0">
                <a:solidFill>
                  <a:srgbClr val="F5B94C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4FDA3-EE43-44C3-990A-214823A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8B8C9"/>
                </a:solidFill>
              </a:defRPr>
            </a:pPr>
            <a:r>
              <a:rPr sz="975" b="1" i="0">
                <a:solidFill>
                  <a:srgbClr val="A8B8C9"/>
                </a:solidFill>
              </a:rPr>
              <a:t>PENDIENTES DE CIERRE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B3C8B-7A09-41E7-9988-F9F2493D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61912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0">
            <a:solidFill>
              <a:srgbClr val="1235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18A03-342E-497D-9485-5730245A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57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8D207-3F88-4AAA-B1F7-B981FFE5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74 % del inventario principal está realizado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76265-D393-4ABB-8C82-CFD262AD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05000"/>
            <a:ext cx="4400550" cy="1781175"/>
          </a:xfrm>
          <a:prstGeom xmlns:a="http://schemas.openxmlformats.org/drawingml/2006/main" prst="roundRect">
            <a:avLst>
              <a:gd name="adj" fmla="val 9626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27F5E-5A8E-4140-86D9-0922FF29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0502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F8FC"/>
                </a:solidFill>
              </a:defRPr>
            </a:pPr>
            <a:r>
              <a:rPr sz="1650" b="1" i="0">
                <a:solidFill>
                  <a:srgbClr val="F4F8FC"/>
                </a:solidFill>
              </a:rPr>
              <a:t>Pendientes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F7440-3BFA-4476-94C8-498710D6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336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B94C"/>
                </a:solidFill>
              </a:defRPr>
            </a:pPr>
            <a:r>
              <a:rPr sz="1125" b="1" i="0">
                <a:solidFill>
                  <a:srgbClr val="F5B94C"/>
                </a:solidFill>
              </a:rPr>
              <a:t>Sin desarrollar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14EB6-D330-46B6-BE48-8B76FDA3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050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Convivencia · Seguimiento · Estadísticas · Calendario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6E4E4-8BD4-483F-837C-83184FB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9C4E6"/>
                </a:solidFill>
              </a:defRPr>
            </a:pPr>
            <a:r>
              <a:rPr sz="1125" b="1" i="0">
                <a:solidFill>
                  <a:srgbClr val="39C4E6"/>
                </a:solidFill>
              </a:rPr>
              <a:t>Parciales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3F6AF-58FF-4900-AF9F-FF3EB5C3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562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Configuración · 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0EBAB-B432-423D-B948-F120F3E9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26eb6591d4d74"/>
          <a:srcRect xmlns:a="http://schemas.openxmlformats.org/drawingml/2006/main" l="7165" t="0" r="7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F272E-D5DA-4777-85C6-DB2BE08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Nuevo reporte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E3A81-3661-4200-BE73-F912850A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d6c212cc84ec2"/>
          <a:srcRect xmlns:a="http://schemas.openxmlformats.org/drawingml/2006/main" l="7334" t="0" r="7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CAA04-0A26-4356-AF86-1DF7509D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Salidas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AE2CBD-B9B4-4F72-9E0B-5684DFC9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6bdcb61b44b38"/>
          <a:srcRect xmlns:a="http://schemas.openxmlformats.org/drawingml/2006/main" l="6719" t="0" r="6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3CD469-53CD-4CD4-ABFC-5E564382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Comunicaciones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3BE75-B0E8-4193-BC9C-86BA3336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971925"/>
            <a:ext cx="25336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6f74706c74bbe"/>
          <a:srcRect xmlns:a="http://schemas.openxmlformats.org/drawingml/2006/main" l="7230" t="0" r="72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4000500"/>
            <a:ext cx="2476500" cy="13906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717A85-A4D6-4962-832A-F5ABEC70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14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Auditoría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5D881C-5429-4BE4-8A38-EF13F98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953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E6C64D-EDDE-4830-8074-AF43B50B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1053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5B94C"/>
                </a:solidFill>
              </a:defRPr>
            </a:pPr>
            <a:r>
              <a:rPr sz="1125" b="0" i="0">
                <a:solidFill>
                  <a:srgbClr val="F5B94C"/>
                </a:solidFill>
              </a:rPr>
              <a:t>Ajuste puntual pendiente: agregar mostrar/ocultar en los dos campos de “Nueva contraseña”.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47CE55-3E74-4541-802D-77B1E3C5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97F7BC-253C-40BE-86FE-907E7417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14D607-FD1F-4239-84D0-6E2CBEE6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6187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78778D-EFD6-409E-ABF4-233F0ABE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36AF-2328-4492-815B-B84B07C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Flujo de usuario, navegación y contenidos de SIGDE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8C906-5C01-4FDA-90CD-C9896FE9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Recorrido real desde el ingreso hasta el registro y la trazabilidad de una acción.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B9571-7B52-427D-8156-7687924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83887-7D0C-47A7-B7DB-4F7FA11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11430">
            <a:solidFill>
              <a:srgbClr val="1F6F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03DB1-93AC-4441-9B8F-D0FD4423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9C4E6"/>
                </a:solidFill>
              </a:defRPr>
            </a:pPr>
            <a:r>
              <a:rPr sz="1050" b="1" i="0">
                <a:solidFill>
                  <a:srgbClr val="39C4E6"/>
                </a:solidFill>
              </a:rPr>
              <a:t>1. FLUJO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4C97B-7B80-48EA-9985-0759BE61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859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A8B8C9"/>
                </a:solidFill>
              </a:defRPr>
            </a:pPr>
            <a:r>
              <a:rPr sz="900" b="0" i="0">
                <a:solidFill>
                  <a:srgbClr val="A8B8C9"/>
                </a:solidFill>
              </a:rPr>
              <a:t>Ingreso → módulo permitido → acción → registro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C628F-13DE-4DB2-A4A5-A5E923F0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955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solidFill>
              <a:srgbClr val="2B8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A50DD-FDFE-419E-9680-259FB9AA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955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solidFill>
              <a:srgbClr val="2B8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8617A-7D1B-4C3D-93E6-67B62A54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955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solidFill>
              <a:srgbClr val="2B8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48D70-288C-4D8C-8584-049AFE5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955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solidFill>
              <a:srgbClr val="2B8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36A49-B44B-402C-B5CC-1F25528A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30">
            <a:solidFill>
              <a:srgbClr val="39C4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8c4347f214c40"/>
          <a:srcRect xmlns:a="http://schemas.openxmlformats.org/drawingml/2006/main" l="5286" t="0" r="52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F1B8C-147E-493D-A5FA-8C36B4CC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49433-45A4-4C3D-A9B2-9B0835B0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8F344-E3B3-47FB-8CD3-805796FE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Ingreso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57CDDB-EAC8-495E-AEB3-8189013E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B8C9"/>
                </a:solidFill>
              </a:defRPr>
            </a:pPr>
            <a:r>
              <a:rPr sz="825" b="0" i="0">
                <a:solidFill>
                  <a:srgbClr val="A8B8C9"/>
                </a:solidFill>
              </a:rPr>
              <a:t>Credenciales y sesión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7C497-8293-41A2-AABC-6B69EC1E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30">
            <a:solidFill>
              <a:srgbClr val="85D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1d96a8e254960"/>
          <a:srcRect xmlns:a="http://schemas.openxmlformats.org/drawingml/2006/main" l="4665" t="0" r="46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2275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95A6E-629A-472E-A1BD-101ED28E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D8F0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B8080-74B4-4113-9BF6-87E8C5B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978857-6899-4DC9-8C13-4B6213C4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24B45-0478-4214-A53C-6ABBC1EF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B8C9"/>
                </a:solidFill>
              </a:defRPr>
            </a:pPr>
            <a:r>
              <a:rPr sz="825" b="0" i="0">
                <a:solidFill>
                  <a:srgbClr val="A8B8C9"/>
                </a:solidFill>
              </a:rPr>
              <a:t>Vista según el 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2DC2A-548A-4AFD-BA84-1B05B160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30">
            <a:solidFill>
              <a:srgbClr val="2B8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b45ba6ef74c35"/>
          <a:srcRect xmlns:a="http://schemas.openxmlformats.org/drawingml/2006/main" l="5291" t="0" r="52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81600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5ECED-A1CB-400B-B85E-25CE669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F1A85C-CFF3-425C-8C25-05B4BD0D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786BB-4644-41F0-B59D-631005D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Módulo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0604C-961A-4218-98DA-FFC7EAE1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B8C9"/>
                </a:solidFill>
              </a:defRPr>
            </a:pPr>
            <a:r>
              <a:rPr sz="825" b="0" i="0">
                <a:solidFill>
                  <a:srgbClr val="A8B8C9"/>
                </a:solidFill>
              </a:rPr>
              <a:t>Consulta y filtros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97878-AF74-4402-87E3-02784FD3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30">
            <a:solidFill>
              <a:srgbClr val="41C3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04a7371db4f17"/>
          <a:srcRect xmlns:a="http://schemas.openxmlformats.org/drawingml/2006/main" l="5011" t="0" r="50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25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D576EA-B091-4751-B739-3951AEE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2A8433-B833-47BE-B4B7-3347BA2F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675C12-76F0-4F21-B219-16778B0A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Acción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5A0999-E8F0-4DBC-A8C4-D3FCC671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B8C9"/>
                </a:solidFill>
              </a:defRPr>
            </a:pPr>
            <a:r>
              <a:rPr sz="825" b="0" i="0">
                <a:solidFill>
                  <a:srgbClr val="A8B8C9"/>
                </a:solidFill>
              </a:rPr>
              <a:t>Formulario validado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97FD42-013D-490A-8392-4E1FB88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38375"/>
            <a:ext cx="1981200" cy="108585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1430">
            <a:solidFill>
              <a:srgbClr val="F5B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980200a684629"/>
          <a:srcRect xmlns:a="http://schemas.openxmlformats.org/drawingml/2006/main" l="5080" t="0" r="50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266950"/>
            <a:ext cx="1924050" cy="1028700"/>
          </a:xfrm>
          <a:prstGeom xmlns:a="http://schemas.openxmlformats.org/drawingml/2006/main" prst="roundRect">
            <a:avLst>
              <a:gd name="adj" fmla="val 10185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EAAB5-8B7D-45BF-AB4F-885FBB63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34743D-D018-4984-8C62-0C1CE1C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239C43-966A-46DC-93A8-C53C9108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4F8FC"/>
                </a:solidFill>
              </a:defRPr>
            </a:pPr>
            <a:r>
              <a:rPr sz="1125" b="1" i="0">
                <a:solidFill>
                  <a:srgbClr val="F4F8FC"/>
                </a:solidFill>
              </a:rPr>
              <a:t>Trazabilidad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219D56-B4A6-43CD-A915-6B2B9632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9975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B8C9"/>
                </a:solidFill>
              </a:defRPr>
            </a:pPr>
            <a:r>
              <a:rPr sz="825" b="0" i="0">
                <a:solidFill>
                  <a:srgbClr val="A8B8C9"/>
                </a:solidFill>
              </a:rPr>
              <a:t>Movimiento registrado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FBB7D8-31F1-4846-939D-C2A083B5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52578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0478">
            <a:solidFill>
              <a:srgbClr val="41C3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356D54-80E1-4B9B-9914-8E91B2F3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1C39B"/>
                </a:solidFill>
              </a:defRPr>
            </a:pPr>
            <a:r>
              <a:rPr sz="1050" b="1" i="0">
                <a:solidFill>
                  <a:srgbClr val="41C39B"/>
                </a:solidFill>
              </a:rPr>
              <a:t>2. NAVEGACIÓN POR ROL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FD8114-80D9-4377-8F9C-303F8628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276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531C1E-1B4F-45C1-A2EE-5CD143B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4F8FC"/>
                </a:solidFill>
              </a:defRPr>
            </a:pPr>
            <a:r>
              <a:rPr sz="900" b="1" i="0">
                <a:solidFill>
                  <a:srgbClr val="F4F8FC"/>
                </a:solidFill>
              </a:rPr>
              <a:t>COORDINADOR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BBF648-0CCF-422B-92C4-86DB727B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0">
            <a:solidFill>
              <a:srgbClr val="12355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E84518-57D2-4D34-94A2-21C0073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62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85D8F0"/>
                </a:solidFill>
              </a:defRPr>
            </a:pPr>
            <a:r>
              <a:rPr sz="900" b="1" i="0">
                <a:solidFill>
                  <a:srgbClr val="85D8F0"/>
                </a:solidFill>
              </a:rPr>
              <a:t>DOCENTE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5D3A3A-3D91-46B4-BAD0-28720867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21E"/>
          </a:solidFill>
          <a:ln xmlns:a="http://schemas.openxmlformats.org/drawingml/2006/main" w="0">
            <a:solidFill>
              <a:srgbClr val="3A321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433AAE-FE7A-4363-ADF1-94475F5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62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5B94C"/>
                </a:solidFill>
              </a:defRPr>
            </a:pPr>
            <a:r>
              <a:rPr sz="900" b="1" i="0">
                <a:solidFill>
                  <a:srgbClr val="F5B94C"/>
                </a:solidFill>
              </a:rPr>
              <a:t>PORTERÍA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80F9AF-3F5B-466D-BDD6-3F9EB154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B23004-4819-404D-A599-0D85E388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43475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F8FC"/>
                </a:solidFill>
              </a:defRPr>
            </a:pPr>
            <a:r>
              <a:rPr sz="975" b="1" i="0">
                <a:solidFill>
                  <a:srgbClr val="F4F8FC"/>
                </a:solidFill>
              </a:rPr>
              <a:t>Coordinador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EA8EE5-5045-4BF8-8488-994C09E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434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8B8C9"/>
                </a:solidFill>
              </a:defRPr>
            </a:pPr>
            <a:r>
              <a:rPr sz="900" b="0" i="0">
                <a:solidFill>
                  <a:srgbClr val="A8B8C9"/>
                </a:solidFill>
              </a:rPr>
              <a:t>Reportes · Usuarios · Configuración · Auditoría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8EE515-0F45-47DE-B22E-A6161A0F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BEF1975-A2CE-4142-9132-2D6B4C8E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67325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F8FC"/>
                </a:solidFill>
              </a:defRPr>
            </a:pPr>
            <a:r>
              <a:rPr sz="975" b="1" i="0">
                <a:solidFill>
                  <a:srgbClr val="F4F8FC"/>
                </a:solidFill>
              </a:rPr>
              <a:t>Docente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4BC5B3-BB05-4FB9-AFE1-B1FE23C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673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8B8C9"/>
                </a:solidFill>
              </a:defRPr>
            </a:pPr>
            <a:r>
              <a:rPr sz="900" b="0" i="0">
                <a:solidFill>
                  <a:srgbClr val="A8B8C9"/>
                </a:solidFill>
              </a:rPr>
              <a:t>Reportes · Convivencia · Estudiantes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6277D6-372D-4B99-A398-EDBF3595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03BD72-939E-4386-A808-C04FDBC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91175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F8FC"/>
                </a:solidFill>
              </a:defRPr>
            </a:pPr>
            <a:r>
              <a:rPr sz="975" b="1" i="0">
                <a:solidFill>
                  <a:srgbClr val="F4F8FC"/>
                </a:solidFill>
              </a:rPr>
              <a:t>Portería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4CAF96-1837-4413-B446-725C109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911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A8B8C9"/>
                </a:solidFill>
              </a:defRPr>
            </a:pPr>
            <a:r>
              <a:rPr sz="900" b="0" i="0">
                <a:solidFill>
                  <a:srgbClr val="A8B8C9"/>
                </a:solidFill>
              </a:rPr>
              <a:t>Salidas · Agenda · Perfil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C31A9F-8BAE-4DD2-BD25-5726023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4838700" cy="2381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D291D"/>
          </a:solidFill>
          <a:ln xmlns:a="http://schemas.openxmlformats.org/drawingml/2006/main" w="7620">
            <a:solidFill>
              <a:srgbClr val="F5B94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2C8FD6-8A46-4CF1-A419-7419770C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91225"/>
            <a:ext cx="461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5B94C"/>
                </a:solidFill>
              </a:defRPr>
            </a:pPr>
            <a:r>
              <a:rPr sz="825" b="1" i="0">
                <a:solidFill>
                  <a:srgbClr val="F5B94C"/>
                </a:solidFill>
              </a:rPr>
              <a:t>Pendiente: Seguimiento, Estadísticas, Calendario y Ruta de convivencia.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4665E5-8BD6-4D2D-A6BA-5EAF7793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56388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0478">
            <a:solidFill>
              <a:srgbClr val="39C4E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E8FCBA-123B-455C-B4BB-31F94FB7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9C4E6"/>
                </a:solidFill>
              </a:defRPr>
            </a:pPr>
            <a:r>
              <a:rPr sz="1050" b="1" i="0">
                <a:solidFill>
                  <a:srgbClr val="39C4E6"/>
                </a:solidFill>
              </a:rPr>
              <a:t>3. CONTENIDOS Y ACCIONES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8021CD-1958-458D-9DE0-0B004424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>
            <a:solidFill>
              <a:srgbClr val="2B88D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B5D1CA-0882-4659-A9E1-39D6739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B88D0"/>
                </a:solidFill>
              </a:defRPr>
            </a:pPr>
            <a:r>
              <a:rPr sz="900" b="1" i="0">
                <a:solidFill>
                  <a:srgbClr val="2B88D0"/>
                </a:solidFill>
              </a:rPr>
              <a:t>REPORTES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CF2EE8-444D-4C3D-A3A6-268BF6E8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2442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174BCA-9CBA-4820-B732-EA78AB4E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4F8FC"/>
                </a:solidFill>
              </a:defRPr>
            </a:pPr>
            <a:r>
              <a:rPr sz="900" b="0" i="0">
                <a:solidFill>
                  <a:srgbClr val="F4F8FC"/>
                </a:solidFill>
              </a:rPr>
              <a:t>Consultar → filtrar</a:t>
            </a:r>
          </a:p>
          <a:p xmlns:a="http://schemas.openxmlformats.org/drawingml/2006/main">
            <a:pPr algn="ctr">
              <a:defRPr sz="900" b="0" i="0">
                <a:solidFill>
                  <a:srgbClr val="F4F8FC"/>
                </a:solidFill>
              </a:defRPr>
            </a:pPr>
            <a:r>
              <a:rPr sz="900" b="0" i="0">
                <a:solidFill>
                  <a:srgbClr val="F4F8FC"/>
                </a:solidFill>
              </a:rPr>
              <a:t>→ crear reporte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1BF66D-07DF-4359-A2E4-A0E87257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>
            <a:solidFill>
              <a:srgbClr val="41C39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A4E89F-D5E5-4524-A928-BF6BEDE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41C39B"/>
                </a:solidFill>
              </a:defRPr>
            </a:pPr>
            <a:r>
              <a:rPr sz="900" b="1" i="0">
                <a:solidFill>
                  <a:srgbClr val="41C39B"/>
                </a:solidFill>
              </a:rPr>
              <a:t>SALIDAS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0940EC-15FE-44CE-ADB9-6D203384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2442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5D5747-BB45-44C1-A86B-C059B89D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387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4F8FC"/>
                </a:solidFill>
              </a:defRPr>
            </a:pPr>
            <a:r>
              <a:rPr sz="900" b="0" i="0">
                <a:solidFill>
                  <a:srgbClr val="F4F8FC"/>
                </a:solidFill>
              </a:rPr>
              <a:t>Historial → seleccionar</a:t>
            </a:r>
          </a:p>
          <a:p xmlns:a="http://schemas.openxmlformats.org/drawingml/2006/main">
            <a:pPr algn="ctr">
              <a:defRPr sz="900" b="0" i="0">
                <a:solidFill>
                  <a:srgbClr val="F4F8FC"/>
                </a:solidFill>
              </a:defRPr>
            </a:pPr>
            <a:r>
              <a:rPr sz="900" b="0" i="0">
                <a:solidFill>
                  <a:srgbClr val="F4F8FC"/>
                </a:solidFill>
              </a:rPr>
              <a:t>→ registrar salida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1E613B-6474-4B98-AB17-0056F0B2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52950"/>
            <a:ext cx="1619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FCE2A1-1385-40CA-B8B8-6204496F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5B94C"/>
                </a:solidFill>
              </a:defRPr>
            </a:pPr>
            <a:r>
              <a:rPr sz="900" b="1" i="0">
                <a:solidFill>
                  <a:srgbClr val="F5B94C"/>
                </a:solidFill>
              </a:rPr>
              <a:t>COMUNICACIONES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D6FE1D-5B5C-49E9-ADF9-63B7A811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2442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5366FE-3494-4437-80C6-EA78656C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38725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F4F8FC"/>
                </a:solidFill>
              </a:defRPr>
            </a:pPr>
            <a:r>
              <a:rPr sz="900" b="0" i="0">
                <a:solidFill>
                  <a:srgbClr val="F4F8FC"/>
                </a:solidFill>
              </a:rPr>
              <a:t>Seleccionar estudiante</a:t>
            </a:r>
          </a:p>
          <a:p xmlns:a="http://schemas.openxmlformats.org/drawingml/2006/main">
            <a:pPr algn="ctr">
              <a:defRPr sz="900" b="0" i="0">
                <a:solidFill>
                  <a:srgbClr val="F4F8FC"/>
                </a:solidFill>
              </a:defRPr>
            </a:pPr>
            <a:r>
              <a:rPr sz="900" b="0" i="0">
                <a:solidFill>
                  <a:srgbClr val="F4F8FC"/>
                </a:solidFill>
              </a:rPr>
              <a:t>→ mensaje → historial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CAE724-E1BF-4A39-8C4C-306837BB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52197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A1D35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CDC7B5-C286-45DE-878F-AC73AE3E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721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9C4E6"/>
                </a:solidFill>
              </a:defRPr>
            </a:pPr>
            <a:r>
              <a:rPr sz="825" b="1" i="0">
                <a:solidFill>
                  <a:srgbClr val="39C4E6"/>
                </a:solidFill>
              </a:rPr>
              <a:t>FLUJO RESUMIDO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AABE5D-4A30-4913-A99C-DEB73806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5310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4F8FC"/>
                </a:solidFill>
              </a:defRPr>
            </a:pPr>
            <a:r>
              <a:rPr sz="825" b="0" i="0">
                <a:solidFill>
                  <a:srgbClr val="F4F8FC"/>
                </a:solidFill>
              </a:rPr>
              <a:t>Ingreso → Dashboard por rol → Módulo → Acción → Base de datos → Auditoría / notificación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A8D208-EF0B-400E-80EC-3A99574B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70FF24-4CF4-41F8-B704-D4E67F0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0562334-B962-4317-B804-0C90EB3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0329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A59B7A-98FF-45AB-93C7-4D5D75DB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306F0-258D-4727-B046-608F8433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encabezado comunica identidad, rol y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D01C-68E2-4E55-8B62-EC3989A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Nombre de la aplicación y contexto del usuario permanecen visibles durante el trabajo.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89356-97AB-4C54-B762-9126FE51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59B1D-1A35-42EC-B454-1352D676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828800"/>
            <a:ext cx="8629650" cy="4162425"/>
          </a:xfrm>
          <a:prstGeom xmlns:a="http://schemas.openxmlformats.org/drawingml/2006/main" prst="roundRect">
            <a:avLst>
              <a:gd name="adj" fmla="val 4119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7df050cbe4b72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57375"/>
            <a:ext cx="8572500" cy="4105275"/>
          </a:xfrm>
          <a:prstGeom xmlns:a="http://schemas.openxmlformats.org/drawingml/2006/main" prst="roundRect">
            <a:avLst>
              <a:gd name="adj" fmla="val 417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593EF-7DA8-4800-A17C-A313D938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A74F1-8CED-4037-B807-2E7680A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F4328-FB1B-4607-B45F-086526E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78345-B565-4855-889A-C7F7743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356C5-1038-49F6-A6C8-92A7C406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62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F273C-AE70-4287-8625-DE67F5E2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4ED14-C3C4-40E0-B4C2-8122C5D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9C4E6"/>
                </a:solidFill>
              </a:defRPr>
            </a:pPr>
            <a:r>
              <a:rPr sz="1800" b="1" i="0">
                <a:solidFill>
                  <a:srgbClr val="39C4E6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F364C-9A5D-417D-82BC-49DA985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431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Nombre y marca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4A4E9-363E-40F4-B4BB-E4C1EA9B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145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SIGDE identifica la plataforma desde el extremo izquierdo.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E036E-59E6-49C6-B66C-F0ABD171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28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B94C"/>
                </a:solidFill>
              </a:defRPr>
            </a:pPr>
            <a:r>
              <a:rPr sz="1800" b="1" i="0">
                <a:solidFill>
                  <a:srgbClr val="F5B94C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22350-A8C0-4AF6-8E92-F262D4C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19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Usuario activo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6D7EB-242B-478B-8E9C-E62C751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909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El nombre y el rol dan contexto a la sesión abierta.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7E307-75D5-46D3-8B74-44904D8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053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41C39B"/>
                </a:solidFill>
              </a:defRPr>
            </a:pPr>
            <a:r>
              <a:rPr sz="1800" b="1" i="0">
                <a:solidFill>
                  <a:srgbClr val="41C39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E1EF5-0F46-4A14-BCE7-50C7941B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958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Búsqueda global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DA19F-241B-4048-93B0-07035C2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672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El encabezado reserva un acceso rápido a estudiantes y reportes.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1EB03-3FA7-47DF-AB60-8FC4738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8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La misma estructura reduce la desorientación al cambiar de módulo.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8AFD1-38C5-4BF0-B128-063A167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2A02E9-0EC2-4EFF-90E0-363F45F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E6ACD-A888-44BC-863B-B30FBCDA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9533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B2452-AE8C-4F67-B1DA-46560F34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4C91A-E6BE-4048-8265-6CF7A3E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La confianza también se diseña: privacidad y condiciones claras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671DA-4A72-418A-B684-806C900D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Los documentos legales están enlazados desde el login y explican responsabilidades y límites.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BA08D-1B18-4064-968B-1F5D674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0C188-1B92-4F6B-8F0E-1AD0E23D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76425"/>
            <a:ext cx="52006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7a6c0cf594779"/>
          <a:srcRect xmlns:a="http://schemas.openxmlformats.org/drawingml/2006/main" l="18421" t="0" r="18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0500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E1F01-DD84-4BA2-955C-B97DC125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876425"/>
            <a:ext cx="5200650" cy="3962400"/>
          </a:xfrm>
          <a:prstGeom xmlns:a="http://schemas.openxmlformats.org/drawingml/2006/main" prst="roundRect">
            <a:avLst>
              <a:gd name="adj" fmla="val 43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1e4d20fab4800"/>
          <a:srcRect xmlns:a="http://schemas.openxmlformats.org/drawingml/2006/main" l="18300" t="0" r="183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905000"/>
            <a:ext cx="5143500" cy="3905250"/>
          </a:xfrm>
          <a:prstGeom xmlns:a="http://schemas.openxmlformats.org/drawingml/2006/main" prst="roundRect">
            <a:avLst>
              <a:gd name="adj" fmla="val 439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99F2C-7D3A-41CE-801D-E84FC359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911CF-0AAD-48E5-95E1-E4D37E4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4F8FC"/>
                </a:solidFill>
              </a:defRPr>
            </a:pPr>
            <a:r>
              <a:rPr sz="900" b="1" i="0">
                <a:solidFill>
                  <a:srgbClr val="F4F8FC"/>
                </a:solidFill>
              </a:rPr>
              <a:t>TÉRMINOS Y CONDICIONES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54161-48F1-4268-80FA-4286A382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C4E6"/>
          </a:solidFill>
          <a:ln xmlns:a="http://schemas.openxmlformats.org/drawingml/2006/main" w="0">
            <a:solidFill>
              <a:srgbClr val="39C4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38A88-A69E-431A-B6E5-8EC0C171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6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62B"/>
                </a:solidFill>
              </a:defRPr>
            </a:pPr>
            <a:r>
              <a:rPr sz="900" b="1" i="0">
                <a:solidFill>
                  <a:srgbClr val="07162B"/>
                </a:solidFill>
              </a:rPr>
              <a:t>TRATAMIENTO DE DATOS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BFD9D-8739-4262-B2B1-02A99AB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10858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E377C-7EBB-4235-A255-1AA7B4AF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5B94C"/>
                </a:solidFill>
              </a:defRPr>
            </a:pPr>
            <a:r>
              <a:rPr sz="1125" b="1" i="0">
                <a:solidFill>
                  <a:srgbClr val="F5B94C"/>
                </a:solidFill>
              </a:rPr>
              <a:t>Antes del despliegue deben reemplazarse los campos institucionales aún marcados “por definir”.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A90CC-DDB5-4AD0-8DF8-989012CE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A4F70-50E4-4F56-A635-29E4572F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87967-C1FA-4BA0-95B3-D055106D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41144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0796B-A0D8-4AD5-B3E8-E0146D26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F511C-2FBA-428E-BD33-50AC198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El menú cambia según la responsabilidad de cada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DDF3A-2047-4754-BF04-8DE55AB0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La navegación aplica el principio de mínimo acceso y muestra solo las tareas relacionadas con el 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3931-5F0F-47B8-947B-15DD6A42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21FFD-10E2-4628-BEE4-F66256B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23957537343d2"/>
          <a:srcRect xmlns:a="http://schemas.openxmlformats.org/drawingml/2006/main" l="0" t="492" r="0" b="4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8D80E-D91A-489D-A125-AA65A036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9C4E6"/>
                </a:solidFill>
              </a:defRPr>
            </a:pPr>
            <a:r>
              <a:rPr sz="1650" b="1" i="0">
                <a:solidFill>
                  <a:srgbClr val="39C4E6"/>
                </a:solidFill>
              </a:rPr>
              <a:t>Coordinador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B6FDF-1B5C-49C7-AE11-B102DAE0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Dashboard · Reportes · Salidas · Usuarios · Configuración · Auditoría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EC34F-B81B-4BF1-84B0-AD6D181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14352-1201-43B5-A786-320E0676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fc8dcda7548e6"/>
          <a:srcRect xmlns:a="http://schemas.openxmlformats.org/drawingml/2006/main" l="0" t="248" r="0" b="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DB550-263F-4937-8B6B-8114D4C3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1C39B"/>
                </a:solidFill>
              </a:defRPr>
            </a:pPr>
            <a:r>
              <a:rPr sz="1650" b="1" i="0">
                <a:solidFill>
                  <a:srgbClr val="41C39B"/>
                </a:solidFill>
              </a:rPr>
              <a:t>Docente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8CD43-0A0B-43E0-BA60-94B8EB8F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Dashboard · Reportes · Estudiantes · Comunicaciones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00AF3-A976-4112-AA4F-72786EA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C0620-55ED-4DD0-A2FF-151C6C8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19300"/>
            <a:ext cx="33909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e98d487ff40a3"/>
          <a:srcRect xmlns:a="http://schemas.openxmlformats.org/drawingml/2006/main" l="131" t="0" r="1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47875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4D9BD-ECFC-4A8F-AF6A-AC64277B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5B94C"/>
                </a:solidFill>
              </a:defRPr>
            </a:pPr>
            <a:r>
              <a:rPr sz="1650" b="1" i="0">
                <a:solidFill>
                  <a:srgbClr val="F5B94C"/>
                </a:solidFill>
              </a:rPr>
              <a:t>Portería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C4111-79B6-45F8-BB50-A8D7D89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43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Dashboard · Salidas · Agenda operativa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2381D-8B0C-4E6A-9B75-014F9835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2DA5E-D3DA-4F9E-BD1A-6342655B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85D8F0"/>
                </a:solidFill>
              </a:defRPr>
            </a:pPr>
            <a:r>
              <a:rPr sz="1125" b="0" i="0">
                <a:solidFill>
                  <a:srgbClr val="85D8F0"/>
                </a:solidFill>
              </a:rPr>
              <a:t>Importante: una opción visible en el menú puede seguir en desarrollo; el acceso no demuestra que el módulo esté terminado.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2EDD2-3267-49A1-A9EE-C3377780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AC370-E07A-4385-BBD1-15C58B7A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E09D8-AEA1-4346-B6DF-D6ED0DEE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407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06575-A8A7-4991-A9B8-AAFD4A73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089BC-0C2C-453E-A1E8-E9ED590E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Regresar es explícito y mantiene la orientación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F4721-7565-4543-8CC8-E3C43778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SIGDE usa controles visibles para volver, cerrar formularios o recuperar el menú.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89B89-687F-40DF-9C00-585B8FC8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94E1-2498-4107-A0DA-1AD4662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5962650" cy="37719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d7babbfd64c9b"/>
          <a:srcRect xmlns:a="http://schemas.openxmlformats.org/drawingml/2006/main" l="11912" t="0" r="11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52625"/>
            <a:ext cx="5905500" cy="37147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941F0-7B5C-41FF-A02D-F48DD725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86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711BE-DBF1-48B6-B6E2-FD16D48B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244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3DB5A-D572-4FAE-B247-DC0D5086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924050"/>
            <a:ext cx="4438650" cy="2181225"/>
          </a:xfrm>
          <a:prstGeom xmlns:a="http://schemas.openxmlformats.org/drawingml/2006/main" prst="roundRect">
            <a:avLst>
              <a:gd name="adj" fmla="val 7860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7d33c8ca647ea"/>
          <a:srcRect xmlns:a="http://schemas.openxmlformats.org/drawingml/2006/main" l="0" t="80" r="0" b="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1952625"/>
            <a:ext cx="4381500" cy="2124075"/>
          </a:xfrm>
          <a:prstGeom xmlns:a="http://schemas.openxmlformats.org/drawingml/2006/main" prst="roundRect">
            <a:avLst>
              <a:gd name="adj" fmla="val 807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2A40E-D508-44C1-B745-7B970BE3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38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DE444-2D84-4A82-920B-E5186707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7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B6D19-4716-4486-AAC1-36CAC98A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5B94C"/>
                </a:solidFill>
              </a:defRPr>
            </a:pPr>
            <a:r>
              <a:rPr sz="1800" b="1" i="0">
                <a:solidFill>
                  <a:srgbClr val="F5B94C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693F7-C15C-44FE-AC89-513900D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672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Botón “Regresar”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514B8-D690-40AB-AA0D-52600F94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29175"/>
            <a:ext cx="195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Devuelve al paso anterior del flujo de autenticación sin perder la referencia visual.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B5611-7D8D-458D-9C3B-3160CF7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9C4E6"/>
                </a:solidFill>
              </a:defRPr>
            </a:pPr>
            <a:r>
              <a:rPr sz="1800" b="1" i="0">
                <a:solidFill>
                  <a:srgbClr val="39C4E6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ED977-5EB4-48EF-AA46-45AE1D7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67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F8FC"/>
                </a:solidFill>
              </a:defRPr>
            </a:pPr>
            <a:r>
              <a:rPr sz="1425" b="1" i="0">
                <a:solidFill>
                  <a:srgbClr val="F4F8FC"/>
                </a:solidFill>
              </a:rPr>
              <a:t>Control del menú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D194E-B1A4-40AF-B6FF-049F903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291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8C9"/>
                </a:solidFill>
              </a:defRPr>
            </a:pPr>
            <a:r>
              <a:rPr sz="1125" b="0" i="0">
                <a:solidFill>
                  <a:srgbClr val="A8B8C9"/>
                </a:solidFill>
              </a:rPr>
              <a:t>Permite contraer o desplegar la navegación y conserva el módulo seleccionado.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2D772-A6E9-4790-B12C-DCD6AE85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85D8F0"/>
                </a:solidFill>
              </a:defRPr>
            </a:pPr>
            <a:r>
              <a:rPr sz="1200" b="0" i="0">
                <a:solidFill>
                  <a:srgbClr val="85D8F0"/>
                </a:solidFill>
              </a:rPr>
              <a:t>En los documentos legales también aparece “← Volver al inicio de sesión”.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A487F-F9B1-4CC0-AD6A-55CCAFAB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F6C48-A603-47A3-98C1-FBF9C25E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709F5-A616-40C4-AFED-E28B32EB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70873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C30DEE-82DC-4124-AFDE-70E7F67F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D2F67-8BF5-432D-8BDF-403FFAD3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La base de datos conecta personas, servicios y trazabilidad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70FF3-3BD4-4100-B693-E83F00F0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El producto es la plataforma web; sus servicios operan sobre datos relacionados y permisos por 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85BE4-97F2-47C1-8EBB-2FBF836C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8F73A-7C0C-4B5F-9379-F08B2CA5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57550"/>
            <a:ext cx="1200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F3611-1F43-4E5C-9260-0DF62DDB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57550"/>
            <a:ext cx="1200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6FB8"/>
          </a:solidFill>
          <a:ln xmlns:a="http://schemas.openxmlformats.org/drawingml/2006/main" w="0">
            <a:solidFill>
              <a:srgbClr val="1F6F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37289-38D2-4D2E-89CF-9291FA1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33675"/>
            <a:ext cx="2476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0">
            <a:solidFill>
              <a:srgbClr val="41C3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4174C-1DB4-425E-BBC4-D1653B14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solidFill>
              <a:srgbClr val="F5B9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52C05-9A15-4C9D-8907-87BA6459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762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39C4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336CA-758C-4E8C-80F3-D6FFBB0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50802-9D3A-43B6-99C7-C3516C96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Roles, cuenta y sesión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0808B-EBD2-4278-A5E5-C47F35A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71800"/>
            <a:ext cx="23622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B8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05AB2-4E19-4D2B-A1BD-166384D1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SIGDE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23418-D758-4257-9F19-5887B865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48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Servicios digitales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83C9E-8272-4351-82B9-3B9B95D1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62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41C3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2F8B3-0CFE-4019-8F12-2F3A38C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Estudiantes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051E1-60C1-48B9-B07E-1D08807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337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Acudientes y grupos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9B808-07E5-49EC-A53A-A146847C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85D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81C2D-6738-41BC-A01C-B8FA10F5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859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Reportes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C7466-B76C-4E23-819E-69BA60AE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Evidencias y observaciones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2BB3E-EBDA-4F2C-893A-3570F70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26670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F5B94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3A1E5-FDCF-44D2-A509-6E5DC07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434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4F8FC"/>
                </a:solidFill>
              </a:defRPr>
            </a:pPr>
            <a:r>
              <a:rPr sz="1500" b="1" i="0">
                <a:solidFill>
                  <a:srgbClr val="F4F8FC"/>
                </a:solidFill>
              </a:rPr>
              <a:t>Salidas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BB135-7C4C-4239-9610-811F6AE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482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Autorizaciones y responsables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C238B-BB75-4381-932E-9446EC63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626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9C4E6"/>
                </a:solidFill>
              </a:defRPr>
            </a:pPr>
            <a:r>
              <a:rPr sz="1050" b="1" i="0">
                <a:solidFill>
                  <a:srgbClr val="39C4E6"/>
                </a:solidFill>
              </a:rPr>
              <a:t>COMUNICACIONES · NOTIFICACIONES · AUDITORÍA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48C5-23D2-4182-8F55-91E1F17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674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98D2-33AD-429A-97F2-7DD4522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6267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8B8C9"/>
                </a:solidFill>
              </a:defRPr>
            </a:pPr>
            <a:r>
              <a:rPr sz="1050" b="0" i="0">
                <a:solidFill>
                  <a:srgbClr val="A8B8C9"/>
                </a:solidFill>
              </a:rPr>
              <a:t>SQLite en desarrollo local · Turso en producción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AE574-4A3F-40DA-AD92-3B3AF49D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8FC"/>
                </a:solidFill>
              </a:defRPr>
            </a:pPr>
            <a:r>
              <a:rPr sz="1350" b="1" i="0">
                <a:solidFill>
                  <a:srgbClr val="F4F8FC"/>
                </a:solidFill>
              </a:rPr>
              <a:t>Producto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B1CEC-F8C4-4B5B-A24F-820230A7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Plataforma web SIGDE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5FA9C-4113-47AB-A085-FFD15444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8FC"/>
                </a:solidFill>
              </a:defRPr>
            </a:pPr>
            <a:r>
              <a:rPr sz="1350" b="1" i="0">
                <a:solidFill>
                  <a:srgbClr val="F4F8FC"/>
                </a:solidFill>
              </a:rPr>
              <a:t>Servicios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5DE0A0-BC20-494C-B60B-38BA9027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72025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Reportes · Salidas · Comunicación · Seguridad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34706-170A-4474-8499-02A65DD3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70CC31-5849-43C0-B024-D04C1F26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F3F872-55E7-42DC-A824-97ECB02B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621993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6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E6B9C-6177-4017-96D0-240248D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9C4E6"/>
                </a:solidFill>
              </a:defRPr>
            </a:pPr>
            <a:r>
              <a:rPr sz="975" b="1" i="0">
                <a:solidFill>
                  <a:srgbClr val="39C4E6"/>
                </a:solidFill>
              </a:rPr>
              <a:t>SIGDE  / 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950DE-14EF-4EB7-ACA3-D85008A3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F8FC"/>
                </a:solidFill>
              </a:defRPr>
            </a:pPr>
            <a:r>
              <a:rPr sz="2700" b="1" i="0">
                <a:solidFill>
                  <a:srgbClr val="F4F8FC"/>
                </a:solidFill>
              </a:rPr>
              <a:t>La autenticación ya cubre ingreso y recuperación segura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49F19-B2BE-4F6A-B15B-430263A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8C9"/>
                </a:solidFill>
              </a:defRPr>
            </a:pPr>
            <a:r>
              <a:rPr sz="1275" b="0" i="0">
                <a:solidFill>
                  <a:srgbClr val="A8B8C9"/>
                </a:solidFill>
              </a:rPr>
              <a:t>El flujo principal funciona; queda un ajuste de usabilidad antes de considerarlo cerrado.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9EB67-18A2-4E11-AEAB-F3D07AA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31957-AF48-40DF-AEFA-D3584859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5d62da9834a2d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2FDAC-C5C1-4057-934D-681397A8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4E6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8B877-C216-490E-8B33-5ABC770C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CF78B-635D-4402-88B1-FEC7E71F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Ingreso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95970-F54E-45CC-A5B5-5214CD8A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Correo, contraseña, recordar usuario y enlace de recuperación.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4B4FA-8C87-48DD-B77A-38093C8C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d43ac2ea4440f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566CC-E5EC-48D5-89A8-386CA83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C39B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688AD-056A-471D-9ADB-9854B888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E784F-5E13-45F3-A2D5-576F75D1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Verificación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DA13-27F8-49B0-94A0-267711EE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Código de 6 dígitos y espera controlada para reenviar.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6B783-A7F6-4406-B7A1-84ADB42E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71675"/>
            <a:ext cx="3438525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0E2743"/>
          </a:solidFill>
          <a:ln xmlns:a="http://schemas.openxmlformats.org/drawingml/2006/main" w="14288">
            <a:solidFill>
              <a:srgbClr val="244A6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ca20a71084eb1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000250"/>
            <a:ext cx="3381375" cy="16192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4C7E1-DC71-49AC-B525-ADE49C5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19050">
            <a:solidFill>
              <a:srgbClr val="F4F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87B46-C819-4EC0-9439-75560CD6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7162B"/>
                </a:solidFill>
              </a:defRPr>
            </a:pPr>
            <a:r>
              <a:rPr sz="1200" b="1" i="0">
                <a:solidFill>
                  <a:srgbClr val="07162B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951C1-9DC4-482C-B6FE-46192E60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338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4F8FC"/>
                </a:solidFill>
              </a:defRPr>
            </a:pPr>
            <a:r>
              <a:rPr sz="1575" b="1" i="0">
                <a:solidFill>
                  <a:srgbClr val="F4F8FC"/>
                </a:solidFill>
              </a:rPr>
              <a:t>Nueva contraseña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6F8B5-9DF5-4DC7-8D12-76C05241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8C9"/>
                </a:solidFill>
              </a:defRPr>
            </a:pPr>
            <a:r>
              <a:rPr sz="1200" b="0" i="0">
                <a:solidFill>
                  <a:srgbClr val="A8B8C9"/>
                </a:solidFill>
              </a:rPr>
              <a:t>Indicador de fortaleza y confirmación; falta mostrar/ocultar.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30B8B7-18DF-4B6A-B01D-B00152AF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3553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DA095-986E-4BDF-B37A-F77D908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5B94C"/>
                </a:solidFill>
              </a:defRPr>
            </a:pPr>
            <a:r>
              <a:rPr sz="1200" b="1" i="0">
                <a:solidFill>
                  <a:srgbClr val="F5B94C"/>
                </a:solidFill>
              </a:rPr>
              <a:t>Próximo paso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D33B5-2479-4797-9F76-F31C0EF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0070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4F8FC"/>
                </a:solidFill>
              </a:defRPr>
            </a:pPr>
            <a:r>
              <a:rPr sz="1200" b="0" i="0">
                <a:solidFill>
                  <a:srgbClr val="F4F8FC"/>
                </a:solidFill>
              </a:rPr>
              <a:t>Agregar mostrar/ocultar en ambos campos de nueva contraseña y completar los 6 cierres de interfaz.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A8264-9172-4444-B2D1-51CCB1B8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A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AF636-B3DE-48BF-98E7-C5926013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1879D"/>
                </a:solidFill>
              </a:defRPr>
            </a:pPr>
            <a:r>
              <a:rPr sz="825" b="0" i="0">
                <a:solidFill>
                  <a:srgbClr val="71879D"/>
                </a:solidFill>
              </a:rPr>
              <a:t>SIGDE · Avances del proyecto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7CA0A-59A6-48B4-A5D0-034D5C20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9C4E6"/>
                </a:solidFill>
              </a:defRPr>
            </a:pPr>
            <a:r>
              <a:rPr sz="900" b="1" i="0">
                <a:solidFill>
                  <a:srgbClr val="39C4E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1428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2026-09-01T10:28:39.9060000Z</dcterms:created>
  <dcterms:modified xsi:type="dcterms:W3CDTF">2026-09-01T10:28:39.9060000Z</dcterms:modified>
</coreProperties>
</file>