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150bd86974059" /><Relationship Type="http://schemas.openxmlformats.org/officeDocument/2006/relationships/extended-properties" Target="/docProps/app.xml" Id="R4e515cde259542cb" /><Relationship Type="http://schemas.openxmlformats.org/officeDocument/2006/relationships/officeDocument" Target="/ppt/presentation.xml" Id="Raaaea83af41e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aecf5ca1c4538"/>
  </p:sldMasterIdLst>
  <p:notesMasterIdLst>
    <p:notesMasterId xmlns:r="http://schemas.openxmlformats.org/officeDocument/2006/relationships" r:id="R119c57ccd2434771"/>
  </p:notesMasterIdLst>
  <p:sldIdLst>
    <p:sldId xmlns:r="http://schemas.openxmlformats.org/officeDocument/2006/relationships" id="256" r:id="R9ccd4d6280ea4f40"/>
    <p:sldId xmlns:r="http://schemas.openxmlformats.org/officeDocument/2006/relationships" id="257" r:id="Rf45a40983e4a439f"/>
    <p:sldId xmlns:r="http://schemas.openxmlformats.org/officeDocument/2006/relationships" id="258" r:id="Rcf932ba12d9b4e42"/>
    <p:sldId xmlns:r="http://schemas.openxmlformats.org/officeDocument/2006/relationships" id="259" r:id="R5c34386b44524ce0"/>
    <p:sldId xmlns:r="http://schemas.openxmlformats.org/officeDocument/2006/relationships" id="260" r:id="R4d95a0b208f54354"/>
    <p:sldId xmlns:r="http://schemas.openxmlformats.org/officeDocument/2006/relationships" id="261" r:id="R02a00f837b554a6a"/>
    <p:sldId xmlns:r="http://schemas.openxmlformats.org/officeDocument/2006/relationships" id="262" r:id="R1dc2aa8b056244f5"/>
    <p:sldId xmlns:r="http://schemas.openxmlformats.org/officeDocument/2006/relationships" id="263" r:id="R5f4636a566e14378"/>
    <p:sldId xmlns:r="http://schemas.openxmlformats.org/officeDocument/2006/relationships" id="264" r:id="R6aad0c1518e0495f"/>
    <p:sldId xmlns:r="http://schemas.openxmlformats.org/officeDocument/2006/relationships" id="265" r:id="Re0386752dbe0458e"/>
    <p:sldId xmlns:r="http://schemas.openxmlformats.org/officeDocument/2006/relationships" id="266" r:id="R60073d140ea04644"/>
    <p:sldId xmlns:r="http://schemas.openxmlformats.org/officeDocument/2006/relationships" id="267" r:id="R618ec9de9a4940a5"/>
    <p:sldId xmlns:r="http://schemas.openxmlformats.org/officeDocument/2006/relationships" id="268" r:id="R1de09bdf3cd144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a9539eaa74d07" /><Relationship Type="http://schemas.openxmlformats.org/officeDocument/2006/relationships/slideMaster" Target="/ppt/slideMasters/slideMaster1.xml" Id="R5d0aecf5ca1c4538" /><Relationship Type="http://schemas.openxmlformats.org/officeDocument/2006/relationships/notesMaster" Target="/ppt/notesMasters/notesMaster1.xml" Id="R119c57ccd2434771" /><Relationship Type="http://schemas.openxmlformats.org/officeDocument/2006/relationships/presProps" Target="/ppt/presProps.xml" Id="Rd364f596d3594a6c" /><Relationship Type="http://schemas.openxmlformats.org/officeDocument/2006/relationships/tableStyles" Target="/ppt/tableStyles.xml" Id="Rdb7e829780f94a40" /><Relationship Type="http://schemas.openxmlformats.org/officeDocument/2006/relationships/slide" Target="/ppt/slides/slide1.xml" Id="R9ccd4d6280ea4f40" /><Relationship Type="http://schemas.openxmlformats.org/officeDocument/2006/relationships/slide" Target="/ppt/slides/slide2.xml" Id="Rf45a40983e4a439f" /><Relationship Type="http://schemas.openxmlformats.org/officeDocument/2006/relationships/slide" Target="/ppt/slides/slide3.xml" Id="Rcf932ba12d9b4e42" /><Relationship Type="http://schemas.openxmlformats.org/officeDocument/2006/relationships/slide" Target="/ppt/slides/slide4.xml" Id="R5c34386b44524ce0" /><Relationship Type="http://schemas.openxmlformats.org/officeDocument/2006/relationships/slide" Target="/ppt/slides/slide5.xml" Id="R4d95a0b208f54354" /><Relationship Type="http://schemas.openxmlformats.org/officeDocument/2006/relationships/slide" Target="/ppt/slides/slide6.xml" Id="R02a00f837b554a6a" /><Relationship Type="http://schemas.openxmlformats.org/officeDocument/2006/relationships/slide" Target="/ppt/slides/slide7.xml" Id="R1dc2aa8b056244f5" /><Relationship Type="http://schemas.openxmlformats.org/officeDocument/2006/relationships/slide" Target="/ppt/slides/slide8.xml" Id="R5f4636a566e14378" /><Relationship Type="http://schemas.openxmlformats.org/officeDocument/2006/relationships/slide" Target="/ppt/slides/slide9.xml" Id="R6aad0c1518e0495f" /><Relationship Type="http://schemas.openxmlformats.org/officeDocument/2006/relationships/slide" Target="/ppt/slides/slide10.xml" Id="Re0386752dbe0458e" /><Relationship Type="http://schemas.openxmlformats.org/officeDocument/2006/relationships/slide" Target="/ppt/slides/slide11.xml" Id="R60073d140ea04644" /><Relationship Type="http://schemas.openxmlformats.org/officeDocument/2006/relationships/slide" Target="/ppt/slides/slide12.xml" Id="R618ec9de9a4940a5" /><Relationship Type="http://schemas.openxmlformats.org/officeDocument/2006/relationships/slide" Target="/ppt/slides/slide13.xml" Id="R1de09bdf3cd1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b27b72653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8c8a81a4e4066" /><Relationship Type="http://schemas.openxmlformats.org/officeDocument/2006/relationships/notesMaster" Target="/ppt/notesMasters/notesMaster1.xml" Id="R439858768da7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94729e98948a0" /><Relationship Type="http://schemas.openxmlformats.org/officeDocument/2006/relationships/notesMaster" Target="/ppt/notesMasters/notesMaster1.xml" Id="R6efd411eae684a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2e8d1fa0846af" /><Relationship Type="http://schemas.openxmlformats.org/officeDocument/2006/relationships/notesMaster" Target="/ppt/notesMasters/notesMaster1.xml" Id="R4c11dd96ddc142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1c6fe3c2594df5" /><Relationship Type="http://schemas.openxmlformats.org/officeDocument/2006/relationships/notesMaster" Target="/ppt/notesMasters/notesMaster1.xml" Id="R134fe740f1dc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0fff232af49d8" /><Relationship Type="http://schemas.openxmlformats.org/officeDocument/2006/relationships/notesMaster" Target="/ppt/notesMasters/notesMaster1.xml" Id="Rbfa651c466b846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940ff552fc4d03" /><Relationship Type="http://schemas.openxmlformats.org/officeDocument/2006/relationships/notesMaster" Target="/ppt/notesMasters/notesMaster1.xml" Id="R9fba632cfa3546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7a5d4caba24a99" /><Relationship Type="http://schemas.openxmlformats.org/officeDocument/2006/relationships/notesMaster" Target="/ppt/notesMasters/notesMaster1.xml" Id="R83225ac39f5d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8cab0515a94061" /><Relationship Type="http://schemas.openxmlformats.org/officeDocument/2006/relationships/notesMaster" Target="/ppt/notesMasters/notesMaster1.xml" Id="Rcbd7b0ffbd4444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8b8c9e7af495d" /><Relationship Type="http://schemas.openxmlformats.org/officeDocument/2006/relationships/notesMaster" Target="/ppt/notesMasters/notesMaster1.xml" Id="Ra550052b3eaa45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cb70efd7f94749" /><Relationship Type="http://schemas.openxmlformats.org/officeDocument/2006/relationships/notesMaster" Target="/ppt/notesMasters/notesMaster1.xml" Id="Red7777d2ec8d46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d259146cc14d90" /><Relationship Type="http://schemas.openxmlformats.org/officeDocument/2006/relationships/notesMaster" Target="/ppt/notesMasters/notesMaster1.xml" Id="R8abba178fba94e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cc9c3212f54908" /><Relationship Type="http://schemas.openxmlformats.org/officeDocument/2006/relationships/notesMaster" Target="/ppt/notesMasters/notesMaster1.xml" Id="R0e5192aea99448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338fce609a4b28" /><Relationship Type="http://schemas.openxmlformats.org/officeDocument/2006/relationships/notesMaster" Target="/ppt/notesMasters/notesMaster1.xml" Id="Rbae6fdb07607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nombre completo y el propósito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C:/Users/edits/sistema-escolar/frontend/public/sigde-space-background.png</a:t>
            </a:r>
          </a:p>
          <a:p xmlns:a="http://schemas.openxmlformats.org/drawingml/2006/main">
            <a:r>
              <a:t>- C:/Users/edits/sistema-escolar/frontend/public/Logo-login.png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SIGDE en una sola frase antes de enumerar los módulos.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C:/Users/edits/AppData/Local/Temp/codex-clipboard-23807993-f086-4f90-907b-140af167cc61.png</a:t>
            </a:r>
          </a:p>
          <a:p xmlns:a="http://schemas.openxmlformats.org/drawingml/2006/main">
            <a:r>
              <a:t>- Resumen basado en los módulos y servicios del repositorio SIGDE.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resultados medidos; presentar la mejora como objetivo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C:/Users/edits/AppData/Local/Temp/codex-clipboard-a5e4f482-051f-4c30-befb-ebea0b2f754d.png</a:t>
            </a:r>
          </a:p>
          <a:p xmlns:a="http://schemas.openxmlformats.org/drawingml/2006/main">
            <a:r>
              <a:t>- Problemas y soluciones derivados del alcance funcional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color con una función, no solo con una preferencia estética.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C:/Users/edits/sistema-escolar/frontend/public/Logo.png</a:t>
            </a:r>
          </a:p>
          <a:p xmlns:a="http://schemas.openxmlformats.org/drawingml/2006/main">
            <a:r>
              <a:t>- C:/Users/edits/sistema-escolar/frontend/public/sigde-space-background.png</a:t>
            </a:r>
          </a:p>
          <a:p xmlns:a="http://schemas.openxmlformats.org/drawingml/2006/main">
            <a:r>
              <a:t>- Colores verificados en la interfaz y estilos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primero la navegación, luego la barra superior y por último el contenido.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C:/Users/edits/AppData/Local/Temp/codex-clipboard-280987c4-4828-49ba-954f-1c1e265ce3e6.png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los botones del menú no equivalen por sí solos a una interfaz terminada.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C:/Users/edits/AppData/Local/Temp/codex-clipboard-a82e8277-61f2-48a8-ac20-267b43f6a2cf.png</a:t>
            </a:r>
          </a:p>
          <a:p xmlns:a="http://schemas.openxmlformats.org/drawingml/2006/main">
            <a:r>
              <a:t>- C:/Users/edits/AppData/Local/Temp/codex-clipboard-2083fb94-993e-442c-9c5b-5df6c610a68d.png</a:t>
            </a:r>
          </a:p>
          <a:p xmlns:a="http://schemas.openxmlformats.org/drawingml/2006/main">
            <a:r>
              <a:t>- C:/Users/edits/AppData/Local/Temp/codex-clipboard-e8d41022-5ade-4b0d-a919-ab6586f53cd4.png</a:t>
            </a:r>
          </a:p>
          <a:p xmlns:a="http://schemas.openxmlformats.org/drawingml/2006/main">
            <a:r>
              <a:t>- C:/Users/edits/AppData/Local/Temp/codex-clipboard-2bafa633-28e5-4848-b049-36ac675c2112.png</a:t>
            </a:r>
          </a:p>
          <a:p xmlns:a="http://schemas.openxmlformats.org/drawingml/2006/main">
            <a:r>
              <a:t>- Conteo del inventario funcional informado por el usuario al 1 de septiembre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diagrama de izquierda a derecha y mencionar que las rutas API son controladores delgados.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Arquitectura observada en frontend/src/app/api, backend/src/services y database/prisma/schema.prisma.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que el encabezado se conserva incluso cuando cambia el contenido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C:/Users/edits/AppData/Local/Temp/codex-clipboard-c80c1d51-d137-42e8-ae30-6198f97dd1f1.png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existencia de los documentos y reconocer el dato institucional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C:/Users/edits/AppData/Local/Temp/codex-clipboard-a37271a1-39e4-4d16-807b-a5fef0300eb0.png</a:t>
            </a:r>
          </a:p>
          <a:p xmlns:a="http://schemas.openxmlformats.org/drawingml/2006/main">
            <a:r>
              <a:t>- C:/Users/edits/AppData/Local/Temp/codex-clipboard-4c5fb432-0345-48c9-a4d0-444f1269fab6.png</a:t>
            </a:r>
          </a:p>
          <a:p xmlns:a="http://schemas.openxmlformats.org/drawingml/2006/main">
            <a:r>
              <a:t>- Textos legales implementados en frontend/src/components/legal/LegalPage.tsx.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los tres menús y volver a separar permiso, visibilidad y estado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C:/Users/edits/AppData/Local/Temp/codex-clipboard-280987c4-4828-49ba-954f-1c1e265ce3e6.png</a:t>
            </a:r>
          </a:p>
          <a:p xmlns:a="http://schemas.openxmlformats.org/drawingml/2006/main">
            <a:r>
              <a:t>- C:/Users/edits/AppData/Local/Temp/codex-clipboard-f323f7f9-6fc8-4552-9729-5569fbef70e1.png</a:t>
            </a:r>
          </a:p>
          <a:p xmlns:a="http://schemas.openxmlformats.org/drawingml/2006/main">
            <a:r>
              <a:t>- C:/Users/edits/AppData/Local/Temp/codex-clipboard-02e47e51-1836-4819-bd81-335f40c1c329.png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hay retorno tanto dentro de un flujo como dentro de la navegación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C:/Users/edits/AppData/Local/Temp/codex-clipboard-7a6435bf-a8cb-488a-b747-d3abf22b98b4.png</a:t>
            </a:r>
          </a:p>
          <a:p xmlns:a="http://schemas.openxmlformats.org/drawingml/2006/main">
            <a:r>
              <a:t>- C:/Users/edits/AppData/Local/Temp/codex-clipboard-affd2f35-8448-426d-895c-367cbf9c9f85.png</a:t>
            </a:r>
          </a:p>
          <a:p xmlns:a="http://schemas.openxmlformats.org/drawingml/2006/main">
            <a:r>
              <a:t>- Control de retorno legal verificado en las páginas de Términos y Política.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SIGDE no vende productos físicos; el producto es la plataforma y los servicios son sus módulos.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 de datos basado en database/prisma/schema.prisma.</a:t>
            </a:r>
          </a:p>
          <a:p xmlns:a="http://schemas.openxmlformats.org/drawingml/2006/main">
            <a:r>
              <a:t>- Arquitectura de persistencia basada en la configuración real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el avance real con el siguiente objetivo concreto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C:/Users/edits/AppData/Local/Temp/codex-clipboard-23807993-f086-4f90-907b-140af167cc61.png</a:t>
            </a:r>
          </a:p>
          <a:p xmlns:a="http://schemas.openxmlformats.org/drawingml/2006/main">
            <a:r>
              <a:t>- C:/Users/edits/AppData/Local/Temp/codex-clipboard-a9067e59-caa7-4277-9f1c-56cab529aa2a.png</a:t>
            </a:r>
          </a:p>
          <a:p xmlns:a="http://schemas.openxmlformats.org/drawingml/2006/main">
            <a:r>
              <a:t>- C:/Users/edits/AppData/Local/Temp/codex-clipboard-c9801032-4448-4829-956b-1b6c7060a6c6.png</a:t>
            </a:r>
          </a:p>
          <a:p xmlns:a="http://schemas.openxmlformats.org/drawingml/2006/main">
            <a:r>
              <a:t>- Flujo de autenticación implementado en frontend/src/components/auth/LoginExperience.tsx y backend/src/services/auth.service.ts.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a8d8c34aa47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2e9e96d8b428e" /><Relationship Type="http://schemas.openxmlformats.org/officeDocument/2006/relationships/slideLayout" Target="/ppt/slideLayouts/slideLayout1.xml" Id="Rdd6ff0d14f63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ff0d14f63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edd2857a4a4c" /><Relationship Type="http://schemas.openxmlformats.org/officeDocument/2006/relationships/image" Target="/ppt/media/image.png" Id="R32e91032b6b64932" /><Relationship Type="http://schemas.openxmlformats.org/officeDocument/2006/relationships/image" Target="/ppt/media/image2.png" Id="Rd55a9fd95e244da5" /><Relationship Type="http://schemas.openxmlformats.org/officeDocument/2006/relationships/notesSlide" Target="/ppt/notesSlides/notesSlide1.xml" Id="R25a222c94af7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29db2eddc433d" /><Relationship Type="http://schemas.openxmlformats.org/officeDocument/2006/relationships/image" Target="/ppt/media/image3.png" Id="R84243ea3b5e741ec" /><Relationship Type="http://schemas.openxmlformats.org/officeDocument/2006/relationships/notesSlide" Target="/ppt/notesSlides/notesSlide2.xml" Id="R7a12612fc60144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a47420bee452c" /><Relationship Type="http://schemas.openxmlformats.org/officeDocument/2006/relationships/image" Target="/ppt/media/image4.png" Id="R68e03917800f44c8" /><Relationship Type="http://schemas.openxmlformats.org/officeDocument/2006/relationships/notesSlide" Target="/ppt/notesSlides/notesSlide3.xml" Id="Rdbc4f4204d3f44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c5062c7048ac" /><Relationship Type="http://schemas.openxmlformats.org/officeDocument/2006/relationships/image" Target="/ppt/media/image5.png" Id="Rf8da86911206491b" /><Relationship Type="http://schemas.openxmlformats.org/officeDocument/2006/relationships/notesSlide" Target="/ppt/notesSlides/notesSlide4.xml" Id="Rd968485119ca44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207e2bd8146c3" /><Relationship Type="http://schemas.openxmlformats.org/officeDocument/2006/relationships/image" Target="/ppt/media/image6.png" Id="R8773cb6dd2e84432" /><Relationship Type="http://schemas.openxmlformats.org/officeDocument/2006/relationships/notesSlide" Target="/ppt/notesSlides/notesSlide5.xml" Id="R9a0505f79d4a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324bd057f405b" /><Relationship Type="http://schemas.openxmlformats.org/officeDocument/2006/relationships/image" Target="/ppt/media/image7.png" Id="Rfa2c43e38a9d4886" /><Relationship Type="http://schemas.openxmlformats.org/officeDocument/2006/relationships/image" Target="/ppt/media/image8.png" Id="Reba5ef3276804b34" /><Relationship Type="http://schemas.openxmlformats.org/officeDocument/2006/relationships/image" Target="/ppt/media/image9.png" Id="Rb7e7ce81ee9649cc" /><Relationship Type="http://schemas.openxmlformats.org/officeDocument/2006/relationships/image" Target="/ppt/media/image10.png" Id="Rf21a1d8552744328" /><Relationship Type="http://schemas.openxmlformats.org/officeDocument/2006/relationships/notesSlide" Target="/ppt/notesSlides/notesSlide6.xml" Id="Rbdf803b71b534e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7b10f08984962" /><Relationship Type="http://schemas.openxmlformats.org/officeDocument/2006/relationships/notesSlide" Target="/ppt/notesSlides/notesSlide7.xml" Id="R5ffb545acb0544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30e11536147bd" /><Relationship Type="http://schemas.openxmlformats.org/officeDocument/2006/relationships/image" Target="/ppt/media/image11.png" Id="R28444a055ee24579" /><Relationship Type="http://schemas.openxmlformats.org/officeDocument/2006/relationships/notesSlide" Target="/ppt/notesSlides/notesSlide8.xml" Id="Rd8524d3c475a48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d55e8b9d549e9" /><Relationship Type="http://schemas.openxmlformats.org/officeDocument/2006/relationships/image" Target="/ppt/media/image12.png" Id="R514321aafbab472c" /><Relationship Type="http://schemas.openxmlformats.org/officeDocument/2006/relationships/image" Target="/ppt/media/image13.png" Id="R64e2557538a54ece" /><Relationship Type="http://schemas.openxmlformats.org/officeDocument/2006/relationships/notesSlide" Target="/ppt/notesSlides/notesSlide9.xml" Id="Raa98a38642ca48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b5d71f49f402d" /><Relationship Type="http://schemas.openxmlformats.org/officeDocument/2006/relationships/image" Target="/ppt/media/image14.png" Id="R9b3f9856ec1d42f5" /><Relationship Type="http://schemas.openxmlformats.org/officeDocument/2006/relationships/image" Target="/ppt/media/image15.png" Id="Re875cca2d147472b" /><Relationship Type="http://schemas.openxmlformats.org/officeDocument/2006/relationships/image" Target="/ppt/media/image16.png" Id="Raded91161ef44f77" /><Relationship Type="http://schemas.openxmlformats.org/officeDocument/2006/relationships/notesSlide" Target="/ppt/notesSlides/notesSlide10.xml" Id="R11c58dc0801f4f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98520131b4605" /><Relationship Type="http://schemas.openxmlformats.org/officeDocument/2006/relationships/image" Target="/ppt/media/image17.png" Id="Rf6c7b9bf0c3c4f53" /><Relationship Type="http://schemas.openxmlformats.org/officeDocument/2006/relationships/image" Target="/ppt/media/image18.png" Id="Rff8c1d4ce7dc4bec" /><Relationship Type="http://schemas.openxmlformats.org/officeDocument/2006/relationships/notesSlide" Target="/ppt/notesSlides/notesSlide11.xml" Id="R23107492988e46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90bf199f14a90" /><Relationship Type="http://schemas.openxmlformats.org/officeDocument/2006/relationships/notesSlide" Target="/ppt/notesSlides/notesSlide12.xml" Id="Rf2f544963b9a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c33f916d04b8c" /><Relationship Type="http://schemas.openxmlformats.org/officeDocument/2006/relationships/image" Target="/ppt/media/image19.png" Id="R7011c001e153472b" /><Relationship Type="http://schemas.openxmlformats.org/officeDocument/2006/relationships/image" Target="/ppt/media/image20.png" Id="R1b5661a235d04f1d" /><Relationship Type="http://schemas.openxmlformats.org/officeDocument/2006/relationships/image" Target="/ppt/media/image21.png" Id="R074d2d752d554fe5" /><Relationship Type="http://schemas.openxmlformats.org/officeDocument/2006/relationships/notesSlide" Target="/ppt/notesSlides/notesSlide13.xml" Id="Rf3f473259d3d4e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91032b6b6493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AA39D-2280-4B92-B789-E1F13CC7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57300"/>
            <a:ext cx="523875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9fd95e244da5"/>
          <a:stretch xmlns:a="http://schemas.openxmlformats.org/drawingml/2006/main"/>
        </p:blipFill>
        <p:spPr>
          <a:xfrm xmlns:a="http://schemas.openxmlformats.org/drawingml/2006/main">
            <a:off x="5334982" y="1457325"/>
            <a:ext cx="1522037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DA1F1-A6A2-4638-8E23-AA03A86B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4F8FC"/>
                </a:solidFill>
              </a:defRPr>
            </a:pPr>
            <a:r>
              <a:rPr sz="4350" b="1" i="0">
                <a:solidFill>
                  <a:srgbClr val="F4F8FC"/>
                </a:solidFill>
              </a:rPr>
              <a:t>SIGDE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73C53-7798-4F9C-94B2-6A09EAE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5D8F0"/>
                </a:solidFill>
              </a:defRPr>
            </a:pPr>
            <a:r>
              <a:rPr sz="1200" b="1" i="0">
                <a:solidFill>
                  <a:srgbClr val="85D8F0"/>
                </a:solidFill>
              </a:rPr>
              <a:t>SISTEMA DE GESTIÓN DIGITAL ESCOLAR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DAA04-6443-4EDB-9AB9-5E28BFB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4F8FC"/>
                </a:solidFill>
              </a:defRPr>
            </a:pPr>
            <a:r>
              <a:rPr sz="1350" b="0" i="0">
                <a:solidFill>
                  <a:srgbClr val="F4F8FC"/>
                </a:solidFill>
              </a:rPr>
              <a:t>Registro, seguimiento y análisis de convivencia en tiempo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0C475-978B-44C6-862C-BF5BDD50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2857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5CF5C-5DD7-4219-822D-A76D235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F8FC"/>
                </a:solidFill>
              </a:defRPr>
            </a:pPr>
            <a:r>
              <a:rPr sz="900" b="1" i="0">
                <a:solidFill>
                  <a:srgbClr val="F4F8FC"/>
                </a:solidFill>
              </a:rPr>
              <a:t>PROYECTO ESCOLAR · GRADO 11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9E66C-2A7F-4678-ABDF-3187B7B0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8FC"/>
                </a:solidFill>
              </a:defRPr>
            </a:pPr>
            <a:r>
              <a:rPr sz="1650" b="1" i="0">
                <a:solidFill>
                  <a:srgbClr val="F4F8FC"/>
                </a:solidFill>
              </a:rPr>
              <a:t>Alejandro Hurtado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93703-67B6-4DF2-8E33-B7CA4CB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I.E.T.I. Rafael Navia Varón</a:t>
            </a:r>
          </a:p>
        </p:txBody>
      </p:sp>
    </p:spTree>
    <p:extLst>
      <p:ext uri="{BB962C8B-B14F-4D97-AF65-F5344CB8AC3E}">
        <p14:creationId xmlns:p14="http://schemas.microsoft.com/office/powerpoint/2010/main" val="1261931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3ED2A-ABEA-4E95-BF1F-2D665C8A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FB310-0AFB-4DFE-B264-75F5761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SIGDE convierte la gestión escolar en un flujo trazable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8ABBA-19C8-4220-B492-8EFDC04C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Una plataforma web para organizar convivencia, salidas, comunicaciones y seguridad por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04B4F-8AD7-4E6C-9FC9-8F1B8C35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AA43D-DC11-418B-9C2E-1631B4C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0">
            <a:solidFill>
              <a:srgbClr val="39C4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9F4C9-198A-45C9-9999-E1B533CB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Centraliza la información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A93D3-23DA-45C8-AEC8-68D37CB9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Reúne reportes, estudiantes, usuarios, salidas y comunicaciones en un solo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B6700-881B-4DA4-9221-5385A96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F08DC-AF3F-481B-B26B-4A46418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Asigna acceso según el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7E02A-369B-4500-89C2-A58E989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Coordinador, Docente y Portería ven únicamente las funciones necesarias para su trabajo.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F4B72-9CCD-40C0-BE3F-22182243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A897-9BEC-467A-9143-0C21F16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Conserva evidencia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F044F-14D6-43AA-9669-ECA8EB94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Registra estados, responsables y movimientos para facilitar el seguimiento institucional.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76706-1BB2-40AA-8B5E-0CA261A6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524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7E8B4-271D-47E8-87A8-614F108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Las alertas se basan en umbrales configurables; no se presentan como inteligencia artificial.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F7848-BA94-4A53-BCDF-C2C2360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76425"/>
            <a:ext cx="6962775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3ea3b5e741ec"/>
          <a:srcRect xmlns:a="http://schemas.openxmlformats.org/drawingml/2006/main" l="5559" t="0" r="5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875" y="1905000"/>
            <a:ext cx="6905625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A64D8-AD60-4DFB-A5E1-2C5EFD0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88549-290E-4120-AAD9-FDBCD24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87DC0-52F0-4A17-BF37-13817008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597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FCFE7-3DA7-471B-B3BD-1C55EA0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83AE4-0511-4F8F-A386-ADE7E105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problema no era registrar más, sino conectar el proceso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6CCFC-2034-4784-850C-7A9B10F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SIGDE responde a tres dificultades observadas en la gestión disciplinaria y operativa.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15DD8-B9D9-4096-83AC-982FCA7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62C28-F025-4430-8513-72A04FD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B94C"/>
                </a:solidFill>
              </a:defRPr>
            </a:pPr>
            <a:r>
              <a:rPr sz="1575" b="1" i="0">
                <a:solidFill>
                  <a:srgbClr val="F5B94C"/>
                </a:solidFill>
              </a:rPr>
              <a:t>Información dispersa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FBCC5-B194-4F8F-88C8-6C792852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solidFill>
              <a:srgbClr val="F5B9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E7527-35A3-4838-B0F3-0A8C8806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Un solo registro digital por estudiante, hecho y responsable.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E9A06-716E-4994-80E9-33169FD4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31502-BB60-422B-BE9C-1A23732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Seguimiento 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489CE-F272-47BA-BB12-6B5BEA3B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5FD36-B0CE-47BA-AF7E-48FE899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765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Estados, filtros, evidencias y auditoría para reconstruir cada caso.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F6AD8-3255-4451-B82C-794779A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4243B-C15A-4995-8B0B-4A2051C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Acceso poco diferenciado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B414D-34C2-4C71-ACFD-6C6BE47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67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1EED9-CB26-4D34-9E08-A735667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Permisos por rol y módulos específicos para cada responsabilidad.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C59D6-9A4F-4C3B-A765-55F120D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43100"/>
            <a:ext cx="38671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03917800f44c8"/>
          <a:srcRect xmlns:a="http://schemas.openxmlformats.org/drawingml/2006/main" l="22205" t="0" r="22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971675"/>
            <a:ext cx="3810000" cy="3276600"/>
          </a:xfrm>
          <a:prstGeom xmlns:a="http://schemas.openxmlformats.org/drawingml/2006/main" prst="roundRect">
            <a:avLst>
              <a:gd name="adj" fmla="val 523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A5B13-A8D2-4EDD-87AE-F95C1FE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810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11430">
            <a:solidFill>
              <a:srgbClr val="1F6F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6CEFF-4F3D-43B9-80EF-0BFADDD1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Resultado esperado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4B806-B1A0-43B5-A69F-B735A70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95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4F8FC"/>
                </a:solidFill>
              </a:defRPr>
            </a:pPr>
            <a:r>
              <a:rPr sz="1125" b="0" i="0">
                <a:solidFill>
                  <a:srgbClr val="F4F8FC"/>
                </a:solidFill>
              </a:rPr>
              <a:t>Menos pérdida de contexto y decisiones mejor documentadas.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8BAE3-F93B-49E0-A4AA-7FBA52CC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82965-52B3-4510-B950-9BDAD62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2CBB5-3A05-4825-8F07-D1EA011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8396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BEBEC-D9C2-48C3-BD23-5938409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39AC-90CC-4B8E-9DAC-1C3CDFC4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diseño combina confianza institucional y cercanía escolar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D6FA-BE78-445A-B33C-6668C89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identidad visual nace del login y se mantiene en los paneles de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0CCA-DC0D-4378-8DFB-E9C2DDF7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a86911206491b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27D37-3AA4-455C-9FC9-0837F744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Libro abierto + circuitos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B879F-0593-4267-AB57-15F83B7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Educación, tecnología y trazabilidad en una sola marca.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4118E-214C-4A11-AE33-702E17C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1430">
            <a:solidFill>
              <a:srgbClr val="0716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DCF09-1B34-4BD3-B7F9-0B26901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#0A1628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D1CCC-3CBC-4042-AACB-B70866AB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Base / navegación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9C4BF-5568-4B78-ABC8-C26887BF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11430">
            <a:solidFill>
              <a:srgbClr val="1F6F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F5911-27DC-4C1C-B574-E658F44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#1F6FB8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370D4-DFA2-4272-8C1C-BB61ADC4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Acciones principales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3159C-0B44-41BD-9F72-68AF4F2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11430">
            <a:solidFill>
              <a:srgbClr val="39C4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F021E-EFD3-440C-B8A1-7383A36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#39C4E6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8D502-A204-4D44-985C-AD4F22CB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Acentos y estados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F085D-65C3-4E93-9643-3981B2F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24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258E5-F0D5-497B-999E-54B3AD8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#EAF2FA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47F97-F3C8-49D9-AB62-51002697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Contraste y lectura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C06E8-8007-419B-8653-5ECA956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11430">
            <a:solidFill>
              <a:srgbClr val="F5B9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0D9B1-18FF-433A-ACD5-3568205B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#F5B94C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5E609-079E-4026-9F0B-E141448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Alertas y atención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19114-2646-4C05-97D5-6709548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639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04638-FAD8-482F-806A-EDDAD387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8FC"/>
                </a:solidFill>
              </a:defRPr>
            </a:pPr>
            <a:r>
              <a:rPr sz="1725" b="1" i="0">
                <a:solidFill>
                  <a:srgbClr val="F4F8FC"/>
                </a:solidFill>
              </a:rPr>
              <a:t>Principios visuales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A4E76-741E-49DB-A5BF-FBF5D737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Contraste alto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822AE-478A-49B0-80AE-62F7DC58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Fondos oscuros y texto claro.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874F3-B44C-4DC4-8022-2C6F189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Jerarquía simple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56566A-F6F8-48E5-A626-C5CCDA7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Títulos, acciones y estados visibles.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F4DDC-1D69-4078-BFAB-89F1A82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Lenguaje humano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24374-6C25-401F-924D-34B69AF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48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Mensajes directos para la comunidad.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B950F-BC1C-4C35-B4D8-AA12971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A48DC-ECFC-499C-9270-1B505526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B1AB49-F8D1-483E-ACD6-6D5585E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4834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79D2A-2485-4720-9704-201ADDE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FBCE7-F201-4D70-A82C-B7CD5BE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Una estructura estable deja cada función a un clic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E7A00-7776-4DE0-A91B-66D633A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pantalla mantiene tres zonas reconocibles en todos los módulos.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41829-A2D6-48E3-9FF4-52226A8D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2CC4B-4E0C-40C1-B2A0-793519F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19275"/>
            <a:ext cx="8629650" cy="415290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3cb6dd2e84432"/>
          <a:srcRect xmlns:a="http://schemas.openxmlformats.org/drawingml/2006/main" l="0" t="721" r="0" b="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47850"/>
            <a:ext cx="85725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EC51C-1E77-4D06-BDDA-B9C888BE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1896B-63ED-490E-90C2-57B0D175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6A286-C1D8-4C9A-BDCF-9FAEAC5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33CBE-4755-49E7-B4B1-D20E476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4D918-222C-4635-B8AD-9C4ED97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F0C43-1384-4BF2-885E-AC6C6F09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F081C-956D-458D-8AC1-BD90FB8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64CAB-A061-4F27-84E0-0242A72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14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9C4E6"/>
                </a:solidFill>
              </a:defRPr>
            </a:pPr>
            <a:r>
              <a:rPr sz="1500" b="1" i="0">
                <a:solidFill>
                  <a:srgbClr val="39C4E6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5F545-4367-4251-AB14-B421351C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859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Menú lateral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0EB49-B0B7-4B6D-9299-2357238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288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Agrupa módulos por tipo y filtra opciones según el rol.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7BCF8-B3CE-4F83-902E-BB2C393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1BFE1-C999-4FAE-A720-7A4CE82C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B94C"/>
                </a:solidFill>
              </a:defRPr>
            </a:pPr>
            <a:r>
              <a:rPr sz="1500" b="1" i="0">
                <a:solidFill>
                  <a:srgbClr val="F5B94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CAC8C-7F82-43D3-829F-29A5DDE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432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Barra superior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822A9-0C49-4F24-9586-3B26FDD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861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Búsqueda, identidad de la sesión y acceso a la cuenta.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EEB85-ECD8-4A38-94C5-A54A1BE2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672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B042D-F434-49B9-AD96-9AA4A2FE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1C39B"/>
                </a:solidFill>
              </a:defRPr>
            </a:pPr>
            <a:r>
              <a:rPr sz="1500" b="1" i="0">
                <a:solidFill>
                  <a:srgbClr val="41C39B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E3FD7-3A73-4172-8BE4-BB7AC988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005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Área de trabajo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F9E80-105A-42AD-9EBF-523A36C6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434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Métricas, formularios, tablas y acciones del módulo activo.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4D84A-54E7-4BFD-94BA-7218B07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00D59-AFBB-4DDC-BC5C-7A4C24A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BE778-920B-4BEE-AB5E-A2926D84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776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437FA1-3864-46E6-A23E-E1611C4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17277-C22A-409C-9002-6B3AFA9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Avance actual: 17 interfaces listas de 23 planificadas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8C72-B84C-49FA-A80A-5F9C980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inventario distingue pantallas terminadas, bases parciales y módulos aún sin desarrollar.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53DF6-E4E1-4097-A023-B42E3BB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DE6ED-4997-468C-B44D-2D09D32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4F8FC"/>
                </a:solidFill>
              </a:defRPr>
            </a:pPr>
            <a:r>
              <a:rPr sz="4800" b="1" i="0">
                <a:solidFill>
                  <a:srgbClr val="F4F8FC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E816E-DB8E-4436-9EA6-62574B1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TOTAL PLANIFICADAS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EB09C-3E2C-4F32-A51D-385E52F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4B13-84C0-4D79-B14B-24F6DD27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41C39B"/>
                </a:solidFill>
              </a:defRPr>
            </a:pPr>
            <a:r>
              <a:rPr sz="4800" b="1" i="0">
                <a:solidFill>
                  <a:srgbClr val="41C39B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0CBC6-784B-4B83-86EB-16BA21C5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REALIZADAS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752FA-2D0B-45AD-A5C7-9D766CF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74F40-BFA7-4349-AFF5-95EB922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5B94C"/>
                </a:solidFill>
              </a:defRPr>
            </a:pPr>
            <a:r>
              <a:rPr sz="4800" b="1" i="0">
                <a:solidFill>
                  <a:srgbClr val="F5B94C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91C13-F341-4124-A8ED-08B0BAAA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PENDIENTES DE CIERRE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B0693-63C5-412B-99A2-6C54A3A7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0">
            <a:solidFill>
              <a:srgbClr val="1235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9742B-8E41-4627-8903-BD40D17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57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A4792-5B5D-4C21-AAFA-957C056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74 % del inventario principal está realizado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F185F-92A0-43ED-A501-BA8A6CC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4400550" cy="1781175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3DE2D-7917-49EE-AD9E-714F5A2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050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8FC"/>
                </a:solidFill>
              </a:defRPr>
            </a:pPr>
            <a:r>
              <a:rPr sz="1650" b="1" i="0">
                <a:solidFill>
                  <a:srgbClr val="F4F8FC"/>
                </a:solidFill>
              </a:rPr>
              <a:t>Pendientes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8604C-552F-4705-B4C1-7F24456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B94C"/>
                </a:solidFill>
              </a:defRPr>
            </a:pPr>
            <a:r>
              <a:rPr sz="1125" b="1" i="0">
                <a:solidFill>
                  <a:srgbClr val="F5B94C"/>
                </a:solidFill>
              </a:rPr>
              <a:t>Sin desarrollar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B83BA-61FD-41C0-BBF4-93E16A3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Convivencia · Seguimiento · Estadísticas · Calendario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78695-A45A-4585-8273-9ACE730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9C4E6"/>
                </a:solidFill>
              </a:defRPr>
            </a:pPr>
            <a:r>
              <a:rPr sz="1125" b="1" i="0">
                <a:solidFill>
                  <a:srgbClr val="39C4E6"/>
                </a:solidFill>
              </a:rPr>
              <a:t>Parciales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B482-E692-47EB-9E49-8094C3D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562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Configuración ·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B13A8-D6AB-4B85-B3C9-7836CE9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c43e38a9d4886"/>
          <a:srcRect xmlns:a="http://schemas.openxmlformats.org/drawingml/2006/main" l="7165" t="0" r="7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069DE-4709-408D-A578-C3AC579A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Nuevo reporte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5EF5D-FB92-4F06-B330-6CFFC82D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5ef3276804b34"/>
          <a:srcRect xmlns:a="http://schemas.openxmlformats.org/drawingml/2006/main" l="7334" t="0" r="7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AF2EA-78BD-4F74-BE33-69E3D30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Salidas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5D606-1585-4854-B01E-16A50E1F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7ce81ee9649cc"/>
          <a:srcRect xmlns:a="http://schemas.openxmlformats.org/drawingml/2006/main" l="6719" t="0" r="6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5BB75-5C30-402B-A42A-2E1A6D08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Comunicaciones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32060-90D8-49C8-B84F-F94616A9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a1d8552744328"/>
          <a:srcRect xmlns:a="http://schemas.openxmlformats.org/drawingml/2006/main" l="7230" t="0" r="72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7B571-5C5A-46F0-AEEB-3B78FEE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Auditoría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DBE373-5766-4EB7-B26E-B363B572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953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6FD00-E152-4BC6-A11A-D63313F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1053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5B94C"/>
                </a:solidFill>
              </a:defRPr>
            </a:pPr>
            <a:r>
              <a:rPr sz="1125" b="0" i="0">
                <a:solidFill>
                  <a:srgbClr val="F5B94C"/>
                </a:solidFill>
              </a:rPr>
              <a:t>Ajuste puntual pendiente: agregar mostrar/ocultar en los dos campos de “Nueva contraseña”.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AA4FB-251A-44D4-BF23-E9E3A74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34A398-7AA0-471C-8381-A4E1235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A489F-ABCD-4ABD-B364-B82A8A5B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8015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F4CF42-3DDC-4063-9ACC-BAC495B6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B7721-F285-4AC6-90D1-FA22D1A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Así viaja una acción dentro de SIGDE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E51A5-B325-4726-8129-6E2FFA4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interfaz delega la lógica al servicio y conserva la respuesta en la base de datos.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B1511-D059-449C-A660-897275D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39D20-8E21-475E-8AD2-6AA574C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289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5734-7FB0-4569-943B-24DACD8B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8ED5B-DF2C-4FE2-B887-0F3C62F2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B840C-31A9-4D8E-A340-0847C7C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F8FD7-BCBC-4683-9A77-BD8E08B0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676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39C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B413E-337B-4816-9F7C-004269C5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Usuario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511C1-8C46-4382-B97F-02786CA4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Coordinador, Docente o Portería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F4708-A31E-4DA1-A092-6EA2EDE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76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85D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28906-EAD3-4D53-A6AF-E875BE4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Interfaz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DB196-8987-4AD2-A2C0-92A67C4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146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Login, panel o formulario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4D90C-0FC7-40C0-89DA-8092E97D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676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B8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95702-BC1E-430F-BA0E-484D2D32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98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A329D-0630-438A-8311-6C35A09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146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Controlador delgado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01827-2383-4C95-A6AB-01E3F7C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676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41C3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A5526-D232-4032-9325-8F83863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98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Servicio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D6197-444D-4FA4-8DB3-C2B4181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Reglas, permisos y 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D3255-81BB-4D90-8BBC-D373D0D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676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F5B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DD92A-13EC-452D-8772-B7181631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98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Base de datos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71601-B124-47B7-B49B-8B1E00A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146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SQLite local / Turso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7F3B2-0D10-45F7-BCCA-58B0D20E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57600"/>
            <a:ext cx="2667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EFC31-3ED9-4552-8227-A5E02E62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2476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3335">
            <a:solidFill>
              <a:srgbClr val="41C3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32E8D-B294-43BE-8B02-E2E94170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672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Trazabilidad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B1E0B-BC47-42F4-889D-7F0874AF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910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Auditoría y notificaciones cuando corresponde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D8ED-D430-4CA0-8A97-DE05756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69759-AC54-4ABD-8E74-9C51F35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B11B0-3600-444A-8C39-3CE37033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8FC"/>
                </a:solidFill>
              </a:defRPr>
            </a:pPr>
            <a:r>
              <a:rPr sz="1275" b="1" i="0">
                <a:solidFill>
                  <a:srgbClr val="F4F8FC"/>
                </a:solidFill>
              </a:rPr>
              <a:t>Autenticar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65D0D-E6DC-4C2A-853A-0EC6057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Valida identidad y sesión.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9E177-558E-4579-86E0-CE748587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C0B34-FE57-41FC-A4DE-5BA4DB5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5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E863B-6127-4DB8-8C88-2E2D874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61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8FC"/>
                </a:solidFill>
              </a:defRPr>
            </a:pPr>
            <a:r>
              <a:rPr sz="1275" b="1" i="0">
                <a:solidFill>
                  <a:srgbClr val="F4F8FC"/>
                </a:solidFill>
              </a:rPr>
              <a:t>Autorizar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B0108D-7A03-4B38-B3FC-83F653C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769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Aplica permisos por rol.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79DF9-1A6B-442D-B4C1-4D1A4ED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FD2DB9-945E-471B-A3F8-661F2DE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5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AC0156-908A-480C-9813-56FE3E23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1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8FC"/>
                </a:solidFill>
              </a:defRPr>
            </a:pPr>
            <a:r>
              <a:rPr sz="1275" b="1" i="0">
                <a:solidFill>
                  <a:srgbClr val="F4F8FC"/>
                </a:solidFill>
              </a:rPr>
              <a:t>Procesar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53645F-559A-45C9-A69F-AA0DE2F4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769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Ejecuta la regla del módulo.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597955-8DDC-4D37-B67F-68651FC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F7715C-1A2B-4EC1-A0C6-D3F7D5C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5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2BD950-E4C0-41AB-B426-5F86A2A4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1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8FC"/>
                </a:solidFill>
              </a:defRPr>
            </a:pPr>
            <a:r>
              <a:rPr sz="1275" b="1" i="0">
                <a:solidFill>
                  <a:srgbClr val="F4F8FC"/>
                </a:solidFill>
              </a:rPr>
              <a:t>Responder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7F65C6-169B-4A2F-834D-412FDA5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8769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Actualiza la interfaz y registra el movimiento.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5333AC-9C56-4CCD-B4CE-34C52A33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EFBD3D-8C50-4962-9584-AB2A60AB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5AD505-D9FC-4097-90BC-F99D3CC9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2243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62C47-4A3A-477F-A744-633F35A7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FF7E2-8301-499F-8918-EE6215E5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encabezado comunica identidad, rol y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A37C5-9320-4E8C-902F-5092643D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Nombre de la aplicación y contexto del usuario permanecen visibles durante el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4E60-0F95-4620-B89E-9233DA6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116BE-525B-42A4-81A5-D176CE6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8629650" cy="4162425"/>
          </a:xfrm>
          <a:prstGeom xmlns:a="http://schemas.openxmlformats.org/drawingml/2006/main" prst="roundRect">
            <a:avLst>
              <a:gd name="adj" fmla="val 411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44a055ee24579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57375"/>
            <a:ext cx="8572500" cy="4105275"/>
          </a:xfrm>
          <a:prstGeom xmlns:a="http://schemas.openxmlformats.org/drawingml/2006/main" prst="roundRect">
            <a:avLst>
              <a:gd name="adj" fmla="val 417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C54CA-1E50-448E-A268-EB23ACD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4D4DB-7045-4D82-8CFE-A6C6747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D9E88-9B01-405F-89D8-F59465A8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81991-24D6-4FD8-92AC-8D4D391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C4767-1E61-4DE1-BDB4-E75A482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81E16-C58E-4B0C-97EA-516B6100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8A7C0-6991-453A-ACAE-AAEB7A0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9C4E6"/>
                </a:solidFill>
              </a:defRPr>
            </a:pPr>
            <a:r>
              <a:rPr sz="1800" b="1" i="0">
                <a:solidFill>
                  <a:srgbClr val="39C4E6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4A308-9403-414C-B878-ED2157CA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431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Nombre y marca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739CE-8551-4476-B7AC-FD64D22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SIGDE identifica la plataforma desde el extremo izquierdo.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93A18-58CF-49EF-A990-602E6284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28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B94C"/>
                </a:solidFill>
              </a:defRPr>
            </a:pPr>
            <a:r>
              <a:rPr sz="1800" b="1" i="0">
                <a:solidFill>
                  <a:srgbClr val="F5B94C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22216-042E-4255-9AD8-CEA52FE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19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Usuario activo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76010-B059-42BA-90A7-0531716F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90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El nombre y el rol dan contexto a la sesión abierta.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D0EE2-FA37-4DDB-BF4C-8BF76B5E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05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1C39B"/>
                </a:solidFill>
              </a:defRPr>
            </a:pPr>
            <a:r>
              <a:rPr sz="1800" b="1" i="0">
                <a:solidFill>
                  <a:srgbClr val="41C39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57574-EB99-4E53-9D5B-E882BB10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95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Búsqueda global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D319D-C414-4B0D-87AB-8AE8CDF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672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El encabezado reserva un acceso rápido a estudiantes y reportes.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C5CC6-8769-4E67-9149-57D87828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8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La misma estructura reduce la desorientación al cambiar de módulo.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E262C-D295-440F-A979-17EF193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A9F32-2E33-47F1-B117-8512F58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9F427-6E6D-4288-B1B0-1E12C291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5600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FAF48-CB4E-4800-A0E1-FDE8639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1F862-8020-47F2-B15E-1B98B41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confianza también se diseña: privacidad y condiciones claras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76803-756C-4B6F-A62D-352B7BEC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Los documentos legales están enlazados desde el login y explican responsabilidades y límites.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BC8E4-427D-4EC5-A212-A8BE345F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0E9C1-129A-403D-8584-9DADD2F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21aafbab472c"/>
          <a:srcRect xmlns:a="http://schemas.openxmlformats.org/drawingml/2006/main" l="18421" t="0" r="18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9FDF5-85B6-4AD6-8742-C18AD29B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2557538a54ece"/>
          <a:srcRect xmlns:a="http://schemas.openxmlformats.org/drawingml/2006/main" l="18300" t="0" r="183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AC397-92E2-4113-8E3F-376D8B2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83014-D752-44AF-AB9E-BCC4FB5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F8FC"/>
                </a:solidFill>
              </a:defRPr>
            </a:pPr>
            <a:r>
              <a:rPr sz="900" b="1" i="0">
                <a:solidFill>
                  <a:srgbClr val="F4F8FC"/>
                </a:solidFill>
              </a:rPr>
              <a:t>TÉRMINOS Y CONDICIONES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1B6F-E53A-4531-9E90-8D3D42FB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0">
            <a:solidFill>
              <a:srgbClr val="39C4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2003B-8B6D-4438-BE19-AB2F129D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62B"/>
                </a:solidFill>
              </a:defRPr>
            </a:pPr>
            <a:r>
              <a:rPr sz="900" b="1" i="0">
                <a:solidFill>
                  <a:srgbClr val="07162B"/>
                </a:solidFill>
              </a:rPr>
              <a:t>TRATAMIENTO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002BE-B3CE-4D20-AC5C-5B817AA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58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95F85-AE1A-4E24-801F-16415534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5B94C"/>
                </a:solidFill>
              </a:defRPr>
            </a:pPr>
            <a:r>
              <a:rPr sz="1125" b="1" i="0">
                <a:solidFill>
                  <a:srgbClr val="F5B94C"/>
                </a:solidFill>
              </a:rPr>
              <a:t>Antes del despliegue deben reemplazarse los campos institucionales aún marcados “por definir”.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524B4-382D-49A5-AF2D-0D46FF4B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09F4A-5C0D-4420-AF5B-2D90911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25974-89AD-4468-8C7F-64F13AE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2451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3AAEB-BB80-486C-AD8E-DBC7055D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9CDCB-DDE4-4369-A3F5-A8CCE671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menú cambia según la responsabilidad de cada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3404-7C01-4BE9-9BDF-9C2E9C1E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navegación aplica el principio de mínimo acceso y muestra solo las tareas relacionadas con el 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BC686-5998-4EC2-9B4F-43CA273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DB439-4A14-45CC-BE90-BBA3231D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f9856ec1d42f5"/>
          <a:srcRect xmlns:a="http://schemas.openxmlformats.org/drawingml/2006/main" l="0" t="492" r="0" b="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49C1E-8FA4-4FF2-980A-73E25CD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9C4E6"/>
                </a:solidFill>
              </a:defRPr>
            </a:pPr>
            <a:r>
              <a:rPr sz="1650" b="1" i="0">
                <a:solidFill>
                  <a:srgbClr val="39C4E6"/>
                </a:solidFill>
              </a:rPr>
              <a:t>Coordinador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676FC-4FC1-4C98-895D-05F6D46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Reportes · Salidas · Usuarios · Configuración · Auditoría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42BA3-F10B-4404-B302-CD6730E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389FC-D061-4272-A694-C8C9C86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5cca2d147472b"/>
          <a:srcRect xmlns:a="http://schemas.openxmlformats.org/drawingml/2006/main" l="0" t="248" r="0" b="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48424-5304-447B-AC6E-E406975F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1C39B"/>
                </a:solidFill>
              </a:defRPr>
            </a:pPr>
            <a:r>
              <a:rPr sz="1650" b="1" i="0">
                <a:solidFill>
                  <a:srgbClr val="41C39B"/>
                </a:solidFill>
              </a:rPr>
              <a:t>Docente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3BE4E-369D-49C7-913D-CB711647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Reportes · Estudiantes · Comunicaciones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92A61-A132-474C-A3F9-76AA7D5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76645-C2BE-45DE-884C-AD016C94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d91161ef44f77"/>
          <a:srcRect xmlns:a="http://schemas.openxmlformats.org/drawingml/2006/main" l="131" t="0" r="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DB9CB-C48A-43E5-852C-CE564C33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B94C"/>
                </a:solidFill>
              </a:defRPr>
            </a:pPr>
            <a:r>
              <a:rPr sz="1650" b="1" i="0">
                <a:solidFill>
                  <a:srgbClr val="F5B94C"/>
                </a:solidFill>
              </a:rPr>
              <a:t>Portería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EEC94-251E-4FFC-B0E6-0230A9E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Salidas · Agenda operativa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E5366-2690-48C2-90D4-970168E5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9ADDF-9CF8-4E45-BF01-10547E1D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Importante: una opción visible en el menú puede seguir en desarrollo; el acceso no demuestra que el módulo esté terminado.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2BBA6-017F-4E63-BB1C-A20ED3BF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DC37F-6A66-4A46-904A-0CF293E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8CB5D-F473-48E6-9634-B525344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7366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E20A3-25E3-4792-B96C-41B2DE6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49E47-5BA7-4B28-8BF7-D90D8C9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Regresar es explícito y mantiene la orientación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C5928-723A-4161-B77C-B01ACF66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SIGDE usa controles visibles para volver, cerrar formularios o recuperar el menú.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1AF2D-E88A-46D1-BCF9-941A7C07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D5DB5-D77E-4BEC-93D9-3D3C89C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5962650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7b9bf0c3c4f53"/>
          <a:srcRect xmlns:a="http://schemas.openxmlformats.org/drawingml/2006/main" l="11912" t="0" r="11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5905500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DF957-3487-45E5-8E43-665BE01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8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C3EDC-2A1F-4B73-A617-44466C8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24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51A8E-27B3-4B62-89AB-3ED1D512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24050"/>
            <a:ext cx="4438650" cy="2181225"/>
          </a:xfrm>
          <a:prstGeom xmlns:a="http://schemas.openxmlformats.org/drawingml/2006/main" prst="roundRect">
            <a:avLst>
              <a:gd name="adj" fmla="val 786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c1d4ce7dc4bec"/>
          <a:srcRect xmlns:a="http://schemas.openxmlformats.org/drawingml/2006/main" l="0" t="80" r="0" b="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952625"/>
            <a:ext cx="4381500" cy="2124075"/>
          </a:xfrm>
          <a:prstGeom xmlns:a="http://schemas.openxmlformats.org/drawingml/2006/main" prst="roundRect">
            <a:avLst>
              <a:gd name="adj" fmla="val 807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73582-EBC7-44AD-88A6-ED2C4A50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39485-DAB9-4444-BA9E-E8E21E4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7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CE56D-6897-49C3-86F8-A5255A6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B94C"/>
                </a:solidFill>
              </a:defRPr>
            </a:pPr>
            <a:r>
              <a:rPr sz="1800" b="1" i="0">
                <a:solidFill>
                  <a:srgbClr val="F5B94C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C652E-7531-418A-BE49-14EFE8C1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672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Botón “Regresar”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7A616-E8EA-42B8-AF07-7E4B9FE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Devuelve al paso anterior del flujo de autenticación sin perder la referencia visual.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AB804-A687-4441-A5B2-0CA26B1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9C4E6"/>
                </a:solidFill>
              </a:defRPr>
            </a:pPr>
            <a:r>
              <a:rPr sz="1800" b="1" i="0">
                <a:solidFill>
                  <a:srgbClr val="39C4E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13B58-B23F-474C-B8AF-70F03E8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67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Control del menú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B1A50-B357-496D-A395-1718488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291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Permite contraer o desplegar la navegación y conserva el módulo seleccionado.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49949-81CE-4DFB-A000-A0FC60F6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5D8F0"/>
                </a:solidFill>
              </a:defRPr>
            </a:pPr>
            <a:r>
              <a:rPr sz="1200" b="0" i="0">
                <a:solidFill>
                  <a:srgbClr val="85D8F0"/>
                </a:solidFill>
              </a:rPr>
              <a:t>En los documentos legales también aparece “← Volver al inicio de sesión”.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362E5-6156-4C14-AC7B-90AA3777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259FF-7903-41B7-A219-9A85B4D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37A95-7371-4BC5-9867-16C79CB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723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F41E0-F711-4D07-B345-53B04C31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804C9-40E4-4750-910D-0A0AAC8C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base de datos conecta personas, servicios y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5FEAD-2056-44F8-BDAE-F4F373B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producto es la plataforma web; sus servicios operan sobre datos relacionados y permisos por 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E43CE-3BBA-4A1B-98C9-5321CABB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06EE1-A9F7-449B-9DB8-A9ADC72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200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EF10C-8C81-4D02-B974-C90110A4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1200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E6E67-5699-440D-8C17-D8299E5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2476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E0FF0-66EE-40C9-B572-183772E4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solidFill>
              <a:srgbClr val="F5B9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B3CBF-2C6E-480B-B4DC-2ED1C37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39C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6B188-C9E0-444B-B0C3-D6948AD0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ABD5D-0EFE-4DF3-BAC1-D30A60C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Roles, cuenta y sesión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E0636-170A-4479-AFF7-23481B25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23622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B8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AA79E-B7FA-4B5A-9CEC-CB610D3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SIGDE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D1E01-DFA8-458F-9040-D9D7E01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Servicios digitales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3B6E3-1F36-492E-B771-F2B3354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41C3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024B7-BC5D-4876-86EE-1C53B2B5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Estudiantes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B177F-4EA9-4636-80EA-7E0A8D8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Acudientes y grupos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C12B2-945D-4E06-A363-EFD0E97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85D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7C840-D361-458C-A335-FC1113B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Reportes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CF98B-66F4-4FA3-B9C3-4F551E7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Evidencias y observaciones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75142-B8CE-4D3D-87F2-0D053206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F5B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4E6AE-C4F5-45EB-BC96-B64F73DA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434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Salidas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693C9-9E82-4CDD-BEAF-7339B80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48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Autorizaciones y responsables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65E59-013A-4D9B-88C2-4563395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626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COMUNICACIONES · NOTIFICACIONES ·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CA1CF-BBCD-45B3-A86A-94F9FA6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674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F7F3F-9FA4-42CD-AC2E-87D7181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626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SQLite en desarrollo local · Turso en producción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575AC-262D-4F2F-AED5-F6F412D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8FC"/>
                </a:solidFill>
              </a:defRPr>
            </a:pPr>
            <a:r>
              <a:rPr sz="1350" b="1" i="0">
                <a:solidFill>
                  <a:srgbClr val="F4F8FC"/>
                </a:solidFill>
              </a:rPr>
              <a:t>Producto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33762-EB72-4115-9CE9-89F7B96B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Plataforma web SIGDE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8117F-5E49-4941-B1AC-A5B66DB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8FC"/>
                </a:solidFill>
              </a:defRPr>
            </a:pPr>
            <a:r>
              <a:rPr sz="1350" b="1" i="0">
                <a:solidFill>
                  <a:srgbClr val="F4F8FC"/>
                </a:solidFill>
              </a:rPr>
              <a:t>Servicios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B1DF98-1805-425F-A1B5-1F6581C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720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Reportes · Salidas · Comunicación · Seguridad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E1341-23EC-448C-8BDA-BCF934F1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3522E-6A23-4482-AF36-75B73C65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7B6A93-97FE-4B7F-86E3-0FBBD98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0832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7BDCE-8D5B-4453-AB46-B52AADE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1CC83-CE27-4880-842F-7CFB4414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autenticación ya cubre ingreso y recuperación segura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FF09F-9CAA-4D17-8633-934B80D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flujo principal funciona; queda un ajuste de usabilidad antes de considerarlo cerrado.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D1F44-9A01-4167-BBED-4C5791B0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3A70C-5DF7-4EA9-882D-CCB980C9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1c001e153472b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85174-4738-41D3-84EA-3CED014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B33AA-719F-4366-BEB5-D411B7A9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56DD5-F828-4F9C-A4E6-556FB92A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Ingreso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7D403-9E29-4E33-AF22-519A0852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Correo, contraseña, recordar usuario y enlace de recuperación.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99188-9A9F-4772-B54F-21EF37C2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661a235d04f1d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6876A-0781-469B-BE24-ABB12EF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CCCBE-1964-4215-9A30-EFCC32F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66D68-5000-42B8-8DAB-060B64A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Verificación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25342-C4FC-40F4-93F4-870DA02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Código de 6 dígitos y espera controlada para reenviar.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3CCB0-34C0-4C4A-A3D8-6A1DAA5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d2d752d554fe5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77879-E6DB-4C09-8EDB-F63A0B3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FB0E9-C2BC-447C-B5CD-D6FDDDB3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9EDFA-2363-4079-9446-D4C6A8EC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Nueva contraseña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FF4AE-E75E-4994-9614-BE33FE8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Indicador de fortaleza y confirmación; falta mostrar/ocultar.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578F6-6979-402B-AD85-71FA5F03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61591-ED9B-401A-A047-04AF80B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5B94C"/>
                </a:solidFill>
              </a:defRPr>
            </a:pPr>
            <a:r>
              <a:rPr sz="1200" b="1" i="0">
                <a:solidFill>
                  <a:srgbClr val="F5B94C"/>
                </a:solidFill>
              </a:rPr>
              <a:t>Próximo paso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E6E6A-A68F-46EA-8FB4-E947752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0070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4F8FC"/>
                </a:solidFill>
              </a:defRPr>
            </a:pPr>
            <a:r>
              <a:rPr sz="1200" b="0" i="0">
                <a:solidFill>
                  <a:srgbClr val="F4F8FC"/>
                </a:solidFill>
              </a:rPr>
              <a:t>Agregar mostrar/ocultar en ambos campos de nueva contraseña y completar los 6 cierres de interfaz.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F275D-6F06-4E92-A64C-360C6210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A94CF-2A01-42D2-8E70-B9254D1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9BC3D-8A3F-468C-AFD7-59EA9C6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8026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2026-09-01T05:30:06.7700000Z</dcterms:created>
  <dcterms:modified xsi:type="dcterms:W3CDTF">2026-09-01T05:30:06.7700000Z</dcterms:modified>
</coreProperties>
</file>