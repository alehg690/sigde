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GDE_MASTER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B8"/>
          </a:solidFill>
          <a:ln w="12700">
            <a:solidFill>
              <a:srgbClr val="1F6FB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46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SIGDE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234440" y="644652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Sistema de Gestion Digital Escolar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502920"/>
            <a:ext cx="4754880" cy="2926080"/>
          </a:xfrm>
          <a:prstGeom prst="arc">
            <a:avLst/>
          </a:prstGeom>
          <a:solidFill>
            <a:srgbClr val="2B78C6">
              <a:alpha val="18000"/>
            </a:srgbClr>
          </a:solidFill>
          <a:ln w="12700">
            <a:solidFill>
              <a:srgbClr val="2B78C6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1430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E8F4FD"/>
                </a:solidFill>
              </a:rPr>
              <a:t>SIGDE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31520" y="19385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C7D9"/>
                </a:solidFill>
              </a:rPr>
              <a:t>Sistema de Gestion Digital Escolar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76148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Exposicion de avance del proyecto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49808" y="3364992"/>
            <a:ext cx="5303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B8C7D9"/>
                </a:solidFill>
              </a:rPr>
              <a:t>Estado actual: autenticacion, recuperacion de contrasena, sesion iniciada y cierre de sesion.</a:t>
            </a:r>
            <a:endParaRPr lang="en-US" sz="1250" dirty="0"/>
          </a:p>
        </p:txBody>
      </p:sp>
      <p:pic>
        <p:nvPicPr>
          <p:cNvPr id="8" name="Image 0" descr="C:\Users\edits\sistema-escolar\frontend\public\Logo-log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6760" y="1143000"/>
            <a:ext cx="2240280" cy="23774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49808" y="48463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924044"/>
            <a:ext cx="14264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B3ED"/>
                </a:solidFill>
              </a:rPr>
              <a:t>Next.js 16 + React 19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2514600" y="4846320"/>
            <a:ext cx="1234440" cy="310896"/>
          </a:xfrm>
          <a:prstGeom prst="roundRect">
            <a:avLst>
              <a:gd name="adj" fmla="val 23529"/>
            </a:avLst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87752" y="4924044"/>
            <a:ext cx="10881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B3ED"/>
                </a:solidFill>
              </a:rPr>
              <a:t>SQLite + Prisma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931920" y="484632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05072" y="4924044"/>
            <a:ext cx="9966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3B3ED"/>
                </a:solidFill>
              </a:rPr>
              <a:t>JWT + Cookies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68096" y="61447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8C7D9"/>
                </a:solidFill>
              </a:rPr>
              <a:t>Junio 2026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</a:rPr>
              <a:t>Ruta de la exposicion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Una mirada completa al avance real del sistema.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384048" cy="384048"/>
          </a:xfrm>
          <a:prstGeom prst="ellipse">
            <a:avLst/>
          </a:prstGeom>
          <a:solidFill>
            <a:srgbClr val="1F6FB8"/>
          </a:solidFill>
          <a:ln w="12700">
            <a:solidFill>
              <a:srgbClr val="1F6F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4188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1325880" y="140817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</a:rPr>
              <a:t>Contexto y objetivo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325880" y="1655064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Que problema atiende SIGDE y cual es su alcance actual.</a:t>
            </a:r>
            <a:endParaRPr lang="en-US" sz="980" dirty="0"/>
          </a:p>
        </p:txBody>
      </p:sp>
      <p:sp>
        <p:nvSpPr>
          <p:cNvPr id="8" name="Shape 6"/>
          <p:cNvSpPr/>
          <p:nvPr/>
        </p:nvSpPr>
        <p:spPr>
          <a:xfrm>
            <a:off x="731520" y="2130552"/>
            <a:ext cx="384048" cy="384048"/>
          </a:xfrm>
          <a:prstGeom prst="ellipse">
            <a:avLst/>
          </a:prstGeom>
          <a:solidFill>
            <a:srgbClr val="1F6FB8"/>
          </a:solidFill>
          <a:ln w="12700">
            <a:solidFill>
              <a:srgbClr val="1F6F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1742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325880" y="21214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</a:rPr>
              <a:t>Avance implementado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325880" y="2368296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Funcionalidades listas y comportamiento observable.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731520" y="2843784"/>
            <a:ext cx="384048" cy="384048"/>
          </a:xfrm>
          <a:prstGeom prst="ellipse">
            <a:avLst/>
          </a:prstGeom>
          <a:solidFill>
            <a:srgbClr val="1F6FB8"/>
          </a:solidFill>
          <a:ln w="12700">
            <a:solidFill>
              <a:srgbClr val="1F6F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930652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325880" y="28346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</a:rPr>
              <a:t>Como funciona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3081528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Flujo usuario, frontend, API, servicios y base de datos.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731520" y="3557016"/>
            <a:ext cx="384048" cy="384048"/>
          </a:xfrm>
          <a:prstGeom prst="ellipse">
            <a:avLst/>
          </a:prstGeom>
          <a:solidFill>
            <a:srgbClr val="1F6FB8"/>
          </a:solidFill>
          <a:ln w="12700">
            <a:solidFill>
              <a:srgbClr val="1F6F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64388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325880" y="3547872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</a:rPr>
              <a:t>Historias de usuario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25880" y="3794760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Historias utilizadas, estado y evidencias.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31520" y="4270248"/>
            <a:ext cx="384048" cy="384048"/>
          </a:xfrm>
          <a:prstGeom prst="ellipse">
            <a:avLst/>
          </a:prstGeom>
          <a:solidFill>
            <a:srgbClr val="1F6FB8"/>
          </a:solidFill>
          <a:ln w="12700">
            <a:solidFill>
              <a:srgbClr val="1F6F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357116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325880" y="4261104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</a:rPr>
              <a:t>Base de datos y arquitectura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325880" y="4507992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Modelo actual, entidades, seguridad y tecnologias.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731520" y="4983480"/>
            <a:ext cx="384048" cy="384048"/>
          </a:xfrm>
          <a:prstGeom prst="ellipse">
            <a:avLst/>
          </a:prstGeom>
          <a:solidFill>
            <a:srgbClr val="1F6FB8"/>
          </a:solidFill>
          <a:ln w="12700">
            <a:solidFill>
              <a:srgbClr val="1F6FB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070348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325880" y="4974336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01828"/>
                </a:solidFill>
              </a:rPr>
              <a:t>Proximos pasos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325880" y="5221224"/>
            <a:ext cx="6766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67085"/>
                </a:solidFill>
              </a:rPr>
              <a:t>Backlog recomendado para continuar el proyecto.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8595360" y="1234440"/>
            <a:ext cx="2468880" cy="4526280"/>
          </a:xfrm>
          <a:prstGeom prst="roundRect">
            <a:avLst>
              <a:gd name="adj" fmla="val 2222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823960" y="14356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</a:rPr>
              <a:t>Idea central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823960" y="1801368"/>
            <a:ext cx="2011680" cy="3813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7D9"/>
                </a:solidFill>
              </a:rPr>
              <a:t>SIGDE ya cuenta con una base funcional de acceso seguro: login, recordatorio de usuario, recuperacion por codigo, validacion de contrasena, sesion iniciada y logout.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C7D9"/>
                </a:solidFill>
              </a:rPr>
              <a:t>El proyecto esta listo para crecer hacia modulos academicos y disciplinarios.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</a:rPr>
              <a:t>Contexto del proyecto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SIGDE busca digitalizar procesos escolares desde una base segura de autenticacion.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337560" cy="406908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1848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Necesidad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984248"/>
            <a:ext cx="2880360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Centralizar el acceso institucional para que docentes, coordinadores y administradores puedan entrar al sistema con credenciales protegidas.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Antes de construir modulos internos, era necesario asegurar identidad, recuperacion y cierre de sesion.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34840" y="1417320"/>
            <a:ext cx="3337560" cy="4069080"/>
          </a:xfrm>
          <a:prstGeom prst="roundRect">
            <a:avLst>
              <a:gd name="adj" fmla="val 1644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61848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Alcance actual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984248"/>
            <a:ext cx="2880360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El sistema actualmente cubre el ciclo de autenticacion: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Inicio de sesion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Recordar usuario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Recuperacion por correo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Codigo de verificacion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Nueva contrasena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Sesion iniciada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Cierre de sesion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0" y="1417320"/>
            <a:ext cx="2926080" cy="4069080"/>
          </a:xfrm>
          <a:prstGeom prst="roundRect">
            <a:avLst>
              <a:gd name="adj" fmla="val 1875"/>
            </a:avLst>
          </a:prstGeom>
          <a:solidFill>
            <a:srgbClr val="EAF3FB"/>
          </a:solidFill>
          <a:ln w="12700">
            <a:solidFill>
              <a:srgbClr val="C8D4E2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8200" y="16184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Alcance no activo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58200" y="1984248"/>
            <a:ext cx="2468880" cy="3355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En el estado actual no hay dashboard ni modulos de usuarios, estudiantes o reportes disciplinarios.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Esto permite presentar una version estable y enfocada, sin mostrar funcionalidades que aun no se van a exponer.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</a:rPr>
              <a:t>Que se ha hecho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Componentes y capacidades ya implementadas en el proyecto.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61848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UI de login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84248"/>
            <a:ext cx="288036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Interfaz responsive con panel de marca, logo, formulario, estados de carga y mensajes.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17720" y="161848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Autenticacion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17720" y="1984248"/>
            <a:ext cx="288036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Endpoint POST /api/auth con accion login; valida correo, contrasena y usuario activo.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83880" y="1417320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0" y="161848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JWT y cookie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0" y="1984248"/>
            <a:ext cx="288036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Al iniciar sesion se crea token JWT y se guarda en cookie httpOnly.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4360" y="3383280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58444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Logout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950208"/>
            <a:ext cx="288036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Boton de cerrar sesion que llama POST /api/auth con accion logout y elimina cookie.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0" y="3383280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17720" y="358444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Recuperacion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17720" y="3950208"/>
            <a:ext cx="288036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Flujo de recuperar contrasena con codigo de 6 digitos enviado por correo.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83880" y="3383280"/>
            <a:ext cx="333756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0" y="358444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Seguridad UX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0" y="3950208"/>
            <a:ext cx="2880360" cy="704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Limites de longitud, validacion de correo, throttle de reenvio y medicion de fortaleza.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</a:rPr>
              <a:t>Como funciona para el usuario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Flujo principal desde que abre la aplicacion hasta cerrar sesion.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993392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B8"/>
                </a:solidFill>
              </a:rPr>
              <a:t>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86384" y="22128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1828"/>
                </a:solidFill>
              </a:rPr>
              <a:t>Ingresar correo y contrasena</a:t>
            </a:r>
            <a:endParaRPr lang="en-US" sz="930" dirty="0"/>
          </a:p>
        </p:txBody>
      </p:sp>
      <p:sp>
        <p:nvSpPr>
          <p:cNvPr id="7" name="Shape 5"/>
          <p:cNvSpPr/>
          <p:nvPr/>
        </p:nvSpPr>
        <p:spPr>
          <a:xfrm>
            <a:off x="2075688" y="2359152"/>
            <a:ext cx="338328" cy="0"/>
          </a:xfrm>
          <a:prstGeom prst="line">
            <a:avLst/>
          </a:prstGeom>
          <a:noFill/>
          <a:ln w="21590">
            <a:solidFill>
              <a:srgbClr val="1F6FB8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514600" y="187452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24328" y="1993392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B8"/>
                </a:solidFill>
              </a:rPr>
              <a:t>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660904" y="22128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1828"/>
                </a:solidFill>
              </a:rPr>
              <a:t>Enviar credenciales al API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3950208" y="2359152"/>
            <a:ext cx="338328" cy="0"/>
          </a:xfrm>
          <a:prstGeom prst="line">
            <a:avLst/>
          </a:prstGeom>
          <a:noFill/>
          <a:ln w="21590">
            <a:solidFill>
              <a:srgbClr val="1F6FB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89120" y="187452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498848" y="1993392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B8"/>
                </a:solidFill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35424" y="22128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1828"/>
                </a:solidFill>
              </a:rPr>
              <a:t>Validar usuario activo y hash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5824728" y="2359152"/>
            <a:ext cx="338328" cy="0"/>
          </a:xfrm>
          <a:prstGeom prst="line">
            <a:avLst/>
          </a:prstGeom>
          <a:noFill/>
          <a:ln w="21590">
            <a:solidFill>
              <a:srgbClr val="1F6FB8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63640" y="187452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73368" y="1993392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B8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9944" y="22128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1828"/>
                </a:solidFill>
              </a:rPr>
              <a:t>Crear token y cookie segura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7699248" y="2359152"/>
            <a:ext cx="338328" cy="0"/>
          </a:xfrm>
          <a:prstGeom prst="line">
            <a:avLst/>
          </a:prstGeom>
          <a:noFill/>
          <a:ln w="21590">
            <a:solidFill>
              <a:srgbClr val="1F6FB8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38160" y="187452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EEFAF4"/>
          </a:solidFill>
          <a:ln w="12700">
            <a:solidFill>
              <a:srgbClr val="A8D8BE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47888" y="1993392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B8"/>
                </a:solidFill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84464" y="22128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1828"/>
                </a:solidFill>
              </a:rPr>
              <a:t>Mostrar sesion iniciada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9573768" y="2359152"/>
            <a:ext cx="338328" cy="0"/>
          </a:xfrm>
          <a:prstGeom prst="line">
            <a:avLst/>
          </a:prstGeom>
          <a:noFill/>
          <a:ln w="21590">
            <a:solidFill>
              <a:srgbClr val="1F6FB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012680" y="187452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122408" y="1993392"/>
            <a:ext cx="237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6FB8"/>
                </a:solidFill>
              </a:rPr>
              <a:t>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158984" y="221284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01828"/>
                </a:solidFill>
              </a:rPr>
              <a:t>Cerrar sesion y eliminar cookie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914400" y="3886200"/>
            <a:ext cx="4846320" cy="1325880"/>
          </a:xfrm>
          <a:prstGeom prst="roundRect">
            <a:avLst>
              <a:gd name="adj" fmla="val 4138"/>
            </a:avLst>
          </a:prstGeom>
          <a:solidFill>
            <a:srgbClr val="EAF3FB"/>
          </a:solidFill>
          <a:ln w="12700">
            <a:solidFill>
              <a:srgbClr val="D6DF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43000" y="40873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Resultado visible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43000" y="4453128"/>
            <a:ext cx="438912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Despues del login exitoso, el usuario no entra a un dashboard. La app muestra una tarjeta simple: “Sesion iniciada” y un boton “Cerrar sesion”.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00800" y="3886200"/>
            <a:ext cx="45262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9400" y="4087368"/>
            <a:ext cx="4069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Decision actual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29400" y="4453128"/>
            <a:ext cx="40690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El proyecto se mantiene en una version limpia y demostrable antes de construir modulos internos mas grandes.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</a:rPr>
              <a:t>Recuperacion de contrasena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Flujo completo cuando el usuario olvida sus credenciales.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234440"/>
            <a:ext cx="347472" cy="347472"/>
          </a:xfrm>
          <a:prstGeom prst="ellipse">
            <a:avLst/>
          </a:prstGeom>
          <a:solidFill>
            <a:srgbClr val="1F6FB8"/>
          </a:solidFill>
          <a:ln w="12700">
            <a:solidFill>
              <a:srgbClr val="1F6F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591056"/>
            <a:ext cx="0" cy="475488"/>
          </a:xfrm>
          <a:prstGeom prst="line">
            <a:avLst/>
          </a:prstGeom>
          <a:noFill/>
          <a:ln w="17780">
            <a:solidFill>
              <a:srgbClr val="D6DF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12252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Solicitar codigo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371600" y="148132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El usuario ingresa su correo institucional.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77240" y="2103120"/>
            <a:ext cx="347472" cy="347472"/>
          </a:xfrm>
          <a:prstGeom prst="ellipse">
            <a:avLst/>
          </a:prstGeom>
          <a:solidFill>
            <a:srgbClr val="1F6FB8"/>
          </a:solidFill>
          <a:ln w="12700">
            <a:solidFill>
              <a:srgbClr val="1F6F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2459736"/>
            <a:ext cx="0" cy="475488"/>
          </a:xfrm>
          <a:prstGeom prst="line">
            <a:avLst/>
          </a:prstGeom>
          <a:noFill/>
          <a:ln w="17780">
            <a:solidFill>
              <a:srgbClr val="D6DF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71600" y="209397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Generar codigo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371600" y="235000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El backend genera 6 digitos y guarda un hash.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77240" y="2971800"/>
            <a:ext cx="347472" cy="347472"/>
          </a:xfrm>
          <a:prstGeom prst="ellipse">
            <a:avLst/>
          </a:prstGeom>
          <a:solidFill>
            <a:srgbClr val="1F6FB8"/>
          </a:solidFill>
          <a:ln w="12700">
            <a:solidFill>
              <a:srgbClr val="1F6F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3328416"/>
            <a:ext cx="0" cy="475488"/>
          </a:xfrm>
          <a:prstGeom prst="line">
            <a:avLst/>
          </a:prstGeom>
          <a:noFill/>
          <a:ln w="17780">
            <a:solidFill>
              <a:srgbClr val="D6D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296265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Enviar correo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71600" y="321868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Nodemailer envia el codigo al correo registrado.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7240" y="3840480"/>
            <a:ext cx="347472" cy="347472"/>
          </a:xfrm>
          <a:prstGeom prst="ellipse">
            <a:avLst/>
          </a:prstGeom>
          <a:solidFill>
            <a:srgbClr val="1F6FB8"/>
          </a:solidFill>
          <a:ln w="12700">
            <a:solidFill>
              <a:srgbClr val="1F6F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50976" y="4197096"/>
            <a:ext cx="0" cy="475488"/>
          </a:xfrm>
          <a:prstGeom prst="line">
            <a:avLst/>
          </a:prstGeom>
          <a:noFill/>
          <a:ln w="17780">
            <a:solidFill>
              <a:srgbClr val="D6DF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38313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Verificar codigo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71600" y="408736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Se compara el codigo contra el hash guardado.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7240" y="4709160"/>
            <a:ext cx="347472" cy="347472"/>
          </a:xfrm>
          <a:prstGeom prst="ellipse">
            <a:avLst/>
          </a:prstGeom>
          <a:solidFill>
            <a:srgbClr val="1F6FB8"/>
          </a:solidFill>
          <a:ln w="12700">
            <a:solidFill>
              <a:srgbClr val="1F6F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47000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1828"/>
                </a:solidFill>
              </a:rPr>
              <a:t>Cambiar clave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371600" y="495604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085"/>
                </a:solidFill>
              </a:rPr>
              <a:t>Se valida seguridad y se guarda la nueva contrasena hasheada.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58000" y="1234440"/>
            <a:ext cx="40690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086600" y="143560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Controles incluidos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86600" y="1801368"/>
            <a:ext cx="36118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Codigo de 6 digitos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Expiracion de codigo en 15 minutos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Reenvio con espera progresiva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Validacion minima de contrasena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Limpieza del token al actualizar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858000" y="3429000"/>
            <a:ext cx="4069080" cy="1371600"/>
          </a:xfrm>
          <a:prstGeom prst="roundRect">
            <a:avLst>
              <a:gd name="adj" fmla="val 4000"/>
            </a:avLst>
          </a:prstGeom>
          <a:solidFill>
            <a:srgbClr val="EAF3FB"/>
          </a:solidFill>
          <a:ln w="12700">
            <a:solidFill>
              <a:srgbClr val="D6DF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363016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Valor para la exposicion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86600" y="3995928"/>
            <a:ext cx="361188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Demuestra que el proyecto no solo inicia sesion, sino que contempla un caso real de soporte: recuperar acceso sin intervencion manual.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</a:rPr>
              <a:t>Arquitectura actual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Separacion entre interfaz, API, servicios, utilidades y base de datos.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22402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1848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Frontend Next.js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84248"/>
            <a:ext cx="17830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LoginExperience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LoginPanel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CSS global responsive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3383280" y="1417320"/>
            <a:ext cx="2240280" cy="1828800"/>
          </a:xfrm>
          <a:prstGeom prst="roundRect">
            <a:avLst>
              <a:gd name="adj" fmla="val 3000"/>
            </a:avLst>
          </a:prstGeom>
          <a:solidFill>
            <a:srgbClr val="EAF3FB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11880" y="161848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API Route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11880" y="1984248"/>
            <a:ext cx="17830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POST /api/auth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acciones: login, logout, recuperar, verificarCodigo, cambiarContrasena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22402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61848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Servicios backend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537960" y="1984248"/>
            <a:ext cx="17830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auth.service.ts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validacion, hash, recuperacion, correo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9006840" y="1417320"/>
            <a:ext cx="224028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235440" y="161848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Persistencia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235440" y="1984248"/>
            <a:ext cx="17830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Prisma schema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SQLite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modelo Usuario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2926080" y="2304288"/>
            <a:ext cx="384048" cy="0"/>
          </a:xfrm>
          <a:prstGeom prst="line">
            <a:avLst/>
          </a:prstGeom>
          <a:noFill/>
          <a:ln w="21590">
            <a:solidFill>
              <a:srgbClr val="1F6FB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715000" y="2304288"/>
            <a:ext cx="521208" cy="0"/>
          </a:xfrm>
          <a:prstGeom prst="line">
            <a:avLst/>
          </a:prstGeom>
          <a:noFill/>
          <a:ln w="21590">
            <a:solidFill>
              <a:srgbClr val="1F6FB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549640" y="2304288"/>
            <a:ext cx="393192" cy="0"/>
          </a:xfrm>
          <a:prstGeom prst="line">
            <a:avLst/>
          </a:prstGeom>
          <a:noFill/>
          <a:ln w="21590">
            <a:solidFill>
              <a:srgbClr val="1F6FB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097280" y="4206240"/>
            <a:ext cx="9784080" cy="1051560"/>
          </a:xfrm>
          <a:prstGeom prst="roundRect">
            <a:avLst>
              <a:gd name="adj" fmla="val 5217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25880" y="4407408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</a:rPr>
              <a:t>Tecnologias principales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4773168"/>
            <a:ext cx="932688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7D9"/>
                </a:solidFill>
              </a:rPr>
              <a:t>Next.js 16.2.6 | React 19.2.4 | TypeScript | Prisma 7.8.0 | SQLite | bcryptjs | jose/JWT | Nodemailer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</a:rPr>
              <a:t>Esquema de la base de datos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Modelo actual: una entidad central para usuarios y recuperacion de acceso.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1325880"/>
            <a:ext cx="3657600" cy="43434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7780">
            <a:solidFill>
              <a:srgbClr val="1F6FB8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325880"/>
            <a:ext cx="3657600" cy="475488"/>
          </a:xfrm>
          <a:prstGeom prst="rect">
            <a:avLst/>
          </a:prstGeom>
          <a:solidFill>
            <a:srgbClr val="1F6FB8"/>
          </a:solidFill>
          <a:ln w="12700">
            <a:solidFill>
              <a:srgbClr val="1F6F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472184"/>
            <a:ext cx="3108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Usuario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1984248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85F9F"/>
                </a:solidFill>
              </a:rPr>
              <a:t>id Int @id @default(autoincrement())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1078992" y="231343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01828"/>
                </a:solidFill>
              </a:rPr>
              <a:t>nombre String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1078992" y="2642616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b="1" dirty="0">
                <a:solidFill>
                  <a:srgbClr val="185F9F"/>
                </a:solidFill>
              </a:rPr>
              <a:t>correo String @unique</a:t>
            </a:r>
            <a:endParaRPr lang="en-US" sz="940" dirty="0"/>
          </a:p>
        </p:txBody>
      </p:sp>
      <p:sp>
        <p:nvSpPr>
          <p:cNvPr id="10" name="Text 8"/>
          <p:cNvSpPr/>
          <p:nvPr/>
        </p:nvSpPr>
        <p:spPr>
          <a:xfrm>
            <a:off x="1078992" y="2971800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01828"/>
                </a:solidFill>
              </a:rPr>
              <a:t>contrasena String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1078992" y="3300984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01828"/>
                </a:solidFill>
              </a:rPr>
              <a:t>rol String</a:t>
            </a:r>
            <a:endParaRPr lang="en-US" sz="940" dirty="0"/>
          </a:p>
        </p:txBody>
      </p:sp>
      <p:sp>
        <p:nvSpPr>
          <p:cNvPr id="12" name="Text 10"/>
          <p:cNvSpPr/>
          <p:nvPr/>
        </p:nvSpPr>
        <p:spPr>
          <a:xfrm>
            <a:off x="1078992" y="3630168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01828"/>
                </a:solidFill>
              </a:rPr>
              <a:t>activo Boolean @default(true)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1078992" y="3959352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01828"/>
                </a:solidFill>
              </a:rPr>
              <a:t>creadoEn DateTime @default(now())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1078992" y="4288536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01828"/>
                </a:solidFill>
              </a:rPr>
              <a:t>tokenRecuperacion String?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1078992" y="4617720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101828"/>
                </a:solidFill>
              </a:rPr>
              <a:t>tokenExpira DateTime?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5303520" y="1417320"/>
            <a:ext cx="53949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32120" y="161848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Lectura del modelo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1984248"/>
            <a:ext cx="49377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El sistema maneja usuarios institucionales con nombre, correo unico, contrasena hasheada, rol, estado activo y campos temporales para recuperacion.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03520" y="2971800"/>
            <a:ext cx="5394960" cy="1280160"/>
          </a:xfrm>
          <a:prstGeom prst="roundRect">
            <a:avLst>
              <a:gd name="adj" fmla="val 4286"/>
            </a:avLst>
          </a:prstGeom>
          <a:solidFill>
            <a:srgbClr val="EAF3FB"/>
          </a:solidFill>
          <a:ln w="12700">
            <a:solidFill>
              <a:srgbClr val="D6DF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32120" y="317296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Relaciones actuales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32120" y="3538728"/>
            <a:ext cx="49377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No existen todavia relaciones con estudiantes, acudientes, reportes u observaciones. Esto mantiene el modelo simple mientras se valida el acceso.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03520" y="4526280"/>
            <a:ext cx="53949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4727448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Base de datos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532120" y="5093208"/>
            <a:ext cx="49377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Datasource: SQLite. ORM/esquema: Prisma.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</a:rPr>
              <a:t>Historias de usuario utilizadas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Estado funcional de las historias relacionadas con acceso al sistema.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207008"/>
          <a:ext cx="11064240" cy="4480560"/>
        </p:xfrm>
        <a:graphic>
          <a:graphicData uri="http://schemas.openxmlformats.org/drawingml/2006/table">
            <a:tbl>
              <a:tblPr/>
              <a:tblGrid>
                <a:gridCol w="960120"/>
                <a:gridCol w="7360920"/>
                <a:gridCol w="2011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ID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Historia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Estado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HU-A01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Como usuario institucional quiero iniciar sesion con correo y contrasena.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Implementada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HU-A02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Como usuario quiero recordar mi correo para ingresar mas rapido.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Implementada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HU-A03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Como usuario quiero recuperar mi contrasena mediante codigo al correo.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Implementada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HU-A04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Como usuario quiero ver que mi sesion inicio correctamente.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Implementada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HU-A05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Como usuario quiero cerrar sesion desde la pantalla activa.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Implementada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HU-A06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Como sistema quiero bloquear usuarios inactivos.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Implementada en backend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HU-A07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Como sistema quiero validar seguridad minima de la nueva contrasena.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Implementada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HU-F01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Como admin quiero gestionar usuarios, estudiantes y reportes.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01828"/>
                          </a:solidFill>
                        </a:rPr>
                        <a:t>Pendiente / fuera del alcance actual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F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1207008"/>
            <a:ext cx="110642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1316736"/>
            <a:ext cx="4572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ID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572768" y="1316736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Historia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8997696" y="1316736"/>
            <a:ext cx="91440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Estado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</a:rPr>
              <a:t>Seguridad y validaciones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Controles ya presentes para proteger el acceso.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43560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Credenciales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801368"/>
            <a:ext cx="4434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Correo normalizado a minusculas, formato validado y longitud maxima.</a:t>
            </a:r>
            <a:endParaRPr lang="en-US" sz="960" dirty="0"/>
          </a:p>
        </p:txBody>
      </p:sp>
      <p:sp>
        <p:nvSpPr>
          <p:cNvPr id="7" name="Shape 5"/>
          <p:cNvSpPr/>
          <p:nvPr/>
        </p:nvSpPr>
        <p:spPr>
          <a:xfrm>
            <a:off x="6172200" y="123444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43560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Contrasena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801368"/>
            <a:ext cx="4434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Hash con bcryptjs y comparacion segura en login.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285292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Sesion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3218688"/>
            <a:ext cx="4434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JWT creado con id, correo y rol; cookie httpOnly, sameSite strict y secure en produccion.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6172200" y="265176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285292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Recuperacion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0" y="3218688"/>
            <a:ext cx="4434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Codigo no se guarda plano: se almacena hash y fecha de expiracion.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42702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Anti-abuso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68680" y="4636008"/>
            <a:ext cx="4434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Reenvio de codigos con espera progresiva para reducir spam.</a:t>
            </a:r>
            <a:endParaRPr lang="en-US" sz="960" dirty="0"/>
          </a:p>
        </p:txBody>
      </p:sp>
      <p:sp>
        <p:nvSpPr>
          <p:cNvPr id="19" name="Shape 17"/>
          <p:cNvSpPr/>
          <p:nvPr/>
        </p:nvSpPr>
        <p:spPr>
          <a:xfrm>
            <a:off x="6172200" y="4069080"/>
            <a:ext cx="489204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4270248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UX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0" y="4636008"/>
            <a:ext cx="443484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60" dirty="0">
                <a:solidFill>
                  <a:srgbClr val="667085"/>
                </a:solidFill>
              </a:rPr>
              <a:t>Mensajes de error controlados, carga visual y limpiar contrasena ante fallo.</a:t>
            </a:r>
            <a:endParaRPr lang="en-US" sz="9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</a:rPr>
              <a:t>Diseno visual del proyecto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La presentacion mantiene la misma identidad grafica del sistema.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01752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270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Paleta base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892808"/>
            <a:ext cx="2560320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Azul oscuro institucional, azul primario para acciones, fondos claros, lineas suaves y estados semanticos para exito/error.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06240" y="1417320"/>
            <a:ext cx="914400" cy="658368"/>
          </a:xfrm>
          <a:prstGeom prst="roundRect">
            <a:avLst>
              <a:gd name="adj" fmla="val 5556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33088" y="2167128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67085"/>
                </a:solidFill>
              </a:rPr>
              <a:t>Panel</a:t>
            </a:r>
            <a:endParaRPr lang="en-US" sz="830" dirty="0"/>
          </a:p>
        </p:txBody>
      </p:sp>
      <p:sp>
        <p:nvSpPr>
          <p:cNvPr id="9" name="Shape 7"/>
          <p:cNvSpPr/>
          <p:nvPr/>
        </p:nvSpPr>
        <p:spPr>
          <a:xfrm>
            <a:off x="5532120" y="1417320"/>
            <a:ext cx="914400" cy="658368"/>
          </a:xfrm>
          <a:prstGeom prst="roundRect">
            <a:avLst>
              <a:gd name="adj" fmla="val 5556"/>
            </a:avLst>
          </a:prstGeom>
          <a:solidFill>
            <a:srgbClr val="1F6FB8"/>
          </a:solidFill>
          <a:ln w="12700">
            <a:solidFill>
              <a:srgbClr val="1F6F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58968" y="2167128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67085"/>
                </a:solidFill>
              </a:rPr>
              <a:t>Primario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6858000" y="1417320"/>
            <a:ext cx="914400" cy="658368"/>
          </a:xfrm>
          <a:prstGeom prst="roundRect">
            <a:avLst>
              <a:gd name="adj" fmla="val 555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84848" y="2167128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67085"/>
                </a:solidFill>
              </a:rPr>
              <a:t>Fondo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4206240" y="2587752"/>
            <a:ext cx="914400" cy="658368"/>
          </a:xfrm>
          <a:prstGeom prst="roundRect">
            <a:avLst>
              <a:gd name="adj" fmla="val 5556"/>
            </a:avLst>
          </a:prstGeom>
          <a:solidFill>
            <a:srgbClr val="D6DFEB"/>
          </a:solidFill>
          <a:ln w="12700">
            <a:solidFill>
              <a:srgbClr val="D6DF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33088" y="3337560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67085"/>
                </a:solidFill>
              </a:rPr>
              <a:t>Linea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5532120" y="2587752"/>
            <a:ext cx="914400" cy="658368"/>
          </a:xfrm>
          <a:prstGeom prst="roundRect">
            <a:avLst>
              <a:gd name="adj" fmla="val 5556"/>
            </a:avLst>
          </a:prstGeom>
          <a:solidFill>
            <a:srgbClr val="257A4F"/>
          </a:solidFill>
          <a:ln w="12700">
            <a:solidFill>
              <a:srgbClr val="257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58968" y="3337560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67085"/>
                </a:solidFill>
              </a:rPr>
              <a:t>Exito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6858000" y="2587752"/>
            <a:ext cx="914400" cy="658368"/>
          </a:xfrm>
          <a:prstGeom prst="roundRect">
            <a:avLst>
              <a:gd name="adj" fmla="val 5556"/>
            </a:avLst>
          </a:prstGeom>
          <a:solidFill>
            <a:srgbClr val="D14343"/>
          </a:solidFill>
          <a:ln w="12700">
            <a:solidFill>
              <a:srgbClr val="D143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84848" y="3337560"/>
            <a:ext cx="1060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dirty="0">
                <a:solidFill>
                  <a:srgbClr val="667085"/>
                </a:solidFill>
              </a:rPr>
              <a:t>Error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8229600" y="1325880"/>
            <a:ext cx="2834640" cy="2926080"/>
          </a:xfrm>
          <a:prstGeom prst="roundRect">
            <a:avLst>
              <a:gd name="adj" fmla="val 1935"/>
            </a:avLst>
          </a:prstGeom>
          <a:solidFill>
            <a:srgbClr val="EAF3FB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58200" y="1527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Experiencia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58200" y="1892808"/>
            <a:ext cx="2377440" cy="2212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Login de dos columnas en escritorio, version movil en fondo oscuro, tarjetas limpias, inputs altos y botones claros.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452360" y="6446520"/>
            <a:ext cx="3611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</a:rPr>
              <a:t>Basado en frontend/src/app/globals.css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</a:rPr>
              <a:t>Como demostrarlo en vivo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Guion breve para la exposicion practica.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868680" y="1325880"/>
            <a:ext cx="5760720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00" dirty="0">
                <a:solidFill>
                  <a:srgbClr val="101828"/>
                </a:solidFill>
              </a:rPr>
              <a:t>Abrir la aplicacion en http://localhost:3000.</a:t>
            </a:r>
            <a:endParaRPr lang="en-US" sz="1300" dirty="0"/>
          </a:p>
          <a:p>
            <a:r>
              <a:rPr lang="en-US" sz="1300" dirty="0">
                <a:solidFill>
                  <a:srgbClr val="101828"/>
                </a:solidFill>
              </a:rPr>
              <a:t>Mostrar el panel institucional y el formulario de inicio de sesion.</a:t>
            </a:r>
            <a:endParaRPr lang="en-US" sz="1300" dirty="0"/>
          </a:p>
          <a:p>
            <a:r>
              <a:rPr lang="en-US" sz="1300" dirty="0">
                <a:solidFill>
                  <a:srgbClr val="101828"/>
                </a:solidFill>
              </a:rPr>
              <a:t>Ingresar con un usuario existente y evidenciar la tarjeta “Sesion iniciada”.</a:t>
            </a:r>
            <a:endParaRPr lang="en-US" sz="1300" dirty="0"/>
          </a:p>
          <a:p>
            <a:r>
              <a:rPr lang="en-US" sz="1300" dirty="0">
                <a:solidFill>
                  <a:srgbClr val="101828"/>
                </a:solidFill>
              </a:rPr>
              <a:t>Cerrar sesion y mostrar el mensaje de sesion cerrada.</a:t>
            </a:r>
            <a:endParaRPr lang="en-US" sz="1300" dirty="0"/>
          </a:p>
          <a:p>
            <a:r>
              <a:rPr lang="en-US" sz="1300" dirty="0">
                <a:solidFill>
                  <a:srgbClr val="101828"/>
                </a:solidFill>
              </a:rPr>
              <a:t>Entrar al flujo “Olvidaste tu contrasena” y explicar codigo + nueva contrasena.</a:t>
            </a:r>
            <a:endParaRPr lang="en-US" sz="1300" dirty="0"/>
          </a:p>
          <a:p>
            <a:r>
              <a:rPr lang="en-US" sz="1300" dirty="0">
                <a:solidFill>
                  <a:srgbClr val="101828"/>
                </a:solidFill>
              </a:rPr>
              <a:t>Mostrar el schema de Prisma para explicar la base de datos.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0" y="1417320"/>
            <a:ext cx="3429000" cy="3383280"/>
          </a:xfrm>
          <a:prstGeom prst="roundRect">
            <a:avLst>
              <a:gd name="adj" fmla="val 1622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43800" y="161848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</a:rPr>
              <a:t>Evidencia tecnica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43800" y="1984248"/>
            <a:ext cx="2971800" cy="2670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7D9"/>
                </a:solidFill>
              </a:rPr>
              <a:t>Comandos de verificacion ejecutados: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C7D9"/>
                </a:solidFill>
              </a:rPr>
              <a:t>- npm run typecheck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C7D9"/>
                </a:solidFill>
              </a:rPr>
              <a:t>- npm run lint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C7D9"/>
                </a:solidFill>
              </a:rPr>
              <a:t>Ambos pasan correctamente en el estado actual del proyecto.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</a:rPr>
              <a:t>Estado actual del avance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Resumen ejecutivo para cerrar la parte de implementacion.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154680" cy="3474720"/>
          </a:xfrm>
          <a:prstGeom prst="roundRect">
            <a:avLst>
              <a:gd name="adj" fmla="val 1739"/>
            </a:avLst>
          </a:prstGeom>
          <a:solidFill>
            <a:srgbClr val="EEFAF4"/>
          </a:solidFill>
          <a:ln w="12700">
            <a:solidFill>
              <a:srgbClr val="A8D8BE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1848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Listo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84248"/>
            <a:ext cx="269748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Login funcional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Recordar usuario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Cierre de sesion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Recuperacion de contrasena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Validaciones basicas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Modelo Usuario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UI responsive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34840" y="1417320"/>
            <a:ext cx="3154680" cy="3474720"/>
          </a:xfrm>
          <a:prstGeom prst="roundRect">
            <a:avLst>
              <a:gd name="adj" fmla="val 1739"/>
            </a:avLst>
          </a:prstGeom>
          <a:solidFill>
            <a:srgbClr val="EAF3FB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663440" y="161848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En revision futura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1984248"/>
            <a:ext cx="269748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Dashboard institucional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Roles con vistas internas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Gestion de usuarios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Gestion de estudiantes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Reportes disciplinarios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Historiales y evidencias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83880" y="1417320"/>
            <a:ext cx="2926080" cy="347472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12480" y="16184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Riesgos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12480" y="1984248"/>
            <a:ext cx="2468880" cy="2761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Configurar variables de entorno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Probar envio real de correo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Definir roles oficiales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Sembrar usuarios iniciales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- Crear pruebas automatizadas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840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01828"/>
                </a:solidFill>
              </a:rPr>
              <a:t>Proximos pasos recomendados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67085"/>
                </a:solidFill>
              </a:rPr>
              <a:t>Camino logico para continuar el desarrollo despues de la base de autenticacion.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600200"/>
            <a:ext cx="1828800" cy="324612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41832" y="18470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C7D9"/>
                </a:solidFill>
              </a:rPr>
              <a:t>Fase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941832" y="217627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Estabilizar autenticacion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41832" y="2852928"/>
            <a:ext cx="1444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B8C7D9"/>
                </a:solidFill>
              </a:rPr>
              <a:t>Seeds de usuarios, pruebas automatizadas y mensajes con acentos corregidos.</a:t>
            </a:r>
            <a:endParaRPr lang="en-US" sz="880" dirty="0"/>
          </a:p>
        </p:txBody>
      </p:sp>
      <p:sp>
        <p:nvSpPr>
          <p:cNvPr id="8" name="Shape 6"/>
          <p:cNvSpPr/>
          <p:nvPr/>
        </p:nvSpPr>
        <p:spPr>
          <a:xfrm>
            <a:off x="3017520" y="1600200"/>
            <a:ext cx="182880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82112" y="18470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B8"/>
                </a:solidFill>
              </a:rPr>
              <a:t>Fase 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182112" y="217627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Dashboard base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82112" y="2852928"/>
            <a:ext cx="1444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Crear una pantalla principal simple por rol, sin modulos pesados al inicio.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5257800" y="1600200"/>
            <a:ext cx="182880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22392" y="18470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B8"/>
                </a:solidFill>
              </a:rPr>
              <a:t>Fase 3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22392" y="217627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Gestion admin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22392" y="2852928"/>
            <a:ext cx="1444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CRUD de usuarios y activacion/desactivacion de cuentas.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7498080" y="1600200"/>
            <a:ext cx="182880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662672" y="18470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B8"/>
                </a:solidFill>
              </a:rPr>
              <a:t>Fase 4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62672" y="217627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Estudiantes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662672" y="2852928"/>
            <a:ext cx="1444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Modelo Estudiante/Acudiente y panel de consulta/registro.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9738360" y="1600200"/>
            <a:ext cx="1828800" cy="3246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FEB"/>
            </a:solidFill>
            <a:prstDash val="solid"/>
          </a:ln>
          <a:effectLst>
            <a:outerShdw sx="100000" sy="100000" kx="0" ky="0" algn="bl" rotWithShape="0" blurRad="12700" dist="50800" dir="2700000">
              <a:srgbClr val="0F234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902952" y="184708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B8"/>
                </a:solidFill>
              </a:rPr>
              <a:t>Fase 5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902952" y="2176272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</a:rPr>
              <a:t>Reportes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902952" y="2852928"/>
            <a:ext cx="144475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67085"/>
                </a:solidFill>
              </a:rPr>
              <a:t>Reportes disciplinarios, estados, observaciones y evidencias.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685800"/>
            <a:ext cx="1417320" cy="292608"/>
          </a:xfrm>
          <a:prstGeom prst="roundRect">
            <a:avLst>
              <a:gd name="adj" fmla="val 18750"/>
            </a:avLst>
          </a:prstGeom>
          <a:solidFill>
            <a:srgbClr val="EAF3FB"/>
          </a:solidFill>
          <a:ln w="12700">
            <a:solidFill>
              <a:srgbClr val="EAF3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1248" y="754380"/>
            <a:ext cx="1197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50" b="1" dirty="0">
                <a:solidFill>
                  <a:srgbClr val="1F6FB8"/>
                </a:solidFill>
              </a:rPr>
              <a:t>CIERRE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49808" y="214884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B8C7D9"/>
                </a:solidFill>
              </a:rPr>
              <a:t>SIGDE ya tiene una base solida de autenticacion y recuperacion de acceso. El avance actual permite demostrar una experiencia completa de entrada al sistema y deja listo el terreno para construir modulos escolares internos con control por roles.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7909560" y="1325880"/>
            <a:ext cx="2926080" cy="2880360"/>
          </a:xfrm>
          <a:prstGeom prst="roundRect">
            <a:avLst>
              <a:gd name="adj" fmla="val 1905"/>
            </a:avLst>
          </a:prstGeom>
          <a:solidFill>
            <a:srgbClr val="112A4A"/>
          </a:solidFill>
          <a:ln w="12700">
            <a:solidFill>
              <a:srgbClr val="112A4A"/>
            </a:solidFill>
            <a:prstDash val="solid"/>
          </a:ln>
          <a:effectLst>
            <a:outerShdw sx="100000" sy="100000" kx="0" ky="0" algn="bl" rotWithShape="0" blurRad="25400" dist="50800" dir="2700000">
              <a:srgbClr val="0F234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138160" y="15270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E8F4FD"/>
                </a:solidFill>
              </a:rPr>
              <a:t>Mensaje clave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38160" y="1892808"/>
            <a:ext cx="2468880" cy="2167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B8C7D9"/>
                </a:solidFill>
              </a:rPr>
              <a:t>Primero se aseguro la puerta de entrada del sistema.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8C7D9"/>
                </a:solidFill>
              </a:rPr>
              <a:t>Despues se pueden construir dashboard, estudiantes, usuarios y reportes sobre una base mas confiable.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8952" y="52852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Gracias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77240" y="571500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C7D9"/>
                </a:solidFill>
              </a:rPr>
              <a:t>Preguntas y demostracion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Sistema de Gestion Digital Escolar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SIGDE - Exposicion de avance del proyecto</dc:title>
  <dc:subject>Avance del proyecto SIGDE</dc:subject>
  <dc:creator>SIGDE</dc:creator>
  <cp:lastModifiedBy>SIGDE</cp:lastModifiedBy>
  <cp:revision>1</cp:revision>
  <dcterms:created xsi:type="dcterms:W3CDTF">2026-06-08T01:53:37Z</dcterms:created>
  <dcterms:modified xsi:type="dcterms:W3CDTF">2026-06-08T01:53:37Z</dcterms:modified>
</cp:coreProperties>
</file>