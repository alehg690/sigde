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bb73a081a4481b" /><Relationship Type="http://schemas.openxmlformats.org/officeDocument/2006/relationships/extended-properties" Target="/docProps/app.xml" Id="R7f2f7f73d38e4c80" /><Relationship Type="http://schemas.openxmlformats.org/officeDocument/2006/relationships/officeDocument" Target="/ppt/presentation.xml" Id="R1eedd661320848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f515760494036"/>
  </p:sldMasterIdLst>
  <p:notesMasterIdLst>
    <p:notesMasterId xmlns:r="http://schemas.openxmlformats.org/officeDocument/2006/relationships" r:id="R7e73d19bb33f46d8"/>
  </p:notesMasterIdLst>
  <p:sldIdLst>
    <p:sldId xmlns:r="http://schemas.openxmlformats.org/officeDocument/2006/relationships" id="256" r:id="R55c6090bb19d439d"/>
    <p:sldId xmlns:r="http://schemas.openxmlformats.org/officeDocument/2006/relationships" id="257" r:id="Rb048ddaeb0804bc4"/>
    <p:sldId xmlns:r="http://schemas.openxmlformats.org/officeDocument/2006/relationships" id="258" r:id="R02e15e631db6460c"/>
    <p:sldId xmlns:r="http://schemas.openxmlformats.org/officeDocument/2006/relationships" id="259" r:id="R2ef20be2408d4825"/>
    <p:sldId xmlns:r="http://schemas.openxmlformats.org/officeDocument/2006/relationships" id="260" r:id="R6801dc8934e04b73"/>
    <p:sldId xmlns:r="http://schemas.openxmlformats.org/officeDocument/2006/relationships" id="261" r:id="R36f43cebf5834795"/>
    <p:sldId xmlns:r="http://schemas.openxmlformats.org/officeDocument/2006/relationships" id="262" r:id="R80d79f95dda44b0f"/>
    <p:sldId xmlns:r="http://schemas.openxmlformats.org/officeDocument/2006/relationships" id="263" r:id="R8821b81a97e4457d"/>
    <p:sldId xmlns:r="http://schemas.openxmlformats.org/officeDocument/2006/relationships" id="264" r:id="R369fbc04ae224358"/>
    <p:sldId xmlns:r="http://schemas.openxmlformats.org/officeDocument/2006/relationships" id="265" r:id="Ra2cca4b1e4954492"/>
    <p:sldId xmlns:r="http://schemas.openxmlformats.org/officeDocument/2006/relationships" id="266" r:id="R48ba33f221a143e1"/>
    <p:sldId xmlns:r="http://schemas.openxmlformats.org/officeDocument/2006/relationships" id="267" r:id="Ra4252ce3924c447d"/>
    <p:sldId xmlns:r="http://schemas.openxmlformats.org/officeDocument/2006/relationships" id="268" r:id="Rc103e4daf5d94579"/>
    <p:sldId xmlns:r="http://schemas.openxmlformats.org/officeDocument/2006/relationships" id="269" r:id="R486ff6d091914cd2"/>
    <p:sldId xmlns:r="http://schemas.openxmlformats.org/officeDocument/2006/relationships" id="270" r:id="Rb79206c881f344bd"/>
    <p:sldId xmlns:r="http://schemas.openxmlformats.org/officeDocument/2006/relationships" id="271" r:id="Re82b9d9a2ffd480f"/>
    <p:sldId xmlns:r="http://schemas.openxmlformats.org/officeDocument/2006/relationships" id="272" r:id="R4936afa2bf91441c"/>
    <p:sldId xmlns:r="http://schemas.openxmlformats.org/officeDocument/2006/relationships" id="273" r:id="Re9e390116a6848a3"/>
    <p:sldId xmlns:r="http://schemas.openxmlformats.org/officeDocument/2006/relationships" id="274" r:id="Re836a6ec168f42da"/>
    <p:sldId xmlns:r="http://schemas.openxmlformats.org/officeDocument/2006/relationships" id="275" r:id="R21539d9b7a1c41fb"/>
    <p:sldId xmlns:r="http://schemas.openxmlformats.org/officeDocument/2006/relationships" id="276" r:id="R74908647a27d43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f99f2b2b443b5" /><Relationship Type="http://schemas.openxmlformats.org/officeDocument/2006/relationships/slideMaster" Target="/ppt/slideMasters/slideMaster1.xml" Id="R7adf515760494036" /><Relationship Type="http://schemas.openxmlformats.org/officeDocument/2006/relationships/notesMaster" Target="/ppt/notesMasters/notesMaster1.xml" Id="R7e73d19bb33f46d8" /><Relationship Type="http://schemas.openxmlformats.org/officeDocument/2006/relationships/presProps" Target="/ppt/presProps.xml" Id="R9e7d150bd6314244" /><Relationship Type="http://schemas.openxmlformats.org/officeDocument/2006/relationships/tableStyles" Target="/ppt/tableStyles.xml" Id="Rb139a756517d4ef4" /><Relationship Type="http://schemas.openxmlformats.org/officeDocument/2006/relationships/slide" Target="/ppt/slides/slide1.xml" Id="R55c6090bb19d439d" /><Relationship Type="http://schemas.openxmlformats.org/officeDocument/2006/relationships/slide" Target="/ppt/slides/slide2.xml" Id="Rb048ddaeb0804bc4" /><Relationship Type="http://schemas.openxmlformats.org/officeDocument/2006/relationships/slide" Target="/ppt/slides/slide3.xml" Id="R02e15e631db6460c" /><Relationship Type="http://schemas.openxmlformats.org/officeDocument/2006/relationships/slide" Target="/ppt/slides/slide4.xml" Id="R2ef20be2408d4825" /><Relationship Type="http://schemas.openxmlformats.org/officeDocument/2006/relationships/slide" Target="/ppt/slides/slide5.xml" Id="R6801dc8934e04b73" /><Relationship Type="http://schemas.openxmlformats.org/officeDocument/2006/relationships/slide" Target="/ppt/slides/slide6.xml" Id="R36f43cebf5834795" /><Relationship Type="http://schemas.openxmlformats.org/officeDocument/2006/relationships/slide" Target="/ppt/slides/slide7.xml" Id="R80d79f95dda44b0f" /><Relationship Type="http://schemas.openxmlformats.org/officeDocument/2006/relationships/slide" Target="/ppt/slides/slide8.xml" Id="R8821b81a97e4457d" /><Relationship Type="http://schemas.openxmlformats.org/officeDocument/2006/relationships/slide" Target="/ppt/slides/slide9.xml" Id="R369fbc04ae224358" /><Relationship Type="http://schemas.openxmlformats.org/officeDocument/2006/relationships/slide" Target="/ppt/slides/slide10.xml" Id="Ra2cca4b1e4954492" /><Relationship Type="http://schemas.openxmlformats.org/officeDocument/2006/relationships/slide" Target="/ppt/slides/slide11.xml" Id="R48ba33f221a143e1" /><Relationship Type="http://schemas.openxmlformats.org/officeDocument/2006/relationships/slide" Target="/ppt/slides/slide12.xml" Id="Ra4252ce3924c447d" /><Relationship Type="http://schemas.openxmlformats.org/officeDocument/2006/relationships/slide" Target="/ppt/slides/slide13.xml" Id="Rc103e4daf5d94579" /><Relationship Type="http://schemas.openxmlformats.org/officeDocument/2006/relationships/slide" Target="/ppt/slides/slide14.xml" Id="R486ff6d091914cd2" /><Relationship Type="http://schemas.openxmlformats.org/officeDocument/2006/relationships/slide" Target="/ppt/slides/slide15.xml" Id="Rb79206c881f344bd" /><Relationship Type="http://schemas.openxmlformats.org/officeDocument/2006/relationships/slide" Target="/ppt/slides/slide16.xml" Id="Re82b9d9a2ffd480f" /><Relationship Type="http://schemas.openxmlformats.org/officeDocument/2006/relationships/slide" Target="/ppt/slides/slide17.xml" Id="R4936afa2bf91441c" /><Relationship Type="http://schemas.openxmlformats.org/officeDocument/2006/relationships/slide" Target="/ppt/slides/slide18.xml" Id="Re9e390116a6848a3" /><Relationship Type="http://schemas.openxmlformats.org/officeDocument/2006/relationships/slide" Target="/ppt/slides/slide19.xml" Id="Re836a6ec168f42da" /><Relationship Type="http://schemas.openxmlformats.org/officeDocument/2006/relationships/slide" Target="/ppt/slides/slide20.xml" Id="R21539d9b7a1c41fb" /><Relationship Type="http://schemas.openxmlformats.org/officeDocument/2006/relationships/slide" Target="/ppt/slides/slide21.xml" Id="R74908647a27d43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ce91466a5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7a5ba3aae43d3" /><Relationship Type="http://schemas.openxmlformats.org/officeDocument/2006/relationships/notesMaster" Target="/ppt/notesMasters/notesMaster1.xml" Id="R5314e49c115d43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cb3cf3ee3b4fbe" /><Relationship Type="http://schemas.openxmlformats.org/officeDocument/2006/relationships/notesMaster" Target="/ppt/notesMasters/notesMaster1.xml" Id="R01e29377f51444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f7e4746d104b2f" /><Relationship Type="http://schemas.openxmlformats.org/officeDocument/2006/relationships/notesMaster" Target="/ppt/notesMasters/notesMaster1.xml" Id="R0edc5eeac8c1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fcf4367f704b47" /><Relationship Type="http://schemas.openxmlformats.org/officeDocument/2006/relationships/notesMaster" Target="/ppt/notesMasters/notesMaster1.xml" Id="R114480026f3e40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8b84117c2419c" /><Relationship Type="http://schemas.openxmlformats.org/officeDocument/2006/relationships/notesMaster" Target="/ppt/notesMasters/notesMaster1.xml" Id="R9946ffc84f8b47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0d934816944078" /><Relationship Type="http://schemas.openxmlformats.org/officeDocument/2006/relationships/notesMaster" Target="/ppt/notesMasters/notesMaster1.xml" Id="Rab093e98e617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b648714d94fcb" /><Relationship Type="http://schemas.openxmlformats.org/officeDocument/2006/relationships/notesMaster" Target="/ppt/notesMasters/notesMaster1.xml" Id="Rbe78de91ec2049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957e78716f44e2" /><Relationship Type="http://schemas.openxmlformats.org/officeDocument/2006/relationships/notesMaster" Target="/ppt/notesMasters/notesMaster1.xml" Id="Rc9d025d8440e49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c9c6d60e4f4fbf" /><Relationship Type="http://schemas.openxmlformats.org/officeDocument/2006/relationships/notesMaster" Target="/ppt/notesMasters/notesMaster1.xml" Id="R42912257071a49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79f5b23beb4b88" /><Relationship Type="http://schemas.openxmlformats.org/officeDocument/2006/relationships/notesMaster" Target="/ppt/notesMasters/notesMaster1.xml" Id="Rc73399049cbd49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aef4fcec54bef" /><Relationship Type="http://schemas.openxmlformats.org/officeDocument/2006/relationships/notesMaster" Target="/ppt/notesMasters/notesMaster1.xml" Id="R4b1c902659494f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14161e8a474fe6" /><Relationship Type="http://schemas.openxmlformats.org/officeDocument/2006/relationships/notesMaster" Target="/ppt/notesMasters/notesMaster1.xml" Id="R9311720156a94b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3e8936a51840f1" /><Relationship Type="http://schemas.openxmlformats.org/officeDocument/2006/relationships/notesMaster" Target="/ppt/notesMasters/notesMaster1.xml" Id="Rbbed75a2a19846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e639eacd8549de" /><Relationship Type="http://schemas.openxmlformats.org/officeDocument/2006/relationships/notesMaster" Target="/ppt/notesMasters/notesMaster1.xml" Id="Re7d73b0230ad4d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d8121511254486" /><Relationship Type="http://schemas.openxmlformats.org/officeDocument/2006/relationships/notesMaster" Target="/ppt/notesMasters/notesMaster1.xml" Id="Rd6dce465376843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a158cb154f46cd" /><Relationship Type="http://schemas.openxmlformats.org/officeDocument/2006/relationships/notesMaster" Target="/ppt/notesMasters/notesMaster1.xml" Id="Rb27cd5cd9c9e43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f39d205edc4da1" /><Relationship Type="http://schemas.openxmlformats.org/officeDocument/2006/relationships/notesMaster" Target="/ppt/notesMasters/notesMaster1.xml" Id="R90b1145e652245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6b907233c145f1" /><Relationship Type="http://schemas.openxmlformats.org/officeDocument/2006/relationships/notesMaster" Target="/ppt/notesMasters/notesMaster1.xml" Id="R5230d7f4556f4e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9c236ed8cf4938" /><Relationship Type="http://schemas.openxmlformats.org/officeDocument/2006/relationships/notesMaster" Target="/ppt/notesMasters/notesMaster1.xml" Id="Rd967a0a1c83b4b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77f936cd7c49eb" /><Relationship Type="http://schemas.openxmlformats.org/officeDocument/2006/relationships/notesMaster" Target="/ppt/notesMasters/notesMaster1.xml" Id="R3528dd63b86d43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d0f6441e8347ce" /><Relationship Type="http://schemas.openxmlformats.org/officeDocument/2006/relationships/notesMaster" Target="/ppt/notesMasters/notesMaster1.xml" Id="Rf353004cb3ce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Presentar el nombre completo y el propósito del proyecto.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C:/Users/edits/sistema-escolar/frontend/public/sigde-space-background.png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C:/Users/edits/sistema-escolar/frontend/public/Logo-login.png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Explicar SIGDE en una sola frase antes de enumerar los módulos.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C:/Users/edits/AppData/Local/Temp/codex-clipboard-23807993-f086-4f90-907b-140af167cc61.png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Resumen basado en los módulos y servicios del repositorio SIGDE.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No afirmar resultados medidos; presentar la mejora como objetivo del sistema.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C:/Users/edits/AppData/Local/Temp/codex-clipboard-a5e4f482-051f-4c30-befb-ebea0b2f754d.png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Problemas y soluciones derivados del alcance funcional del proyecto.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Relacionar cada color con una función, no solo con una preferencia estética.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C:/Users/edits/sistema-escolar/frontend/public/Logo.png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C:/Users/edits/sistema-escolar/frontend/public/sigde-space-background.png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Colores verificados en la interfaz y estilos del proyecto.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Señalar primero la navegación, luego la barra superior y por último el contenido.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C:/Users/edits/AppData/Local/Temp/codex-clipboard-280987c4-4828-49ba-954f-1c1e265ce3e6.png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Fuentes del proyecto SIGDE: inventario de 23 interfaces de la presentación suministrada. Implementación local de Convivencia, Seguimiento, Estadísticas, Calendario, Perfil y Configuración. Commit 2cc5257 (7 de septiembre de 2026): integración de reportes, perfil, calendario, configuración y visibilidad de contraseña. Commit 2ed7802 (10 de septiembre): adaptación responsive, subido a origin/main. Pruebas scripts/test-avance.cjs aprobadas el 14 de septiembre. Revisión de interfaz previa en 320, 390, 600, 768, 1024 y 1440 px y roles Coordinador, Docente y Portería. El 100 % se refiere a implementación del inventario original, no a certificación de todos los flujos ni a cierre de pendientes institucionales. Corte: 14 de septiembre de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Recorrer primero la fila superior. Después explicar que el menú cambia según el rol y cerrar diferenciando funciones implementadas de las pendientes.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C:/Users/edits/AppData/Local/Temp/codex-clipboard-23807993-f086-4f90-907b-140af167cc61.png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C:/Users/edits/AppData/Local/Temp/codex-clipboard-280987c4-4828-49ba-954f-1c1e265ce3e6.png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C:/Users/edits/AppData/Local/Temp/codex-clipboard-a5e4f482-051f-4c30-befb-ebea0b2f754d.png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C:/Users/edits/AppData/Local/Temp/codex-clipboard-a82e8277-61f2-48a8-ac20-267b43f6a2cf.png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C:/Users/edits/AppData/Local/Temp/codex-clipboard-2bafa633-28e5-4848-b049-36ac675c2112.png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C:/Users/edits/AppData/Local/Temp/codex-clipboard-474c74d8-6802-464f-a5ba-0738b64b51a8.png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Inventario funcional confirmado por el usuario al 1 de septiembre de 2026.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Señalar que el encabezado se conserva incluso cuando cambia el contenido central.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C:/Users/edits/AppData/Local/Temp/codex-clipboard-c80c1d51-d137-42e8-ae30-6198f97dd1f1.png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Presentar la existencia de los documentos y reconocer el dato institucional pendiente.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C:/Users/edits/AppData/Local/Temp/codex-clipboard-a37271a1-39e4-4d16-807b-a5fef0300eb0.png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C:/Users/edits/AppData/Local/Temp/codex-clipboard-4c5fb432-0345-48c9-a4d0-444f1269fab6.png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Textos legales implementados en frontend/src/components/legal/LegalPage.tsx.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Comparar los tres menús y volver a separar permiso, visibilidad y estado funcional.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C:/Users/edits/AppData/Local/Temp/codex-clipboard-280987c4-4828-49ba-954f-1c1e265ce3e6.png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C:/Users/edits/AppData/Local/Temp/codex-clipboard-f323f7f9-6fc8-4552-9729-5569fbef70e1.png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C:/Users/edits/AppData/Local/Temp/codex-clipboard-02e47e51-1836-4819-bd81-335f40c1c329.png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Mostrar que hay retorno tanto dentro de un flujo como dentro de la navegación general.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C:/Users/edits/AppData/Local/Temp/codex-clipboard-7a6435bf-a8cb-488a-b747-d3abf22b98b4.png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C:/Users/edits/AppData/Local/Temp/codex-clipboard-affd2f35-8448-426d-895c-367cbf9c9f85.png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Control de retorno legal verificado en las páginas de Términos y Política.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Aclarar que SIGDE no vende productos físicos; el producto es la plataforma y los servicios son sus módulos.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Modelo de datos basado en database/prisma/schema.prisma.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Arquitectura de persistencia basada en la configuración real del proyecto.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Fuentes del proyecto SIGDE: inventario de 23 interfaces de la presentación suministrada. Implementación local de Convivencia, Seguimiento, Estadísticas, Calendario, Perfil y Configuración. Commit 2cc5257 (7 de septiembre de 2026): integración de reportes, perfil, calendario, configuración y visibilidad de contraseña. Commit 2ed7802 (10 de septiembre): adaptación responsive, subido a origin/main. Pruebas scripts/test-avance.cjs aprobadas el 14 de septiembre. Revisión de interfaz previa en 320, 390, 600, 768, 1024 y 1440 px y roles Coordinador, Docente y Portería. El 100 % se refiere a implementación del inventario original, no a certificación de todos los flujos ni a cierre de pendientes institucionales. Corte: 14 de septiembre de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del bloque de avances solicitado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Reportes disciplinarios.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Ruta de Convivencia.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Seguimiento de alertas.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Estadísticas institucionales.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Calendario institucional.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Cambio de contraseña de usuarios.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suministrada por el usuario para documentar el avance de Visibilidad de la contraseña temporal. Corte: 15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844c6dbbe420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dd9ba99ba4f08" /><Relationship Type="http://schemas.openxmlformats.org/officeDocument/2006/relationships/slideLayout" Target="/ppt/slideLayouts/slideLayout1.xml" Id="R546884e9b4f84d8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884e9b4f84d8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68345781d4ddd" /><Relationship Type="http://schemas.openxmlformats.org/officeDocument/2006/relationships/image" Target="/ppt/media/image.png" Id="R6270aa957b5b4f38" /><Relationship Type="http://schemas.openxmlformats.org/officeDocument/2006/relationships/image" Target="/ppt/media/image2.png" Id="R8e86d1ee2da44107" /><Relationship Type="http://schemas.openxmlformats.org/officeDocument/2006/relationships/notesSlide" Target="/ppt/notesSlides/notesSlide1.xml" Id="R12520ce35e4446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b3f036cd54be0" /><Relationship Type="http://schemas.openxmlformats.org/officeDocument/2006/relationships/image" Target="/ppt/media/image3.png" Id="R47bf8ff75f5a4786" /><Relationship Type="http://schemas.openxmlformats.org/officeDocument/2006/relationships/notesSlide" Target="/ppt/notesSlides/notesSlide2.xml" Id="R2069af7e8e3a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8fef8b8a141de" /><Relationship Type="http://schemas.openxmlformats.org/officeDocument/2006/relationships/image" Target="/ppt/media/image4.png" Id="Rce9f5710cc9c438b" /><Relationship Type="http://schemas.openxmlformats.org/officeDocument/2006/relationships/notesSlide" Target="/ppt/notesSlides/notesSlide3.xml" Id="Rdbc09ce77b1f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46680bd1d4851" /><Relationship Type="http://schemas.openxmlformats.org/officeDocument/2006/relationships/image" Target="/ppt/media/image5.png" Id="Rfb0ef554ef80488c" /><Relationship Type="http://schemas.openxmlformats.org/officeDocument/2006/relationships/notesSlide" Target="/ppt/notesSlides/notesSlide4.xml" Id="Re17611bf97c84c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bef7c78e54ec6" /><Relationship Type="http://schemas.openxmlformats.org/officeDocument/2006/relationships/image" Target="/ppt/media/image6.png" Id="R87e41f0377454bab" /><Relationship Type="http://schemas.openxmlformats.org/officeDocument/2006/relationships/notesSlide" Target="/ppt/notesSlides/notesSlide5.xml" Id="Rdafd3c9903be4e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56d61a174b1c" /><Relationship Type="http://schemas.openxmlformats.org/officeDocument/2006/relationships/image" Target="/ppt/media/image7.png" Id="R5bc1943004c74d75" /><Relationship Type="http://schemas.openxmlformats.org/officeDocument/2006/relationships/image" Target="/ppt/media/image8.png" Id="R63390d4736504ae6" /><Relationship Type="http://schemas.openxmlformats.org/officeDocument/2006/relationships/image" Target="/ppt/media/image9.png" Id="Rab6de598c4a14274" /><Relationship Type="http://schemas.openxmlformats.org/officeDocument/2006/relationships/image" Target="/ppt/media/image10.png" Id="R2da8bbbecba04f54" /><Relationship Type="http://schemas.openxmlformats.org/officeDocument/2006/relationships/notesSlide" Target="/ppt/notesSlides/notesSlide6.xml" Id="R4a740101fda044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d5b9529a64007" /><Relationship Type="http://schemas.openxmlformats.org/officeDocument/2006/relationships/image" Target="/ppt/media/image3.png" Id="R64c18456ee9d4d71" /><Relationship Type="http://schemas.openxmlformats.org/officeDocument/2006/relationships/image" Target="/ppt/media/image6.png" Id="R0aca6b82bac64afe" /><Relationship Type="http://schemas.openxmlformats.org/officeDocument/2006/relationships/image" Target="/ppt/media/image4.png" Id="R460633d84977445e" /><Relationship Type="http://schemas.openxmlformats.org/officeDocument/2006/relationships/image" Target="/ppt/media/image7.png" Id="R4a4103d0fcec454a" /><Relationship Type="http://schemas.openxmlformats.org/officeDocument/2006/relationships/image" Target="/ppt/media/image10.png" Id="Re998c34a42a041e6" /><Relationship Type="http://schemas.openxmlformats.org/officeDocument/2006/relationships/notesSlide" Target="/ppt/notesSlides/notesSlide7.xml" Id="R46f310f2f5a042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7c8598b874b35" /><Relationship Type="http://schemas.openxmlformats.org/officeDocument/2006/relationships/image" Target="/ppt/media/image11.png" Id="R115c31434df74a4a" /><Relationship Type="http://schemas.openxmlformats.org/officeDocument/2006/relationships/notesSlide" Target="/ppt/notesSlides/notesSlide8.xml" Id="R7a0f5970393442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007a0cc6a40cb" /><Relationship Type="http://schemas.openxmlformats.org/officeDocument/2006/relationships/image" Target="/ppt/media/image12.png" Id="Rac6e54e552014e0f" /><Relationship Type="http://schemas.openxmlformats.org/officeDocument/2006/relationships/image" Target="/ppt/media/image13.png" Id="R97597495854b407d" /><Relationship Type="http://schemas.openxmlformats.org/officeDocument/2006/relationships/notesSlide" Target="/ppt/notesSlides/notesSlide9.xml" Id="Ra7206bd8824d4a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13553428347a0" /><Relationship Type="http://schemas.openxmlformats.org/officeDocument/2006/relationships/image" Target="/ppt/media/image6.png" Id="R8f629cb11c0f4d3c" /><Relationship Type="http://schemas.openxmlformats.org/officeDocument/2006/relationships/image" Target="/ppt/media/image14.png" Id="Rc6db5f5495734229" /><Relationship Type="http://schemas.openxmlformats.org/officeDocument/2006/relationships/image" Target="/ppt/media/image15.png" Id="R0fe502bc9bfa4b0d" /><Relationship Type="http://schemas.openxmlformats.org/officeDocument/2006/relationships/notesSlide" Target="/ppt/notesSlides/notesSlide10.xml" Id="R4fa2ba1a270a47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123d7d10f434e" /><Relationship Type="http://schemas.openxmlformats.org/officeDocument/2006/relationships/image" Target="/ppt/media/image16.png" Id="Rd68c17f20a2b4794" /><Relationship Type="http://schemas.openxmlformats.org/officeDocument/2006/relationships/image" Target="/ppt/media/image17.png" Id="R30a143d14eea4767" /><Relationship Type="http://schemas.openxmlformats.org/officeDocument/2006/relationships/notesSlide" Target="/ppt/notesSlides/notesSlide11.xml" Id="Re368a77d258540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d2be0b8a492d" /><Relationship Type="http://schemas.openxmlformats.org/officeDocument/2006/relationships/notesSlide" Target="/ppt/notesSlides/notesSlide12.xml" Id="R50a2ca56019749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e901a59c1470e" /><Relationship Type="http://schemas.openxmlformats.org/officeDocument/2006/relationships/image" Target="/ppt/media/image3.png" Id="R0705c0749322423a" /><Relationship Type="http://schemas.openxmlformats.org/officeDocument/2006/relationships/image" Target="/ppt/media/image18.png" Id="Rff59d66ffb73440e" /><Relationship Type="http://schemas.openxmlformats.org/officeDocument/2006/relationships/image" Target="/ppt/media/image19.png" Id="R549012e566dc48b7" /><Relationship Type="http://schemas.openxmlformats.org/officeDocument/2006/relationships/notesSlide" Target="/ppt/notesSlides/notesSlide13.xml" Id="Ra843baa6d9424b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a10c1452241bd" /><Relationship Type="http://schemas.openxmlformats.org/officeDocument/2006/relationships/notesSlide" Target="/ppt/notesSlides/notesSlide14.xml" Id="R5e7334c5664240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081d2ab7449e2" /><Relationship Type="http://schemas.openxmlformats.org/officeDocument/2006/relationships/image" Target="/ppt/media/image20.png" Id="R03144587115d4605" /><Relationship Type="http://schemas.openxmlformats.org/officeDocument/2006/relationships/notesSlide" Target="/ppt/notesSlides/notesSlide15.xml" Id="R151e6e09665e4e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8b59e18d849ff" /><Relationship Type="http://schemas.openxmlformats.org/officeDocument/2006/relationships/image" Target="/ppt/media/image21.png" Id="R4b32e01376664129" /><Relationship Type="http://schemas.openxmlformats.org/officeDocument/2006/relationships/notesSlide" Target="/ppt/notesSlides/notesSlide16.xml" Id="Rfb70107173184a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a2814863f4123" /><Relationship Type="http://schemas.openxmlformats.org/officeDocument/2006/relationships/image" Target="/ppt/media/image22.png" Id="R90f732ebcfaa48fe" /><Relationship Type="http://schemas.openxmlformats.org/officeDocument/2006/relationships/notesSlide" Target="/ppt/notesSlides/notesSlide17.xml" Id="R0d00165596124b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f153e2264984" /><Relationship Type="http://schemas.openxmlformats.org/officeDocument/2006/relationships/image" Target="/ppt/media/image23.png" Id="R71231cab76ce4376" /><Relationship Type="http://schemas.openxmlformats.org/officeDocument/2006/relationships/notesSlide" Target="/ppt/notesSlides/notesSlide18.xml" Id="R494f56e1e65e4d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a6b19d30b447c" /><Relationship Type="http://schemas.openxmlformats.org/officeDocument/2006/relationships/image" Target="/ppt/media/image24.png" Id="R33e955360b8b487c" /><Relationship Type="http://schemas.openxmlformats.org/officeDocument/2006/relationships/notesSlide" Target="/ppt/notesSlides/notesSlide19.xml" Id="R528853ffbc2e4b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668675fce4bb7" /><Relationship Type="http://schemas.openxmlformats.org/officeDocument/2006/relationships/image" Target="/ppt/media/image25.png" Id="R94d7a376363548e9" /><Relationship Type="http://schemas.openxmlformats.org/officeDocument/2006/relationships/notesSlide" Target="/ppt/notesSlides/notesSlide20.xml" Id="Rb716033f82e841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322fb0f2b4715" /><Relationship Type="http://schemas.openxmlformats.org/officeDocument/2006/relationships/image" Target="/ppt/media/image26.png" Id="R3ec0266f0eed4abd" /><Relationship Type="http://schemas.openxmlformats.org/officeDocument/2006/relationships/notesSlide" Target="/ppt/notesSlides/notesSlide21.xml" Id="R68e82a5ffe3c45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Google Shape;1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70aa957b5b4f38">
            <a:alphaModFix/>
          </a:blip>
          <a:srcRect xmlns:a="http://schemas.openxmlformats.org/drawingml/2006/main" l="0" t="7813" r="0" b="78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18159B27-5908-46E1-9095-843125E8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57300"/>
            <a:ext cx="523875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07162B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71450" dist="57150" dir="5400000">
              <a:srgbClr val="000000">
                <a:alpha val="16078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1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86d1ee2da441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982" y="1457325"/>
            <a:ext cx="1522037" cy="1619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20B6A8B6-CC76-46F8-B913-736E766F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350" b="1" i="0">
                <a:solidFill>
                  <a:srgbClr val="F4F8FC"/>
                </a:solidFill>
              </a:rPr>
              <a:t>SIGDE</a:t>
            </a:r>
            <a:endParaRPr/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C9B2B5F4-B1E1-4AD7-9578-70FB917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85D8F0"/>
                </a:solidFill>
              </a:rPr>
              <a:t>SISTEMA DE GESTIÓN DIGITAL ESCOLAR</a:t>
            </a:r>
            <a:endParaRPr/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C707EE64-D124-4CE7-8C63-9B89E3B9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F4F8FC"/>
                </a:solidFill>
              </a:rPr>
              <a:t>Registro, seguimiento y análisis de convivencia en tiempo real.</a:t>
            </a:r>
            <a:endParaRPr/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A433987D-2CCD-4CFE-9B50-6975C3A8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2857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58D8EF5F-4504-4766-BC34-3520FEE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4F8FC"/>
                </a:solidFill>
              </a:rPr>
              <a:t>PROYECTO ESCOLAR · GRADO 11 · 2026</a:t>
            </a:r>
            <a:endParaRPr/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9EFAB1C2-D9ED-4258-87C4-E31823A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F4F8FC"/>
                </a:solidFill>
              </a:rPr>
              <a:t>Alejandro Hurtado</a:t>
            </a:r>
            <a:endParaRPr/>
          </a:p>
        </p:txBody>
      </p:sp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244F707C-D941-47E6-8128-C502308E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I.E.T.I. Rafael Navia Varón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4013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2">
            <a:extLst xmlns:a="http://schemas.openxmlformats.org/drawingml/2006/main">
              <a:ext uri="{FF2B5EF4-FFF2-40B4-BE49-F238E27FC236}">
                <a16:creationId xmlns:a16="http://schemas.microsoft.com/office/drawing/2014/main" id="{F5A89C90-ECAB-4190-8C18-F2B40DD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02</a:t>
            </a:r>
            <a:endParaRPr/>
          </a:p>
        </p:txBody>
      </p:sp>
      <p:sp>
        <p:nvSpPr>
          <p:cNvPr id="32" name="Google Shape;32;p2">
            <a:extLst xmlns:a="http://schemas.openxmlformats.org/drawingml/2006/main">
              <a:ext uri="{FF2B5EF4-FFF2-40B4-BE49-F238E27FC236}">
                <a16:creationId xmlns:a16="http://schemas.microsoft.com/office/drawing/2014/main" id="{85928C84-6B92-4D37-B55B-6332675E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4F8FC"/>
                </a:solidFill>
              </a:rPr>
              <a:t>SIGDE convierte la gestión escolar en un flujo</a:t>
            </a:r>
            <a:endParaRPr/>
          </a:p>
        </p:txBody>
      </p:sp>
      <p:sp>
        <p:nvSpPr>
          <p:cNvPr id="33" name="Google Shape;33;p2">
            <a:extLst xmlns:a="http://schemas.openxmlformats.org/drawingml/2006/main">
              <a:ext uri="{FF2B5EF4-FFF2-40B4-BE49-F238E27FC236}">
                <a16:creationId xmlns:a16="http://schemas.microsoft.com/office/drawing/2014/main" id="{4271C2BA-893C-40DF-A632-3E527B5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Una plataforma web para organizar convivencia, salidas, comunicaciones y seguridad por roles.</a:t>
            </a:r>
            <a:endParaRPr/>
          </a:p>
        </p:txBody>
      </p:sp>
      <p:cxnSp>
        <p:nvCxnSpPr>
          <p:cNvPr id="55" name="Google Shape;34;p2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2">
            <a:extLst xmlns:a="http://schemas.openxmlformats.org/drawingml/2006/main">
              <a:ext uri="{FF2B5EF4-FFF2-40B4-BE49-F238E27FC236}">
                <a16:creationId xmlns:a16="http://schemas.microsoft.com/office/drawing/2014/main" id="{83E67E08-8069-462D-828A-B8F46799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9525" cmpd="sng">
            <a:solidFill>
              <a:srgbClr val="39C4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>
            <a:extLst xmlns:a="http://schemas.openxmlformats.org/drawingml/2006/main">
              <a:ext uri="{FF2B5EF4-FFF2-40B4-BE49-F238E27FC236}">
                <a16:creationId xmlns:a16="http://schemas.microsoft.com/office/drawing/2014/main" id="{E0561D28-5803-41CE-9EDB-E21683B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Centraliza la información</a:t>
            </a:r>
            <a:endParaRPr/>
          </a:p>
        </p:txBody>
      </p:sp>
      <p:sp>
        <p:nvSpPr>
          <p:cNvPr id="37" name="Google Shape;37;p2">
            <a:extLst xmlns:a="http://schemas.openxmlformats.org/drawingml/2006/main">
              <a:ext uri="{FF2B5EF4-FFF2-40B4-BE49-F238E27FC236}">
                <a16:creationId xmlns:a16="http://schemas.microsoft.com/office/drawing/2014/main" id="{370B4837-D4F7-42EA-9EBF-8FF1801F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Reúne reportes, estudiantes, usuarios, salidas y comunicaciones en un solo sistema.</a:t>
            </a:r>
            <a:endParaRPr/>
          </a:p>
        </p:txBody>
      </p:sp>
      <p:sp>
        <p:nvSpPr>
          <p:cNvPr id="38" name="Google Shape;38;p2">
            <a:extLst xmlns:a="http://schemas.openxmlformats.org/drawingml/2006/main">
              <a:ext uri="{FF2B5EF4-FFF2-40B4-BE49-F238E27FC236}">
                <a16:creationId xmlns:a16="http://schemas.microsoft.com/office/drawing/2014/main" id="{F87C4994-E120-4F66-B53E-85A93551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9525" cmpd="sng">
            <a:solidFill>
              <a:srgbClr val="2B88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B8FF0CD8-C876-4C07-A692-15E2549C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Asigna acceso según el rol</a:t>
            </a:r>
            <a:endParaRPr/>
          </a:p>
        </p:txBody>
      </p:sp>
      <p:sp>
        <p:nvSpPr>
          <p:cNvPr id="40" name="Google Shape;40;p2">
            <a:extLst xmlns:a="http://schemas.openxmlformats.org/drawingml/2006/main">
              <a:ext uri="{FF2B5EF4-FFF2-40B4-BE49-F238E27FC236}">
                <a16:creationId xmlns:a16="http://schemas.microsoft.com/office/drawing/2014/main" id="{313DB949-03C4-489D-AB7A-A38F9454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Coordinador, Docente y Portería ven únicamente las funciones necesarias para su trabajo.</a:t>
            </a:r>
            <a:endParaRPr/>
          </a:p>
        </p:txBody>
      </p:sp>
      <p:sp>
        <p:nvSpPr>
          <p:cNvPr id="41" name="Google Shape;41;p2">
            <a:extLst xmlns:a="http://schemas.openxmlformats.org/drawingml/2006/main">
              <a:ext uri="{FF2B5EF4-FFF2-40B4-BE49-F238E27FC236}">
                <a16:creationId xmlns:a16="http://schemas.microsoft.com/office/drawing/2014/main" id="{E061665C-48FC-4AA7-B6B1-424C0BCB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9525" cmpd="sng">
            <a:solidFill>
              <a:srgbClr val="41C3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6804F97B-EC01-47BD-8AAC-A86490FB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Conserva evidencia</a:t>
            </a:r>
            <a:endParaRPr/>
          </a:p>
        </p:txBody>
      </p:sp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050834E2-5203-4364-9E52-2785D729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Registra estados, responsables y movimientos para facilitar el seguimiento institucional.</a:t>
            </a:r>
            <a:endParaRPr/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DFCE0D47-DFC2-4BF6-A82C-2C002E1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524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6A693682-73A7-4D35-8879-E6A74D1D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3181200" cy="66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85D8F0"/>
                </a:solidFill>
              </a:rPr>
              <a:t>Las alertas se basan en umbrales configurables; no se presentan como inteligencia artificial.</a:t>
            </a:r>
            <a:endParaRPr/>
          </a:p>
        </p:txBody>
      </p:sp>
      <p:sp>
        <p:nvSp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F5A4C3F9-70CB-4ABB-982B-C8B2A18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76425"/>
            <a:ext cx="6962775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4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bf8ff75f5a4786">
            <a:alphaModFix/>
          </a:blip>
          <a:srcRect xmlns:a="http://schemas.openxmlformats.org/drawingml/2006/main" l="5559" t="0" r="5559" b="0"/>
          <a:stretch xmlns:a="http://schemas.openxmlformats.org/drawingml/2006/main"/>
        </p:blipFill>
        <p:spPr>
          <a:xfrm xmlns:a="http://schemas.openxmlformats.org/drawingml/2006/main">
            <a:off x="4714875" y="1905000"/>
            <a:ext cx="6905625" cy="3714750"/>
          </a:xfrm>
          <a:prstGeom xmlns:a="http://schemas.openxmlformats.org/drawingml/2006/main" prst="roundRect">
            <a:avLst>
              <a:gd name="adj" fmla="val 4615"/>
            </a:avLst>
          </a:prstGeom>
          <a:ln xmlns:a="http://schemas.openxmlformats.org/drawingml/2006/main">
            <a:noFill/>
          </a:ln>
        </p:spPr>
      </p:pic>
      <p:cxnSp>
        <p:nvCxnSpPr>
          <p:cNvPr id="69" name="Google Shape;48;p2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F65BEEBE-18E3-497D-83F7-079137C0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3F26EFBC-26BC-4810-9A2E-BEB7527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5684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61C1FE76-0639-4035-AD31-8C13BB64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03</a:t>
            </a:r>
            <a:endParaRPr/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B49B99B3-9F35-4961-A570-260DAA2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4F8FC"/>
                </a:solidFill>
              </a:rPr>
              <a:t>El problema no era registrar más, sino conectar el proceso</a:t>
            </a:r>
            <a:endParaRPr/>
          </a:p>
        </p:txBody>
      </p:sp>
      <p:sp>
        <p:nvSpPr>
          <p:cNvPr id="58" name="Google Shape;58;p3">
            <a:extLst xmlns:a="http://schemas.openxmlformats.org/drawingml/2006/main">
              <a:ext uri="{FF2B5EF4-FFF2-40B4-BE49-F238E27FC236}">
                <a16:creationId xmlns:a16="http://schemas.microsoft.com/office/drawing/2014/main" id="{0F8594C6-259D-4FBE-83D3-7D623B92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SIGDE responde a tres dificultades observadas en la gestión disciplinaria y operativa.</a:t>
            </a:r>
            <a:endParaRPr/>
          </a:p>
        </p:txBody>
      </p:sp>
      <p:cxnSp>
        <p:nvCxnSpPr>
          <p:cNvPr id="83" name="Google Shape;59;p3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3">
            <a:extLst xmlns:a="http://schemas.openxmlformats.org/drawingml/2006/main">
              <a:ext uri="{FF2B5EF4-FFF2-40B4-BE49-F238E27FC236}">
                <a16:creationId xmlns:a16="http://schemas.microsoft.com/office/drawing/2014/main" id="{CA3F54CE-227F-40CB-ADD4-1D7938E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5B94C"/>
                </a:solidFill>
              </a:rPr>
              <a:t>Información dispersa</a:t>
            </a:r>
            <a:endParaRPr/>
          </a:p>
        </p:txBody>
      </p:sp>
      <p:sp>
        <p:nvSpPr>
          <p:cNvPr id="61" name="Google Shape;61;p3">
            <a:extLst xmlns:a="http://schemas.openxmlformats.org/drawingml/2006/main">
              <a:ext uri="{FF2B5EF4-FFF2-40B4-BE49-F238E27FC236}">
                <a16:creationId xmlns:a16="http://schemas.microsoft.com/office/drawing/2014/main" id="{48B42071-6B33-41E3-9C6F-0674B788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609600" cy="228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5B94C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>
            <a:extLst xmlns:a="http://schemas.openxmlformats.org/drawingml/2006/main">
              <a:ext uri="{FF2B5EF4-FFF2-40B4-BE49-F238E27FC236}">
                <a16:creationId xmlns:a16="http://schemas.microsoft.com/office/drawing/2014/main" id="{B4EC5DE7-06FB-49DA-8DF6-C82F2F48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Un solo registro digital por estudiante, hecho y responsable.</a:t>
            </a:r>
            <a:endParaRPr/>
          </a:p>
        </p:txBody>
      </p:sp>
      <p:cxnSp>
        <p:nvCxnSpPr>
          <p:cNvPr id="87" name="Google Shape;63;p3"/>
          <p:cNvCxnSpPr/>
          <p:nvPr/>
        </p:nvCxnSpPr>
        <p:spPr>
          <a:xfrm xmlns:a="http://schemas.openxmlformats.org/drawingml/2006/main">
            <a:off x="666750" y="2809875"/>
            <a:ext cx="6781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AAE9B59E-CB45-4144-B50F-B046A54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4F8FC"/>
                </a:solidFill>
              </a:rPr>
              <a:t>Seguimiento manual</a:t>
            </a:r>
            <a:endParaRPr/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2ABDC9E4-9344-44B2-974D-6E8C11B0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609600" cy="228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08D46D44-DED7-4A84-9510-61A562F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765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Estados, filtros, evidencias y auditoría para reconstruir cada caso.</a:t>
            </a:r>
            <a:endParaRPr/>
          </a:p>
        </p:txBody>
      </p:sp>
      <p:cxnSp>
        <p:nvCxnSpPr>
          <p:cNvPr id="91" name="Google Shape;67;p3"/>
          <p:cNvCxnSpPr/>
          <p:nvPr/>
        </p:nvCxnSpPr>
        <p:spPr>
          <a:xfrm xmlns:a="http://schemas.openxmlformats.org/drawingml/2006/main">
            <a:off x="666750" y="3933825"/>
            <a:ext cx="6781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69742D3C-ABF8-4AFE-993C-938BAD38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4F8FC"/>
                </a:solidFill>
              </a:rPr>
              <a:t>Acceso poco diferenciado</a:t>
            </a:r>
            <a:endParaRPr/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2081E39F-E66C-4A3C-AFDE-87C7594F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67200"/>
            <a:ext cx="609600" cy="228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47FA1BB4-CF8D-43F5-A7B0-B4E8A7FC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005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Permisos por rol y módulos específicos para cada responsabilidad.</a:t>
            </a:r>
            <a:endParaRPr/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7B41128A-CBF0-4509-9BE0-37F0749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43100"/>
            <a:ext cx="38671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72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9f5710cc9c438b">
            <a:alphaModFix/>
          </a:blip>
          <a:srcRect xmlns:a="http://schemas.openxmlformats.org/drawingml/2006/main" l="22205" t="0" r="22205" b="0"/>
          <a:stretch xmlns:a="http://schemas.openxmlformats.org/drawingml/2006/main"/>
        </p:blipFill>
        <p:spPr>
          <a:xfrm xmlns:a="http://schemas.openxmlformats.org/drawingml/2006/main">
            <a:off x="7810500" y="1971675"/>
            <a:ext cx="3810000" cy="3276600"/>
          </a:xfrm>
          <a:prstGeom xmlns:a="http://schemas.openxmlformats.org/drawingml/2006/main" prst="roundRect">
            <a:avLst>
              <a:gd name="adj" fmla="val 5233"/>
            </a:avLst>
          </a:prstGeom>
          <a:ln xmlns:a="http://schemas.openxmlformats.org/drawingml/2006/main">
            <a:noFill/>
          </a:ln>
        </p:spPr>
      </p:pic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1CAD552C-48B0-4EC2-9AAE-41CA2CFE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810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114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89BDEE06-2CF6-4933-86A3-D94BAFE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189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39C4E6"/>
                </a:solidFill>
              </a:rPr>
              <a:t>Resultado esperado</a:t>
            </a:r>
            <a:endParaRPr/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C8EC15CA-F02F-4CF5-962C-45B6444F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38800"/>
            <a:ext cx="33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F4F8FC"/>
                </a:solidFill>
              </a:rPr>
              <a:t>Menos pérdida de contexto y decisiones mejor documentadas.</a:t>
            </a:r>
            <a:endParaRPr/>
          </a:p>
        </p:txBody>
      </p:sp>
      <p:cxnSp>
        <p:nvCxnSpPr>
          <p:cNvPr id="100" name="Google Shape;76;p3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A95E5732-98CE-4179-8AB2-2D91B53C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ABDFA40C-10D7-4163-B08C-4E1820C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5318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4">
            <a:extLst xmlns:a="http://schemas.openxmlformats.org/drawingml/2006/main">
              <a:ext uri="{FF2B5EF4-FFF2-40B4-BE49-F238E27FC236}">
                <a16:creationId xmlns:a16="http://schemas.microsoft.com/office/drawing/2014/main" id="{6F7F3F20-3097-4C32-B85B-229F8CFA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04</a:t>
            </a:r>
            <a:endParaRPr/>
          </a:p>
        </p:txBody>
      </p:sp>
      <p:sp>
        <p:nvSpPr>
          <p:cNvPr id="85" name="Google Shape;85;p4">
            <a:extLst xmlns:a="http://schemas.openxmlformats.org/drawingml/2006/main">
              <a:ext uri="{FF2B5EF4-FFF2-40B4-BE49-F238E27FC236}">
                <a16:creationId xmlns:a16="http://schemas.microsoft.com/office/drawing/2014/main" id="{FC8A9D02-1ABF-4D00-9780-2C764863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8FC"/>
                </a:solidFill>
              </a:rPr>
              <a:t>Diseño</a:t>
            </a:r>
            <a:endParaRPr/>
          </a:p>
        </p:txBody>
      </p:sp>
      <p:sp>
        <p:nvSpPr>
          <p:cNvPr id="86" name="Google Shape;86;p4">
            <a:extLst xmlns:a="http://schemas.openxmlformats.org/drawingml/2006/main">
              <a:ext uri="{FF2B5EF4-FFF2-40B4-BE49-F238E27FC236}">
                <a16:creationId xmlns:a16="http://schemas.microsoft.com/office/drawing/2014/main" id="{9C551A9E-F3A6-47BA-9DE8-AB3F947C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La identidad visual nace del login y se mantiene en los paneles de trabajo.</a:t>
            </a:r>
            <a:endParaRPr/>
          </a:p>
        </p:txBody>
      </p:sp>
      <p:cxnSp>
        <p:nvCxnSpPr>
          <p:cNvPr id="121" name="Google Shape;87;p4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2" name="Google Shape;88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0ef554ef8048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000250"/>
            <a:ext cx="2286000" cy="2286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4">
            <a:extLst xmlns:a="http://schemas.openxmlformats.org/drawingml/2006/main">
              <a:ext uri="{FF2B5EF4-FFF2-40B4-BE49-F238E27FC236}">
                <a16:creationId xmlns:a16="http://schemas.microsoft.com/office/drawing/2014/main" id="{60F993FE-1F0D-42F2-B5BB-80E07370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8075"/>
            <a:ext cx="22860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4F8FC"/>
                </a:solidFill>
              </a:rPr>
              <a:t>Libro abierto + circuitos</a:t>
            </a:r>
            <a:endParaRPr/>
          </a:p>
        </p:txBody>
      </p:sp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D4EFE2AA-243B-4E19-AAAA-B2AE0E7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Educación, tecnología y trazabilidad en una sola marca.</a:t>
            </a:r>
            <a:endParaRPr/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F5277504-F33A-4C40-B739-6EDD1D1D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7162B"/>
          </a:solidFill>
          <a:ln xmlns:a="http://schemas.openxmlformats.org/drawingml/2006/main" w="11425" cmpd="sng">
            <a:solidFill>
              <a:srgbClr val="0716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>
            <a:extLst xmlns:a="http://schemas.openxmlformats.org/drawingml/2006/main">
              <a:ext uri="{FF2B5EF4-FFF2-40B4-BE49-F238E27FC236}">
                <a16:creationId xmlns:a16="http://schemas.microsoft.com/office/drawing/2014/main" id="{8329669D-2064-4599-A379-E8129013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#0A1628</a:t>
            </a:r>
            <a:endParaRPr/>
          </a:p>
        </p:txBody>
      </p:sp>
      <p:sp>
        <p:nvSpPr>
          <p:cNvPr id="93" name="Google Shape;93;p4">
            <a:extLst xmlns:a="http://schemas.openxmlformats.org/drawingml/2006/main">
              <a:ext uri="{FF2B5EF4-FFF2-40B4-BE49-F238E27FC236}">
                <a16:creationId xmlns:a16="http://schemas.microsoft.com/office/drawing/2014/main" id="{959C8ADB-02E0-45DB-AED8-FD2B77A6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Base / navegación</a:t>
            </a:r>
            <a:endParaRPr/>
          </a:p>
        </p:txBody>
      </p:sp>
      <p:sp>
        <p:nvSpPr>
          <p:cNvPr id="94" name="Google Shape;94;p4">
            <a:extLst xmlns:a="http://schemas.openxmlformats.org/drawingml/2006/main">
              <a:ext uri="{FF2B5EF4-FFF2-40B4-BE49-F238E27FC236}">
                <a16:creationId xmlns:a16="http://schemas.microsoft.com/office/drawing/2014/main" id="{60B0085E-D596-4C02-BC40-4112AA0D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114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>
            <a:extLst xmlns:a="http://schemas.openxmlformats.org/drawingml/2006/main">
              <a:ext uri="{FF2B5EF4-FFF2-40B4-BE49-F238E27FC236}">
                <a16:creationId xmlns:a16="http://schemas.microsoft.com/office/drawing/2014/main" id="{41FD1932-6411-4169-99D2-D5E58665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#1F6FB8</a:t>
            </a:r>
            <a:endParaRPr/>
          </a:p>
        </p:txBody>
      </p:sp>
      <p:sp>
        <p:nvSpPr>
          <p:cNvPr id="96" name="Google Shape;96;p4">
            <a:extLst xmlns:a="http://schemas.openxmlformats.org/drawingml/2006/main">
              <a:ext uri="{FF2B5EF4-FFF2-40B4-BE49-F238E27FC236}">
                <a16:creationId xmlns:a16="http://schemas.microsoft.com/office/drawing/2014/main" id="{9AF1BC74-105C-4D2E-B778-7197599B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Acciones principales</a:t>
            </a:r>
            <a:endParaRPr/>
          </a:p>
        </p:txBody>
      </p:sp>
      <p:sp>
        <p:nvSpPr>
          <p:cNvPr id="97" name="Google Shape;97;p4">
            <a:extLst xmlns:a="http://schemas.openxmlformats.org/drawingml/2006/main">
              <a:ext uri="{FF2B5EF4-FFF2-40B4-BE49-F238E27FC236}">
                <a16:creationId xmlns:a16="http://schemas.microsoft.com/office/drawing/2014/main" id="{99A617FF-B1AF-461C-B306-05F76AEB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39C4E6"/>
          </a:solidFill>
          <a:ln xmlns:a="http://schemas.openxmlformats.org/drawingml/2006/main" w="11425" cmpd="sng">
            <a:solidFill>
              <a:srgbClr val="39C4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>
            <a:extLst xmlns:a="http://schemas.openxmlformats.org/drawingml/2006/main">
              <a:ext uri="{FF2B5EF4-FFF2-40B4-BE49-F238E27FC236}">
                <a16:creationId xmlns:a16="http://schemas.microsoft.com/office/drawing/2014/main" id="{83320ED3-DC59-49AA-8A2B-EA7AAB52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#39C4E6</a:t>
            </a:r>
            <a:endParaRPr/>
          </a:p>
        </p:txBody>
      </p:sp>
      <p:sp>
        <p:nvSpPr>
          <p:cNvPr id="99" name="Google Shape;99;p4">
            <a:extLst xmlns:a="http://schemas.openxmlformats.org/drawingml/2006/main">
              <a:ext uri="{FF2B5EF4-FFF2-40B4-BE49-F238E27FC236}">
                <a16:creationId xmlns:a16="http://schemas.microsoft.com/office/drawing/2014/main" id="{6B838897-F1E9-4344-936F-58DAF351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Acentos y estados</a:t>
            </a:r>
            <a:endParaRPr/>
          </a:p>
        </p:txBody>
      </p:sp>
      <p:sp>
        <p:nvSpPr>
          <p:cNvPr id="100" name="Google Shape;100;p4">
            <a:extLst xmlns:a="http://schemas.openxmlformats.org/drawingml/2006/main">
              <a:ext uri="{FF2B5EF4-FFF2-40B4-BE49-F238E27FC236}">
                <a16:creationId xmlns:a16="http://schemas.microsoft.com/office/drawing/2014/main" id="{DEAE6D8E-86C2-4861-95F9-DA049BB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>
            <a:extLst xmlns:a="http://schemas.openxmlformats.org/drawingml/2006/main">
              <a:ext uri="{FF2B5EF4-FFF2-40B4-BE49-F238E27FC236}">
                <a16:creationId xmlns:a16="http://schemas.microsoft.com/office/drawing/2014/main" id="{26F6D335-FD41-4EB3-8D82-474EA33F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#EAF2FA</a:t>
            </a:r>
            <a:endParaRPr/>
          </a:p>
        </p:txBody>
      </p:sp>
      <p:sp>
        <p:nvSpPr>
          <p:cNvPr id="102" name="Google Shape;102;p4">
            <a:extLst xmlns:a="http://schemas.openxmlformats.org/drawingml/2006/main">
              <a:ext uri="{FF2B5EF4-FFF2-40B4-BE49-F238E27FC236}">
                <a16:creationId xmlns:a16="http://schemas.microsoft.com/office/drawing/2014/main" id="{978834CE-113E-44E4-BB43-FC0E804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Contraste y lectura</a:t>
            </a:r>
            <a:endParaRPr/>
          </a:p>
        </p:txBody>
      </p:sp>
      <p:sp>
        <p:nvSpPr>
          <p:cNvPr id="103" name="Google Shape;103;p4">
            <a:extLst xmlns:a="http://schemas.openxmlformats.org/drawingml/2006/main">
              <a:ext uri="{FF2B5EF4-FFF2-40B4-BE49-F238E27FC236}">
                <a16:creationId xmlns:a16="http://schemas.microsoft.com/office/drawing/2014/main" id="{5BB6239B-557C-4EDA-AA5F-634DA21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5B94C"/>
          </a:solidFill>
          <a:ln xmlns:a="http://schemas.openxmlformats.org/drawingml/2006/main" w="114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8CA2D22D-D74C-435C-90D7-C7B5B92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#F5B94C</a:t>
            </a:r>
            <a:endParaRPr/>
          </a:p>
        </p:txBody>
      </p:sp>
      <p:sp>
        <p:nvSpPr>
          <p:cNvPr id="105" name="Google Shape;105;p4">
            <a:extLst xmlns:a="http://schemas.openxmlformats.org/drawingml/2006/main">
              <a:ext uri="{FF2B5EF4-FFF2-40B4-BE49-F238E27FC236}">
                <a16:creationId xmlns:a16="http://schemas.microsoft.com/office/drawing/2014/main" id="{67BD9B31-AA42-4A5A-A1A7-91B8E508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Alertas y atención</a:t>
            </a:r>
            <a:endParaRPr/>
          </a:p>
        </p:txBody>
      </p:sp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477BA289-C0A3-41EE-8D3A-CAB81111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639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5E01701F-1FB8-4063-9225-3FBBDFD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69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25" b="1" i="0">
                <a:solidFill>
                  <a:srgbClr val="F4F8FC"/>
                </a:solidFill>
              </a:rPr>
              <a:t>Principios visuales</a:t>
            </a:r>
            <a:endParaRPr/>
          </a:p>
        </p:txBody>
      </p: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6741A1CF-5430-471E-9B8D-8AADB468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91063"/>
            <a:ext cx="17145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39C4E6"/>
                </a:solidFill>
              </a:rPr>
              <a:t>Contraste alto</a:t>
            </a:r>
            <a:endParaRPr/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55779057-34FE-45CC-BBB5-23F313C1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14900"/>
            <a:ext cx="20001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Fondos oscuros y texto claro.</a:t>
            </a:r>
            <a:endParaRPr/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36EE40C9-8297-41B5-8AC1-7FB7186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91063"/>
            <a:ext cx="17145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39C4E6"/>
                </a:solidFill>
              </a:rPr>
              <a:t>Jerarquía simple</a:t>
            </a:r>
            <a:endParaRPr/>
          </a:p>
        </p:txBody>
      </p:sp>
      <p:sp>
        <p:nvSpPr>
          <p:cNvPr id="111" name="Google Shape;111;p4">
            <a:extLst xmlns:a="http://schemas.openxmlformats.org/drawingml/2006/main">
              <a:ext uri="{FF2B5EF4-FFF2-40B4-BE49-F238E27FC236}">
                <a16:creationId xmlns:a16="http://schemas.microsoft.com/office/drawing/2014/main" id="{D27A3775-8D46-4593-ACEE-6C443595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825" y="4914900"/>
            <a:ext cx="20955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Títulos, acciones y estados visibles.</a:t>
            </a:r>
            <a:endParaRPr/>
          </a:p>
        </p:txBody>
      </p:sp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774A0694-FEB4-4A98-AC8C-7219635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50" y="4691113"/>
            <a:ext cx="17145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>
                <a:solidFill>
                  <a:srgbClr val="39C4E6"/>
                </a:solidFill>
              </a:rPr>
              <a:t>Lenguaje humano</a:t>
            </a:r>
            <a:endParaRPr/>
          </a:p>
        </p:txBody>
      </p:sp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412601D5-1965-455E-B85C-B03EE272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50" y="4914900"/>
            <a:ext cx="20955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Mensajes directos para la comunidad.</a:t>
            </a:r>
            <a:endParaRPr/>
          </a:p>
        </p:txBody>
      </p:sp>
      <p:cxnSp>
        <p:nvCxnSpPr>
          <p:cNvPr id="148" name="Google Shape;114;p4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4">
            <a:extLst xmlns:a="http://schemas.openxmlformats.org/drawingml/2006/main">
              <a:ext uri="{FF2B5EF4-FFF2-40B4-BE49-F238E27FC236}">
                <a16:creationId xmlns:a16="http://schemas.microsoft.com/office/drawing/2014/main" id="{25E6C327-D7D2-4FD3-956A-51EF41B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116" name="Google Shape;116;p4">
            <a:extLst xmlns:a="http://schemas.openxmlformats.org/drawingml/2006/main">
              <a:ext uri="{FF2B5EF4-FFF2-40B4-BE49-F238E27FC236}">
                <a16:creationId xmlns:a16="http://schemas.microsoft.com/office/drawing/2014/main" id="{AEFDFB1A-E2C8-4646-BE05-63CE267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0841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5">
            <a:extLst xmlns:a="http://schemas.openxmlformats.org/drawingml/2006/main">
              <a:ext uri="{FF2B5EF4-FFF2-40B4-BE49-F238E27FC236}">
                <a16:creationId xmlns:a16="http://schemas.microsoft.com/office/drawing/2014/main" id="{981C7FEE-E0CF-4B5D-A844-AF34AE8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05</a:t>
            </a:r>
            <a:endParaRPr/>
          </a:p>
        </p:txBody>
      </p:sp>
      <p:sp>
        <p:nvSpPr>
          <p:cNvPr id="123" name="Google Shape;123;p5">
            <a:extLst xmlns:a="http://schemas.openxmlformats.org/drawingml/2006/main">
              <a:ext uri="{FF2B5EF4-FFF2-40B4-BE49-F238E27FC236}">
                <a16:creationId xmlns:a16="http://schemas.microsoft.com/office/drawing/2014/main" id="{0E7DED1D-D848-4CB5-BA38-AF949E9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8FC"/>
                </a:solidFill>
              </a:rPr>
              <a:t>Estructura Principal</a:t>
            </a:r>
            <a:endParaRPr/>
          </a:p>
        </p:txBody>
      </p:sp>
      <p:sp>
        <p:nvSpPr>
          <p:cNvPr id="124" name="Google Shape;124;p5">
            <a:extLst xmlns:a="http://schemas.openxmlformats.org/drawingml/2006/main">
              <a:ext uri="{FF2B5EF4-FFF2-40B4-BE49-F238E27FC236}">
                <a16:creationId xmlns:a16="http://schemas.microsoft.com/office/drawing/2014/main" id="{7B6A9F0C-A45E-4B21-93CF-E4BC5C79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La estructura se adapta a celular, tableta y escritorio sin cambiar su identidad visual.</a:t>
            </a:r>
            <a:endParaRPr/>
          </a:p>
        </p:txBody>
      </p:sp>
      <p:cxnSp>
        <p:nvCxnSpPr>
          <p:cNvPr id="153" name="Google Shape;125;p5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5">
            <a:extLst xmlns:a="http://schemas.openxmlformats.org/drawingml/2006/main">
              <a:ext uri="{FF2B5EF4-FFF2-40B4-BE49-F238E27FC236}">
                <a16:creationId xmlns:a16="http://schemas.microsoft.com/office/drawing/2014/main" id="{E5E7C423-8129-4EC0-97F2-92879B76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19275"/>
            <a:ext cx="8629650" cy="415290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2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e41f0377454bab">
            <a:alphaModFix/>
          </a:blip>
          <a:srcRect xmlns:a="http://schemas.openxmlformats.org/drawingml/2006/main" l="0" t="721" r="0" b="721"/>
          <a:stretch xmlns:a="http://schemas.openxmlformats.org/drawingml/2006/main"/>
        </p:blipFill>
        <p:spPr>
          <a:xfrm xmlns:a="http://schemas.openxmlformats.org/drawingml/2006/main">
            <a:off x="552450" y="1847850"/>
            <a:ext cx="8572500" cy="4095750"/>
          </a:xfrm>
          <a:prstGeom xmlns:a="http://schemas.openxmlformats.org/drawingml/2006/main" prst="roundRect">
            <a:avLst>
              <a:gd name="adj" fmla="val 4186"/>
            </a:avLst>
          </a:prstGeom>
          <a:ln xmlns:a="http://schemas.openxmlformats.org/drawingml/2006/main">
            <a:noFill/>
          </a:ln>
        </p:spPr>
      </p:pic>
      <p:sp>
        <p:nvSpPr>
          <p:cNvPr id="128" name="Google Shape;128;p5">
            <a:extLst xmlns:a="http://schemas.openxmlformats.org/drawingml/2006/main">
              <a:ext uri="{FF2B5EF4-FFF2-40B4-BE49-F238E27FC236}">
                <a16:creationId xmlns:a16="http://schemas.microsoft.com/office/drawing/2014/main" id="{FCDEC30F-F096-4811-B7F4-E7EEF343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>
            <a:extLst xmlns:a="http://schemas.openxmlformats.org/drawingml/2006/main">
              <a:ext uri="{FF2B5EF4-FFF2-40B4-BE49-F238E27FC236}">
                <a16:creationId xmlns:a16="http://schemas.microsoft.com/office/drawing/2014/main" id="{A6F244F3-F5E9-47F1-809B-F27D24F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1</a:t>
            </a:r>
            <a:endParaRPr/>
          </a:p>
        </p:txBody>
      </p:sp>
      <p:sp>
        <p:nvSpPr>
          <p:cNvPr id="130" name="Google Shape;130;p5">
            <a:extLst xmlns:a="http://schemas.openxmlformats.org/drawingml/2006/main">
              <a:ext uri="{FF2B5EF4-FFF2-40B4-BE49-F238E27FC236}">
                <a16:creationId xmlns:a16="http://schemas.microsoft.com/office/drawing/2014/main" id="{64AED0B6-5FF1-4E25-AB5A-CB2DAE1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>
            <a:extLst xmlns:a="http://schemas.openxmlformats.org/drawingml/2006/main">
              <a:ext uri="{FF2B5EF4-FFF2-40B4-BE49-F238E27FC236}">
                <a16:creationId xmlns:a16="http://schemas.microsoft.com/office/drawing/2014/main" id="{983BE979-29E1-487C-B220-ACC4867D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9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2</a:t>
            </a:r>
            <a:endParaRPr/>
          </a:p>
        </p:txBody>
      </p:sp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49BDDFF9-F753-4129-9367-2AD797F8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6C7377C7-14CB-436B-962A-17424E52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62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3</a:t>
            </a:r>
            <a:endParaRPr/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49025474-E29D-4F69-9DE3-539DBC3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C68012DD-1D22-4027-83ED-E236152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14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9C4E6"/>
                </a:solidFill>
              </a:rPr>
              <a:t>1</a:t>
            </a:r>
            <a:endParaRPr/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ADAA87A9-0FB6-4DAB-914E-1920DB72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238" y="2110398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Menú lateral</a:t>
            </a:r>
            <a:endParaRPr/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5E68617F-FE4C-4E89-A9FB-6C650B10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9853"/>
            <a:ext cx="18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Filtra por rol y se abre como menú móvil.</a:t>
            </a:r>
            <a:endParaRPr sz="1200"/>
          </a:p>
        </p:txBody>
      </p:sp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EE78A5A5-713A-4915-A58A-FECF18F5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F872C41B-74BF-4083-BDA8-FB51915E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5B94C"/>
                </a:solidFill>
              </a:rPr>
              <a:t>2</a:t>
            </a:r>
            <a:endParaRPr/>
          </a:p>
        </p:txBody>
      </p:sp>
      <p:sp>
        <p:nvSp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84CD6EB0-B1F5-41DB-9C80-D7AC749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67627"/>
            <a:ext cx="14478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Barra superior</a:t>
            </a:r>
            <a:endParaRPr/>
          </a:p>
        </p:txBody>
      </p:sp>
      <p:sp>
        <p:nvSp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BB9C338B-D2E7-41A9-ADEB-B84E522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2906"/>
            <a:ext cx="18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Búsqueda, identidad de la sesión y acceso a la cuenta.</a:t>
            </a:r>
            <a:endParaRPr sz="1200"/>
          </a:p>
        </p:txBody>
      </p:sp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E0CC3219-D85C-49A4-9A58-A7ABD766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672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F6BFD751-55EF-41F9-9CAB-8B352A9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41C39B"/>
                </a:solidFill>
              </a:rPr>
              <a:t>3</a:t>
            </a:r>
            <a:endParaRPr/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4D59ABF8-FEE9-40D1-B8C1-6D240932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610" y="4646124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Área de trabajo</a:t>
            </a:r>
            <a:endParaRPr/>
          </a:p>
        </p:txBody>
      </p:sp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DFA8A73E-58D9-492D-8C81-0159EBBD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45790"/>
            <a:ext cx="19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Métricas, formularios, tablas y acciones del módulo activo.</a:t>
            </a:r>
            <a:endParaRPr sz="1200"/>
          </a:p>
        </p:txBody>
      </p:sp>
      <p:cxnSp>
        <p:nvCxnSpPr>
          <p:cNvPr id="174" name="Google Shape;146;p5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6B23A96D-CEBB-4F45-8420-EB63FDF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148" name="Google Shape;148;p5">
            <a:extLst xmlns:a="http://schemas.openxmlformats.org/drawingml/2006/main">
              <a:ext uri="{FF2B5EF4-FFF2-40B4-BE49-F238E27FC236}">
                <a16:creationId xmlns:a16="http://schemas.microsoft.com/office/drawing/2014/main" id="{5D6EAD33-AE44-4122-8370-47CCAC64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3341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Google Shape;154;p6">
            <a:extLst xmlns:a="http://schemas.openxmlformats.org/drawingml/2006/main">
              <a:ext uri="{FF2B5EF4-FFF2-40B4-BE49-F238E27FC236}">
                <a16:creationId xmlns:a16="http://schemas.microsoft.com/office/drawing/2014/main" id="{11C10309-6A51-4567-8622-5D388A4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06</a:t>
            </a:r>
            <a:endParaRPr/>
          </a:p>
        </p:txBody>
      </p:sp>
      <p:sp>
        <p:nvSpPr>
          <p:cNvPr id="155" name="Google Shape;155;p6">
            <a:extLst xmlns:a="http://schemas.openxmlformats.org/drawingml/2006/main">
              <a:ext uri="{FF2B5EF4-FFF2-40B4-BE49-F238E27FC236}">
                <a16:creationId xmlns:a16="http://schemas.microsoft.com/office/drawing/2014/main" id="{0AD24A08-1F56-440D-9238-E2CF2B14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4F8FC"/>
                </a:solidFill>
              </a:rPr>
              <a:t>Avance actual: 23 de 23 interfaces implementadas</a:t>
            </a:r>
            <a:endParaRPr/>
          </a:p>
        </p:txBody>
      </p:sp>
      <p:sp>
        <p:nvSpPr>
          <p:cNvPr id="156" name="Google Shape;156;p6">
            <a:extLst xmlns:a="http://schemas.openxmlformats.org/drawingml/2006/main">
              <a:ext uri="{FF2B5EF4-FFF2-40B4-BE49-F238E27FC236}">
                <a16:creationId xmlns:a16="http://schemas.microsoft.com/office/drawing/2014/main" id="{DE4E63EF-30AD-4164-BB24-F0C0249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>
                <a:solidFill>
                  <a:srgbClr val="A8B8C9"/>
                </a:solidFill>
              </a:rPr>
              <a:t>Las seis interfaces pendientes ya cuentan con funciones conectadas al sistema.</a:t>
            </a:r>
            <a:endParaRPr/>
          </a:p>
        </p:txBody>
      </p:sp>
      <p:cxnSp>
        <p:nvCxnSpPr>
          <p:cNvPr id="199" name="Google Shape;157;p6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6">
            <a:extLst xmlns:a="http://schemas.openxmlformats.org/drawingml/2006/main">
              <a:ext uri="{FF2B5EF4-FFF2-40B4-BE49-F238E27FC236}">
                <a16:creationId xmlns:a16="http://schemas.microsoft.com/office/drawing/2014/main" id="{C049AD2B-24AD-48BF-ADD5-D31596C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>
                <a:solidFill>
                  <a:srgbClr val="F4F8FC"/>
                </a:solidFill>
              </a:rPr>
              <a:t>23</a:t>
            </a:r>
            <a:endParaRPr/>
          </a:p>
        </p:txBody>
      </p:sp>
      <p:sp>
        <p:nvSp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FE93D770-87E1-4CEA-B892-0CF3B504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A8B8C9"/>
                </a:solidFill>
              </a:rPr>
              <a:t>TOTAL PLANIFICADAS</a:t>
            </a:r>
            <a:endParaRPr/>
          </a:p>
        </p:txBody>
      </p:sp>
      <p:cxnSp>
        <p:nvCxnSpPr>
          <p:cNvPr id="202" name="Google Shape;160;p6"/>
          <p:cNvCxnSpPr/>
          <p:nvPr/>
        </p:nvCxnSpPr>
        <p:spPr>
          <a:xfrm xmlns:a="http://schemas.openxmlformats.org/drawingml/2006/main">
            <a:off x="2619375" y="19526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D195B136-A07B-46E9-871B-E268996B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>
                <a:solidFill>
                  <a:srgbClr val="41C39B"/>
                </a:solidFill>
              </a:rPr>
              <a:t>23</a:t>
            </a:r>
            <a:endParaRPr/>
          </a:p>
        </p:txBody>
      </p:sp>
      <p:sp>
        <p:nvSpPr>
          <p:cNvPr id="162" name="Google Shape;162;p6">
            <a:extLst xmlns:a="http://schemas.openxmlformats.org/drawingml/2006/main">
              <a:ext uri="{FF2B5EF4-FFF2-40B4-BE49-F238E27FC236}">
                <a16:creationId xmlns:a16="http://schemas.microsoft.com/office/drawing/2014/main" id="{B9BD8909-DE83-4BA4-8917-8AB99EC7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A8B8C9"/>
                </a:solidFill>
              </a:rPr>
              <a:t>REALIZADAS</a:t>
            </a:r>
            <a:endParaRPr/>
          </a:p>
        </p:txBody>
      </p:sp>
      <p:cxnSp>
        <p:nvCxnSpPr>
          <p:cNvPr id="205" name="Google Shape;163;p6"/>
          <p:cNvCxnSpPr/>
          <p:nvPr/>
        </p:nvCxnSpPr>
        <p:spPr>
          <a:xfrm xmlns:a="http://schemas.openxmlformats.org/drawingml/2006/main">
            <a:off x="4857750" y="19526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D8286996-605E-444E-A8DD-A44F5CE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41C39B"/>
                </a:solidFill>
              </a:defRPr>
            </a:pPr>
            <a:r>
              <a:rPr sz="4800" b="1" i="0">
                <a:solidFill>
                  <a:srgbClr val="41C39B"/>
                </a:solidFill>
              </a:rPr>
              <a:t>0</a:t>
            </a:r>
            <a:endParaRPr/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6F6A7A35-0E3D-4C53-BEDF-CD9E110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A8B8C9"/>
                </a:solidFill>
              </a:rPr>
              <a:t>SIN IMPLEMENTAR</a:t>
            </a:r>
            <a:endParaRPr/>
          </a:p>
        </p:txBody>
      </p:sp>
      <p:sp>
        <p:nvSpPr>
          <p:cNvPr id="166" name="Google Shape;166;p6">
            <a:extLst xmlns:a="http://schemas.openxmlformats.org/drawingml/2006/main">
              <a:ext uri="{FF2B5EF4-FFF2-40B4-BE49-F238E27FC236}">
                <a16:creationId xmlns:a16="http://schemas.microsoft.com/office/drawing/2014/main" id="{69143BD7-9E0E-4F53-A813-17079C7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12355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92ED576D-8A1B-4083-B03B-84EBC7C0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C39B"/>
          </a:solidFill>
          <a:ln xmlns:a="http://schemas.openxmlformats.org/drawingml/2006/main" w="9525" cmpd="sng">
            <a:solidFill>
              <a:srgbClr val="41C3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>
            <a:extLst xmlns:a="http://schemas.openxmlformats.org/drawingml/2006/main">
              <a:ext uri="{FF2B5EF4-FFF2-40B4-BE49-F238E27FC236}">
                <a16:creationId xmlns:a16="http://schemas.microsoft.com/office/drawing/2014/main" id="{94A6756B-143B-428C-94A6-D83EB4F5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85D8F0"/>
                </a:solidFill>
              </a:rPr>
              <a:t>100 % del inventario principal implementado</a:t>
            </a:r>
            <a:endParaRPr/>
          </a:p>
        </p:txBody>
      </p: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7177D72F-C70A-4258-A877-F23B8ADE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4400550" cy="1781175"/>
          </a:xfrm>
          <a:prstGeom xmlns:a="http://schemas.openxmlformats.org/drawingml/2006/main" prst="roundRect">
            <a:avLst>
              <a:gd name="adj" fmla="val 9626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FB5560A2-F6DF-410A-9EDC-517F40DD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0502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F4F8FC"/>
                </a:solidFill>
              </a:rPr>
              <a:t>Cierres realizados</a:t>
            </a:r>
            <a:endParaRPr/>
          </a:p>
        </p:txBody>
      </p:sp>
      <p:sp>
        <p:nvSpPr>
          <p:cNvPr id="171" name="Google Shape;171;p6">
            <a:extLst xmlns:a="http://schemas.openxmlformats.org/drawingml/2006/main">
              <a:ext uri="{FF2B5EF4-FFF2-40B4-BE49-F238E27FC236}">
                <a16:creationId xmlns:a16="http://schemas.microsoft.com/office/drawing/2014/main" id="{9A215C21-7370-4E15-8BBA-674624E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5B94C"/>
                </a:solidFill>
              </a:rPr>
              <a:t>Módulos</a:t>
            </a:r>
            <a:endParaRPr/>
          </a:p>
        </p:txBody>
      </p:sp>
      <p:sp>
        <p:nvSpPr>
          <p:cNvPr id="172" name="Google Shape;172;p6">
            <a:extLst xmlns:a="http://schemas.openxmlformats.org/drawingml/2006/main">
              <a:ext uri="{FF2B5EF4-FFF2-40B4-BE49-F238E27FC236}">
                <a16:creationId xmlns:a16="http://schemas.microsoft.com/office/drawing/2014/main" id="{60FD3B9E-DDF9-4998-B505-72AFA9E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Convivencia · Seguimiento · Estadísticas · Calendario</a:t>
            </a:r>
            <a:endParaRPr/>
          </a:p>
        </p:txBody>
      </p:sp>
      <p:sp>
        <p:nvSpPr>
          <p:cNvPr id="173" name="Google Shape;173;p6">
            <a:extLst xmlns:a="http://schemas.openxmlformats.org/drawingml/2006/main">
              <a:ext uri="{FF2B5EF4-FFF2-40B4-BE49-F238E27FC236}">
                <a16:creationId xmlns:a16="http://schemas.microsoft.com/office/drawing/2014/main" id="{F8384014-0322-40FB-9323-382AE3B1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39C4E6"/>
                </a:solidFill>
              </a:rPr>
              <a:t>Cuenta y reglas</a:t>
            </a:r>
            <a:endParaRPr/>
          </a:p>
        </p:txBody>
      </p:sp>
      <p:sp>
        <p:nvSpPr>
          <p:cNvPr id="174" name="Google Shape;174;p6">
            <a:extLst xmlns:a="http://schemas.openxmlformats.org/drawingml/2006/main">
              <a:ext uri="{FF2B5EF4-FFF2-40B4-BE49-F238E27FC236}">
                <a16:creationId xmlns:a16="http://schemas.microsoft.com/office/drawing/2014/main" id="{39A9723A-7600-47C4-986B-AE83CA4F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562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Configuración · Perfil</a:t>
            </a:r>
            <a:endParaRPr/>
          </a:p>
        </p:txBody>
      </p:sp>
      <p:sp>
        <p:nvSpPr>
          <p:cNvPr id="175" name="Google Shape;175;p6">
            <a:extLst xmlns:a="http://schemas.openxmlformats.org/drawingml/2006/main">
              <a:ext uri="{FF2B5EF4-FFF2-40B4-BE49-F238E27FC236}">
                <a16:creationId xmlns:a16="http://schemas.microsoft.com/office/drawing/2014/main" id="{2D0072B2-1406-477C-87F0-9FF5A124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17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c1943004c74d75">
            <a:alphaModFix/>
          </a:blip>
          <a:srcRect xmlns:a="http://schemas.openxmlformats.org/drawingml/2006/main" l="7165" t="0" r="7165" b="0"/>
          <a:stretch xmlns:a="http://schemas.openxmlformats.org/drawingml/2006/main"/>
        </p:blipFill>
        <p:spPr>
          <a:xfrm xmlns:a="http://schemas.openxmlformats.org/drawingml/2006/main">
            <a:off x="66675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ln xmlns:a="http://schemas.openxmlformats.org/drawingml/2006/main">
            <a:noFill/>
          </a:ln>
        </p:spPr>
      </p:pic>
      <p:sp>
        <p:nvSpPr>
          <p:cNvPr id="177" name="Google Shape;177;p6">
            <a:extLst xmlns:a="http://schemas.openxmlformats.org/drawingml/2006/main">
              <a:ext uri="{FF2B5EF4-FFF2-40B4-BE49-F238E27FC236}">
                <a16:creationId xmlns:a16="http://schemas.microsoft.com/office/drawing/2014/main" id="{8E60FD26-58CF-4ECE-AB77-6E0E208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Nuevo reporte</a:t>
            </a:r>
            <a:endParaRPr/>
          </a:p>
        </p:txBody>
      </p:sp>
      <p:sp>
        <p:nvSpPr>
          <p:cNvPr id="178" name="Google Shape;178;p6">
            <a:extLst xmlns:a="http://schemas.openxmlformats.org/drawingml/2006/main">
              <a:ext uri="{FF2B5EF4-FFF2-40B4-BE49-F238E27FC236}">
                <a16:creationId xmlns:a16="http://schemas.microsoft.com/office/drawing/2014/main" id="{F809666C-DDDF-4D5B-A0D3-7E602739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179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390d4736504ae6">
            <a:alphaModFix/>
          </a:blip>
          <a:srcRect xmlns:a="http://schemas.openxmlformats.org/drawingml/2006/main" l="7334" t="0" r="7334" b="0"/>
          <a:stretch xmlns:a="http://schemas.openxmlformats.org/drawingml/2006/main"/>
        </p:blipFill>
        <p:spPr>
          <a:xfrm xmlns:a="http://schemas.openxmlformats.org/drawingml/2006/main">
            <a:off x="342900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ln xmlns:a="http://schemas.openxmlformats.org/drawingml/2006/main">
            <a:noFill/>
          </a:ln>
        </p:spPr>
      </p:pic>
      <p:sp>
        <p:nvSpPr>
          <p:cNvPr id="180" name="Google Shape;180;p6">
            <a:extLst xmlns:a="http://schemas.openxmlformats.org/drawingml/2006/main">
              <a:ext uri="{FF2B5EF4-FFF2-40B4-BE49-F238E27FC236}">
                <a16:creationId xmlns:a16="http://schemas.microsoft.com/office/drawing/2014/main" id="{BE0B6EDF-CC08-4356-AED8-F44A8CE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Salidas</a:t>
            </a:r>
            <a:endParaRPr/>
          </a:p>
        </p:txBody>
      </p:sp>
      <p:sp>
        <p:nvSpPr>
          <p:cNvPr id="181" name="Google Shape;181;p6">
            <a:extLst xmlns:a="http://schemas.openxmlformats.org/drawingml/2006/main">
              <a:ext uri="{FF2B5EF4-FFF2-40B4-BE49-F238E27FC236}">
                <a16:creationId xmlns:a16="http://schemas.microsoft.com/office/drawing/2014/main" id="{35934668-1267-4FB4-85AE-18760E0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18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6de598c4a14274">
            <a:alphaModFix/>
          </a:blip>
          <a:srcRect xmlns:a="http://schemas.openxmlformats.org/drawingml/2006/main" l="6719" t="0" r="6719" b="0"/>
          <a:stretch xmlns:a="http://schemas.openxmlformats.org/drawingml/2006/main"/>
        </p:blipFill>
        <p:spPr>
          <a:xfrm xmlns:a="http://schemas.openxmlformats.org/drawingml/2006/main">
            <a:off x="619125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ln xmlns:a="http://schemas.openxmlformats.org/drawingml/2006/main">
            <a:noFill/>
          </a:ln>
        </p:spPr>
      </p:pic>
      <p:sp>
        <p:nvSpPr>
          <p:cNvPr id="183" name="Google Shape;183;p6">
            <a:extLst xmlns:a="http://schemas.openxmlformats.org/drawingml/2006/main">
              <a:ext uri="{FF2B5EF4-FFF2-40B4-BE49-F238E27FC236}">
                <a16:creationId xmlns:a16="http://schemas.microsoft.com/office/drawing/2014/main" id="{A601E894-C95A-4294-99E9-895FECD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Comunicaciones</a:t>
            </a:r>
            <a:endParaRPr/>
          </a:p>
        </p:txBody>
      </p:sp>
      <p:sp>
        <p:nvSpPr>
          <p:cNvPr id="184" name="Google Shape;184;p6">
            <a:extLst xmlns:a="http://schemas.openxmlformats.org/drawingml/2006/main">
              <a:ext uri="{FF2B5EF4-FFF2-40B4-BE49-F238E27FC236}">
                <a16:creationId xmlns:a16="http://schemas.microsoft.com/office/drawing/2014/main" id="{EDDB66E4-0E91-47B3-8C9E-8A4872E0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18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a8bbbecba04f54">
            <a:alphaModFix/>
          </a:blip>
          <a:srcRect xmlns:a="http://schemas.openxmlformats.org/drawingml/2006/main" l="7230" t="0" r="7230" b="0"/>
          <a:stretch xmlns:a="http://schemas.openxmlformats.org/drawingml/2006/main"/>
        </p:blipFill>
        <p:spPr>
          <a:xfrm xmlns:a="http://schemas.openxmlformats.org/drawingml/2006/main">
            <a:off x="895350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ln xmlns:a="http://schemas.openxmlformats.org/drawingml/2006/main">
            <a:noFill/>
          </a:ln>
        </p:spPr>
      </p:pic>
      <p:sp>
        <p:nvSpPr>
          <p:cNvPr id="186" name="Google Shape;186;p6">
            <a:extLst xmlns:a="http://schemas.openxmlformats.org/drawingml/2006/main">
              <a:ext uri="{FF2B5EF4-FFF2-40B4-BE49-F238E27FC236}">
                <a16:creationId xmlns:a16="http://schemas.microsoft.com/office/drawing/2014/main" id="{B577B90B-206C-4688-9F9E-BE19998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Auditoría</a:t>
            </a:r>
            <a:endParaRPr/>
          </a:p>
        </p:txBody>
      </p:sp>
      <p:sp>
        <p:nvSpPr>
          <p:cNvPr id="187" name="Google Shape;187;p6">
            <a:extLst xmlns:a="http://schemas.openxmlformats.org/drawingml/2006/main">
              <a:ext uri="{FF2B5EF4-FFF2-40B4-BE49-F238E27FC236}">
                <a16:creationId xmlns:a16="http://schemas.microsoft.com/office/drawing/2014/main" id="{E915E40F-777A-498C-AEBB-BFB072C2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953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>
            <a:extLst xmlns:a="http://schemas.openxmlformats.org/drawingml/2006/main">
              <a:ext uri="{FF2B5EF4-FFF2-40B4-BE49-F238E27FC236}">
                <a16:creationId xmlns:a16="http://schemas.microsoft.com/office/drawing/2014/main" id="{0131F45B-6C80-417E-955B-373E9F85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1053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F5B94C"/>
                </a:solidFill>
              </a:rPr>
              <a:t>El 100 % corresponde al inventario de interfaces, no al cierre institucional del proyecto.</a:t>
            </a:r>
            <a:endParaRPr/>
          </a:p>
        </p:txBody>
      </p:sp>
      <p:cxnSp>
        <p:nvCxnSpPr>
          <p:cNvPr id="231" name="Google Shape;189;p6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6">
            <a:extLst xmlns:a="http://schemas.openxmlformats.org/drawingml/2006/main">
              <a:ext uri="{FF2B5EF4-FFF2-40B4-BE49-F238E27FC236}">
                <a16:creationId xmlns:a16="http://schemas.microsoft.com/office/drawing/2014/main" id="{495C3E7E-31DA-4F82-9514-CB40FFD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191" name="Google Shape;191;p6">
            <a:extLst xmlns:a="http://schemas.openxmlformats.org/drawingml/2006/main">
              <a:ext uri="{FF2B5EF4-FFF2-40B4-BE49-F238E27FC236}">
                <a16:creationId xmlns:a16="http://schemas.microsoft.com/office/drawing/2014/main" id="{57EDA969-11C6-40EE-9797-8363853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6147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F3A54FF0-FC07-44DF-BFAE-3E0DD333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07</a:t>
            </a:r>
            <a:endParaRPr/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A5DAF52A-1B5A-49B3-9704-C3E3A6BF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4F8FC"/>
                </a:solidFill>
              </a:rPr>
              <a:t>Flujo de usuario, navegación y contenidos de SIGDE</a:t>
            </a:r>
            <a:endParaRPr/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2E81E780-837C-4E2F-9AD3-C5DFA9AF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Recorrido real desde el ingreso hasta el registro y la trazabilidad de una acción.</a:t>
            </a:r>
            <a:endParaRPr/>
          </a:p>
        </p:txBody>
      </p:sp>
      <p:cxnSp>
        <p:nvCxnSpPr>
          <p:cNvPr id="285" name="Google Shape;200;p7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4FFD9716-748F-4C4B-8017-A0EB3130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114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EF5B64F0-1503-4649-9A53-8F4ABAD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39C4E6"/>
                </a:solidFill>
              </a:rPr>
              <a:t>1. FLUJO PRINCIPAL</a:t>
            </a:r>
            <a:endParaRPr/>
          </a:p>
        </p:txBody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3A9C82B7-9840-457E-8884-9F96776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A8B8C9"/>
                </a:solidFill>
              </a:rPr>
              <a:t>Ingreso → módulo permitido → acción → registro</a:t>
            </a:r>
            <a:endParaRPr/>
          </a:p>
        </p:txBody>
      </p:sp>
      <p:sp>
        <p:nvSpPr>
          <p:cNvPr id="204" name="Google Shape;204;p7">
            <a:extLst xmlns:a="http://schemas.openxmlformats.org/drawingml/2006/main">
              <a:ext uri="{FF2B5EF4-FFF2-40B4-BE49-F238E27FC236}">
                <a16:creationId xmlns:a16="http://schemas.microsoft.com/office/drawing/2014/main" id="{86CE8026-D7C6-4110-AD03-6E8D139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95575"/>
            <a:ext cx="266700" cy="17145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B88D0"/>
          </a:solidFill>
          <a:ln xmlns:a="http://schemas.openxmlformats.org/drawingml/2006/main" w="9525" cmpd="sng">
            <a:solidFill>
              <a:srgbClr val="2B88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>
            <a:extLst xmlns:a="http://schemas.openxmlformats.org/drawingml/2006/main">
              <a:ext uri="{FF2B5EF4-FFF2-40B4-BE49-F238E27FC236}">
                <a16:creationId xmlns:a16="http://schemas.microsoft.com/office/drawing/2014/main" id="{C7E248A4-2E15-476D-BDC4-C747E66A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95575"/>
            <a:ext cx="266700" cy="17145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B88D0"/>
          </a:solidFill>
          <a:ln xmlns:a="http://schemas.openxmlformats.org/drawingml/2006/main" w="9525" cmpd="sng">
            <a:solidFill>
              <a:srgbClr val="2B88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>
            <a:extLst xmlns:a="http://schemas.openxmlformats.org/drawingml/2006/main">
              <a:ext uri="{FF2B5EF4-FFF2-40B4-BE49-F238E27FC236}">
                <a16:creationId xmlns:a16="http://schemas.microsoft.com/office/drawing/2014/main" id="{91B53270-9FC7-44D7-9084-3B600B32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95575"/>
            <a:ext cx="266700" cy="17145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B88D0"/>
          </a:solidFill>
          <a:ln xmlns:a="http://schemas.openxmlformats.org/drawingml/2006/main" w="9525" cmpd="sng">
            <a:solidFill>
              <a:srgbClr val="2B88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>
            <a:extLst xmlns:a="http://schemas.openxmlformats.org/drawingml/2006/main">
              <a:ext uri="{FF2B5EF4-FFF2-40B4-BE49-F238E27FC236}">
                <a16:creationId xmlns:a16="http://schemas.microsoft.com/office/drawing/2014/main" id="{7505A70F-2FB1-4782-94F8-016E659D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95575"/>
            <a:ext cx="266700" cy="17145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B88D0"/>
          </a:solidFill>
          <a:ln xmlns:a="http://schemas.openxmlformats.org/drawingml/2006/main" w="9525" cmpd="sng">
            <a:solidFill>
              <a:srgbClr val="2B88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>
            <a:extLst xmlns:a="http://schemas.openxmlformats.org/drawingml/2006/main">
              <a:ext uri="{FF2B5EF4-FFF2-40B4-BE49-F238E27FC236}">
                <a16:creationId xmlns:a16="http://schemas.microsoft.com/office/drawing/2014/main" id="{6E4E901A-4896-4908-BD96-2F48BAFB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25" cmpd="sng">
            <a:solidFill>
              <a:srgbClr val="39C4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0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c18456ee9d4d71">
            <a:alphaModFix/>
          </a:blip>
          <a:srcRect xmlns:a="http://schemas.openxmlformats.org/drawingml/2006/main" l="5286" t="0" r="5286" b="0"/>
          <a:stretch xmlns:a="http://schemas.openxmlformats.org/drawingml/2006/main"/>
        </p:blipFill>
        <p:spPr>
          <a:xfrm xmlns:a="http://schemas.openxmlformats.org/drawingml/2006/main">
            <a:off x="742950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  <a:ln xmlns:a="http://schemas.openxmlformats.org/drawingml/2006/main">
            <a:noFill/>
          </a:ln>
        </p:spPr>
      </p:pic>
      <p:sp>
        <p:nvSpPr>
          <p:cNvPr id="210" name="Google Shape;210;p7">
            <a:extLst xmlns:a="http://schemas.openxmlformats.org/drawingml/2006/main">
              <a:ext uri="{FF2B5EF4-FFF2-40B4-BE49-F238E27FC236}">
                <a16:creationId xmlns:a16="http://schemas.microsoft.com/office/drawing/2014/main" id="{A69872BE-DD53-4E1D-AFDB-CB49172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>
            <a:extLst xmlns:a="http://schemas.openxmlformats.org/drawingml/2006/main">
              <a:ext uri="{FF2B5EF4-FFF2-40B4-BE49-F238E27FC236}">
                <a16:creationId xmlns:a16="http://schemas.microsoft.com/office/drawing/2014/main" id="{CA98A8D6-3AA7-48D7-AF41-EE613104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1</a:t>
            </a:r>
            <a:endParaRPr/>
          </a:p>
        </p:txBody>
      </p:sp>
      <p:sp>
        <p:nvSpPr>
          <p:cNvPr id="212" name="Google Shape;212;p7">
            <a:extLst xmlns:a="http://schemas.openxmlformats.org/drawingml/2006/main">
              <a:ext uri="{FF2B5EF4-FFF2-40B4-BE49-F238E27FC236}">
                <a16:creationId xmlns:a16="http://schemas.microsoft.com/office/drawing/2014/main" id="{735F368B-F95C-48CF-961F-82192BCB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Ingreso</a:t>
            </a:r>
            <a:endParaRPr/>
          </a:p>
        </p:txBody>
      </p:sp>
      <p:sp>
        <p:nvSpPr>
          <p:cNvPr id="213" name="Google Shape;213;p7">
            <a:extLst xmlns:a="http://schemas.openxmlformats.org/drawingml/2006/main">
              <a:ext uri="{FF2B5EF4-FFF2-40B4-BE49-F238E27FC236}">
                <a16:creationId xmlns:a16="http://schemas.microsoft.com/office/drawing/2014/main" id="{130A82A9-7704-4F42-AB9C-ED70DEF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A8B8C9"/>
                </a:solidFill>
              </a:rPr>
              <a:t>Credenciales y sesión</a:t>
            </a:r>
            <a:endParaRPr/>
          </a:p>
        </p:txBody>
      </p:sp>
      <p:sp>
        <p:nvSpPr>
          <p:cNvPr id="214" name="Google Shape;214;p7">
            <a:extLst xmlns:a="http://schemas.openxmlformats.org/drawingml/2006/main">
              <a:ext uri="{FF2B5EF4-FFF2-40B4-BE49-F238E27FC236}">
                <a16:creationId xmlns:a16="http://schemas.microsoft.com/office/drawing/2014/main" id="{AC1034CB-C265-4AA5-9DDC-1DC0959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25" cmpd="sng">
            <a:solidFill>
              <a:srgbClr val="85D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21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ca6b82bac64afe">
            <a:alphaModFix/>
          </a:blip>
          <a:srcRect xmlns:a="http://schemas.openxmlformats.org/drawingml/2006/main" l="4665" t="0" r="4665" b="0"/>
          <a:stretch xmlns:a="http://schemas.openxmlformats.org/drawingml/2006/main"/>
        </p:blipFill>
        <p:spPr>
          <a:xfrm xmlns:a="http://schemas.openxmlformats.org/drawingml/2006/main">
            <a:off x="2962275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  <a:ln xmlns:a="http://schemas.openxmlformats.org/drawingml/2006/main">
            <a:noFill/>
          </a:ln>
        </p:spPr>
      </p:pic>
      <p:sp>
        <p:nvSpPr>
          <p:cNvPr id="216" name="Google Shape;216;p7">
            <a:extLst xmlns:a="http://schemas.openxmlformats.org/drawingml/2006/main">
              <a:ext uri="{FF2B5EF4-FFF2-40B4-BE49-F238E27FC236}">
                <a16:creationId xmlns:a16="http://schemas.microsoft.com/office/drawing/2014/main" id="{1807F641-5B38-4930-A332-62C8108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D8F0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>
            <a:extLst xmlns:a="http://schemas.openxmlformats.org/drawingml/2006/main">
              <a:ext uri="{FF2B5EF4-FFF2-40B4-BE49-F238E27FC236}">
                <a16:creationId xmlns:a16="http://schemas.microsoft.com/office/drawing/2014/main" id="{BECDF423-8E49-46B7-91DA-D41942BA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2</a:t>
            </a:r>
            <a:endParaRPr/>
          </a:p>
        </p:txBody>
      </p:sp>
      <p:sp>
        <p:nvSpPr>
          <p:cNvPr id="218" name="Google Shape;218;p7">
            <a:extLst xmlns:a="http://schemas.openxmlformats.org/drawingml/2006/main">
              <a:ext uri="{FF2B5EF4-FFF2-40B4-BE49-F238E27FC236}">
                <a16:creationId xmlns:a16="http://schemas.microsoft.com/office/drawing/2014/main" id="{2B0612A5-7E44-49CF-B393-DEFB1982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Dashboard</a:t>
            </a:r>
            <a:endParaRPr/>
          </a:p>
        </p:txBody>
      </p:sp>
      <p:sp>
        <p:nvSpPr>
          <p:cNvPr id="219" name="Google Shape;219;p7">
            <a:extLst xmlns:a="http://schemas.openxmlformats.org/drawingml/2006/main">
              <a:ext uri="{FF2B5EF4-FFF2-40B4-BE49-F238E27FC236}">
                <a16:creationId xmlns:a16="http://schemas.microsoft.com/office/drawing/2014/main" id="{557BB2A5-72AC-4D2E-9E1E-69C2380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A8B8C9"/>
                </a:solidFill>
              </a:rPr>
              <a:t>Vista según el rol</a:t>
            </a:r>
            <a:endParaRPr/>
          </a:p>
        </p:txBody>
      </p:sp>
      <p:sp>
        <p:nvSpPr>
          <p:cNvPr id="220" name="Google Shape;220;p7">
            <a:extLst xmlns:a="http://schemas.openxmlformats.org/drawingml/2006/main">
              <a:ext uri="{FF2B5EF4-FFF2-40B4-BE49-F238E27FC236}">
                <a16:creationId xmlns:a16="http://schemas.microsoft.com/office/drawing/2014/main" id="{AB52C11E-5D88-4619-A655-4C8A0EB6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25" cmpd="sng">
            <a:solidFill>
              <a:srgbClr val="2B88D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22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0633d84977445e">
            <a:alphaModFix/>
          </a:blip>
          <a:srcRect xmlns:a="http://schemas.openxmlformats.org/drawingml/2006/main" l="5291" t="0" r="5291" b="0"/>
          <a:stretch xmlns:a="http://schemas.openxmlformats.org/drawingml/2006/main"/>
        </p:blipFill>
        <p:spPr>
          <a:xfrm xmlns:a="http://schemas.openxmlformats.org/drawingml/2006/main">
            <a:off x="5181600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  <a:ln xmlns:a="http://schemas.openxmlformats.org/drawingml/2006/main">
            <a:noFill/>
          </a:ln>
        </p:spPr>
      </p:pic>
      <p:sp>
        <p:nvSpPr>
          <p:cNvPr id="222" name="Google Shape;222;p7">
            <a:extLst xmlns:a="http://schemas.openxmlformats.org/drawingml/2006/main">
              <a:ext uri="{FF2B5EF4-FFF2-40B4-BE49-F238E27FC236}">
                <a16:creationId xmlns:a16="http://schemas.microsoft.com/office/drawing/2014/main" id="{F205AAC3-A08C-415E-9DB6-CB7E295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>
            <a:extLst xmlns:a="http://schemas.openxmlformats.org/drawingml/2006/main">
              <a:ext uri="{FF2B5EF4-FFF2-40B4-BE49-F238E27FC236}">
                <a16:creationId xmlns:a16="http://schemas.microsoft.com/office/drawing/2014/main" id="{0813CA0C-496C-4C95-8908-4D4EB7AB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3</a:t>
            </a:r>
            <a:endParaRPr/>
          </a:p>
        </p:txBody>
      </p:sp>
      <p:sp>
        <p:nvSpPr>
          <p:cNvPr id="224" name="Google Shape;224;p7">
            <a:extLst xmlns:a="http://schemas.openxmlformats.org/drawingml/2006/main">
              <a:ext uri="{FF2B5EF4-FFF2-40B4-BE49-F238E27FC236}">
                <a16:creationId xmlns:a16="http://schemas.microsoft.com/office/drawing/2014/main" id="{C791AE6E-288C-491E-892E-35BBC5AD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Módulo</a:t>
            </a:r>
            <a:endParaRPr/>
          </a:p>
        </p:txBody>
      </p:sp>
      <p:sp>
        <p:nvSpPr>
          <p:cNvPr id="225" name="Google Shape;225;p7">
            <a:extLst xmlns:a="http://schemas.openxmlformats.org/drawingml/2006/main">
              <a:ext uri="{FF2B5EF4-FFF2-40B4-BE49-F238E27FC236}">
                <a16:creationId xmlns:a16="http://schemas.microsoft.com/office/drawing/2014/main" id="{1E23E42C-70EC-4820-9F84-2AB4DD7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A8B8C9"/>
                </a:solidFill>
              </a:rPr>
              <a:t>Consulta y filtros</a:t>
            </a:r>
            <a:endParaRPr/>
          </a:p>
        </p:txBody>
      </p:sp>
      <p:sp>
        <p:nvSpPr>
          <p:cNvPr id="226" name="Google Shape;226;p7">
            <a:extLst xmlns:a="http://schemas.openxmlformats.org/drawingml/2006/main">
              <a:ext uri="{FF2B5EF4-FFF2-40B4-BE49-F238E27FC236}">
                <a16:creationId xmlns:a16="http://schemas.microsoft.com/office/drawing/2014/main" id="{8246E332-1CC0-4FA8-9798-CE384B56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25" cmpd="sng">
            <a:solidFill>
              <a:srgbClr val="41C39B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227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4103d0fcec454a">
            <a:alphaModFix/>
          </a:blip>
          <a:srcRect xmlns:a="http://schemas.openxmlformats.org/drawingml/2006/main" l="5011" t="0" r="5011" b="0"/>
          <a:stretch xmlns:a="http://schemas.openxmlformats.org/drawingml/2006/main"/>
        </p:blipFill>
        <p:spPr>
          <a:xfrm xmlns:a="http://schemas.openxmlformats.org/drawingml/2006/main">
            <a:off x="7400925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  <a:ln xmlns:a="http://schemas.openxmlformats.org/drawingml/2006/main">
            <a:noFill/>
          </a:ln>
        </p:spPr>
      </p:pic>
      <p:sp>
        <p:nvSpPr>
          <p:cNvPr id="228" name="Google Shape;228;p7">
            <a:extLst xmlns:a="http://schemas.openxmlformats.org/drawingml/2006/main">
              <a:ext uri="{FF2B5EF4-FFF2-40B4-BE49-F238E27FC236}">
                <a16:creationId xmlns:a16="http://schemas.microsoft.com/office/drawing/2014/main" id="{FC24B152-330F-4FE7-B4D6-68514252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>
            <a:extLst xmlns:a="http://schemas.openxmlformats.org/drawingml/2006/main">
              <a:ext uri="{FF2B5EF4-FFF2-40B4-BE49-F238E27FC236}">
                <a16:creationId xmlns:a16="http://schemas.microsoft.com/office/drawing/2014/main" id="{294000B5-ECFE-48E7-8487-DB8F9A0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4</a:t>
            </a:r>
            <a:endParaRPr/>
          </a:p>
        </p:txBody>
      </p:sp>
      <p:sp>
        <p:nvSpPr>
          <p:cNvPr id="230" name="Google Shape;230;p7">
            <a:extLst xmlns:a="http://schemas.openxmlformats.org/drawingml/2006/main">
              <a:ext uri="{FF2B5EF4-FFF2-40B4-BE49-F238E27FC236}">
                <a16:creationId xmlns:a16="http://schemas.microsoft.com/office/drawing/2014/main" id="{930C3AD5-D05B-4E67-A331-7822F92A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Acción</a:t>
            </a:r>
            <a:endParaRPr/>
          </a:p>
        </p:txBody>
      </p:sp>
      <p:sp>
        <p:nvSpPr>
          <p:cNvPr id="231" name="Google Shape;231;p7">
            <a:extLst xmlns:a="http://schemas.openxmlformats.org/drawingml/2006/main">
              <a:ext uri="{FF2B5EF4-FFF2-40B4-BE49-F238E27FC236}">
                <a16:creationId xmlns:a16="http://schemas.microsoft.com/office/drawing/2014/main" id="{4B9511DC-F592-41D1-80D7-C2EFB567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A8B8C9"/>
                </a:solidFill>
              </a:rPr>
              <a:t>Formulario validado</a:t>
            </a:r>
            <a:endParaRPr/>
          </a:p>
        </p:txBody>
      </p:sp>
      <p:sp>
        <p:nvSpPr>
          <p:cNvPr id="232" name="Google Shape;232;p7">
            <a:extLst xmlns:a="http://schemas.openxmlformats.org/drawingml/2006/main">
              <a:ext uri="{FF2B5EF4-FFF2-40B4-BE49-F238E27FC236}">
                <a16:creationId xmlns:a16="http://schemas.microsoft.com/office/drawing/2014/main" id="{7466CAAA-22D4-474E-8C41-7C36FF4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25" cmpd="sng">
            <a:solidFill>
              <a:srgbClr val="F5B94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23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98c34a42a041e6">
            <a:alphaModFix/>
          </a:blip>
          <a:srcRect xmlns:a="http://schemas.openxmlformats.org/drawingml/2006/main" l="5080" t="0" r="5080" b="0"/>
          <a:stretch xmlns:a="http://schemas.openxmlformats.org/drawingml/2006/main"/>
        </p:blipFill>
        <p:spPr>
          <a:xfrm xmlns:a="http://schemas.openxmlformats.org/drawingml/2006/main">
            <a:off x="9620250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  <a:ln xmlns:a="http://schemas.openxmlformats.org/drawingml/2006/main">
            <a:noFill/>
          </a:ln>
        </p:spPr>
      </p:pic>
      <p:sp>
        <p:nvSpPr>
          <p:cNvPr id="234" name="Google Shape;234;p7">
            <a:extLst xmlns:a="http://schemas.openxmlformats.org/drawingml/2006/main">
              <a:ext uri="{FF2B5EF4-FFF2-40B4-BE49-F238E27FC236}">
                <a16:creationId xmlns:a16="http://schemas.microsoft.com/office/drawing/2014/main" id="{FB8BB82A-3F2D-431B-A6E3-CD43372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>
            <a:extLst xmlns:a="http://schemas.openxmlformats.org/drawingml/2006/main">
              <a:ext uri="{FF2B5EF4-FFF2-40B4-BE49-F238E27FC236}">
                <a16:creationId xmlns:a16="http://schemas.microsoft.com/office/drawing/2014/main" id="{CD5F7762-F9AC-4F53-8424-9CDE278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5</a:t>
            </a:r>
            <a:endParaRPr/>
          </a:p>
        </p:txBody>
      </p:sp>
      <p:sp>
        <p:nvSpPr>
          <p:cNvPr id="236" name="Google Shape;236;p7">
            <a:extLst xmlns:a="http://schemas.openxmlformats.org/drawingml/2006/main">
              <a:ext uri="{FF2B5EF4-FFF2-40B4-BE49-F238E27FC236}">
                <a16:creationId xmlns:a16="http://schemas.microsoft.com/office/drawing/2014/main" id="{8A4D6476-C5EE-4C86-8C22-92DEEDFF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4F8FC"/>
                </a:solidFill>
              </a:rPr>
              <a:t>Trazabilidad</a:t>
            </a:r>
            <a:endParaRPr/>
          </a:p>
        </p:txBody>
      </p:sp>
      <p:sp>
        <p:nvSpPr>
          <p:cNvPr id="237" name="Google Shape;237;p7">
            <a:extLst xmlns:a="http://schemas.openxmlformats.org/drawingml/2006/main">
              <a:ext uri="{FF2B5EF4-FFF2-40B4-BE49-F238E27FC236}">
                <a16:creationId xmlns:a16="http://schemas.microsoft.com/office/drawing/2014/main" id="{73B9DDA6-1215-401C-BB70-F3FB6FD2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A8B8C9"/>
                </a:solidFill>
              </a:rPr>
              <a:t>Movimiento registrado</a:t>
            </a:r>
            <a:endParaRPr/>
          </a:p>
        </p:txBody>
      </p:sp>
      <p:sp>
        <p:nvSpPr>
          <p:cNvPr id="238" name="Google Shape;238;p7">
            <a:extLst xmlns:a="http://schemas.openxmlformats.org/drawingml/2006/main">
              <a:ext uri="{FF2B5EF4-FFF2-40B4-BE49-F238E27FC236}">
                <a16:creationId xmlns:a16="http://schemas.microsoft.com/office/drawing/2014/main" id="{51C89BFD-9577-4B6D-9BF0-4162DD92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578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0475" cmpd="sng">
            <a:solidFill>
              <a:srgbClr val="41C3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>
            <a:extLst xmlns:a="http://schemas.openxmlformats.org/drawingml/2006/main">
              <a:ext uri="{FF2B5EF4-FFF2-40B4-BE49-F238E27FC236}">
                <a16:creationId xmlns:a16="http://schemas.microsoft.com/office/drawing/2014/main" id="{A9F9646D-A51A-421A-8458-D667D6D1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41C39B"/>
                </a:solidFill>
              </a:rPr>
              <a:t>2. NAVEGACIÓN POR ROL</a:t>
            </a:r>
            <a:endParaRPr/>
          </a:p>
        </p:txBody>
      </p:sp>
      <p:sp>
        <p:nvSpPr>
          <p:cNvPr id="240" name="Google Shape;240;p7">
            <a:extLst xmlns:a="http://schemas.openxmlformats.org/drawingml/2006/main">
              <a:ext uri="{FF2B5EF4-FFF2-40B4-BE49-F238E27FC236}">
                <a16:creationId xmlns:a16="http://schemas.microsoft.com/office/drawing/2014/main" id="{A14FD62E-6568-4BC8-B1AF-C67D5EE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276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>
            <a:extLst xmlns:a="http://schemas.openxmlformats.org/drawingml/2006/main">
              <a:ext uri="{FF2B5EF4-FFF2-40B4-BE49-F238E27FC236}">
                <a16:creationId xmlns:a16="http://schemas.microsoft.com/office/drawing/2014/main" id="{ADC99972-BB87-4C63-B1DB-D4F0AFBB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4F8FC"/>
                </a:solidFill>
              </a:rPr>
              <a:t>COORDINADOR</a:t>
            </a:r>
            <a:endParaRPr/>
          </a:p>
        </p:txBody>
      </p:sp>
      <p:sp>
        <p:nvSpPr>
          <p:cNvPr id="242" name="Google Shape;242;p7">
            <a:extLst xmlns:a="http://schemas.openxmlformats.org/drawingml/2006/main">
              <a:ext uri="{FF2B5EF4-FFF2-40B4-BE49-F238E27FC236}">
                <a16:creationId xmlns:a16="http://schemas.microsoft.com/office/drawing/2014/main" id="{29D49C51-5E8A-4E0B-93CB-BE21F4F0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12355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>
            <a:extLst xmlns:a="http://schemas.openxmlformats.org/drawingml/2006/main">
              <a:ext uri="{FF2B5EF4-FFF2-40B4-BE49-F238E27FC236}">
                <a16:creationId xmlns:a16="http://schemas.microsoft.com/office/drawing/2014/main" id="{96C600A7-BB1E-4DC0-B2A0-D4B3F6D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62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85D8F0"/>
                </a:solidFill>
              </a:rPr>
              <a:t>DOCENTE</a:t>
            </a:r>
            <a:endParaRPr/>
          </a:p>
        </p:txBody>
      </p:sp>
      <p:sp>
        <p:nvSpPr>
          <p:cNvPr id="244" name="Google Shape;244;p7">
            <a:extLst xmlns:a="http://schemas.openxmlformats.org/drawingml/2006/main">
              <a:ext uri="{FF2B5EF4-FFF2-40B4-BE49-F238E27FC236}">
                <a16:creationId xmlns:a16="http://schemas.microsoft.com/office/drawing/2014/main" id="{35EC1949-1845-48F3-8F59-F70005DA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21E"/>
          </a:solidFill>
          <a:ln xmlns:a="http://schemas.openxmlformats.org/drawingml/2006/main" w="9525" cmpd="sng">
            <a:solidFill>
              <a:srgbClr val="3A321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>
            <a:extLst xmlns:a="http://schemas.openxmlformats.org/drawingml/2006/main">
              <a:ext uri="{FF2B5EF4-FFF2-40B4-BE49-F238E27FC236}">
                <a16:creationId xmlns:a16="http://schemas.microsoft.com/office/drawing/2014/main" id="{375564F4-9BC0-49EA-B975-8796969E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62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5B94C"/>
                </a:solidFill>
              </a:rPr>
              <a:t>PORTERÍA</a:t>
            </a:r>
            <a:endParaRPr/>
          </a:p>
        </p:txBody>
      </p:sp>
      <p:sp>
        <p:nvSpPr>
          <p:cNvPr id="246" name="Google Shape;246;p7">
            <a:extLst xmlns:a="http://schemas.openxmlformats.org/drawingml/2006/main">
              <a:ext uri="{FF2B5EF4-FFF2-40B4-BE49-F238E27FC236}">
                <a16:creationId xmlns:a16="http://schemas.microsoft.com/office/drawing/2014/main" id="{65C19DA6-E10F-41B0-BEB3-207D2386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>
            <a:extLst xmlns:a="http://schemas.openxmlformats.org/drawingml/2006/main">
              <a:ext uri="{FF2B5EF4-FFF2-40B4-BE49-F238E27FC236}">
                <a16:creationId xmlns:a16="http://schemas.microsoft.com/office/drawing/2014/main" id="{3D168FCD-2442-4656-B22E-20E3F3EC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43475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F4F8FC"/>
                </a:solidFill>
              </a:rPr>
              <a:t>Coordinador</a:t>
            </a:r>
            <a:endParaRPr/>
          </a:p>
        </p:txBody>
      </p:sp>
      <p:sp>
        <p:nvSpPr>
          <p:cNvPr id="248" name="Google Shape;248;p7">
            <a:extLst xmlns:a="http://schemas.openxmlformats.org/drawingml/2006/main">
              <a:ext uri="{FF2B5EF4-FFF2-40B4-BE49-F238E27FC236}">
                <a16:creationId xmlns:a16="http://schemas.microsoft.com/office/drawing/2014/main" id="{885A9EF4-2942-485A-8055-F52198E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434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A8B8C9"/>
                </a:solidFill>
              </a:rPr>
              <a:t>Reportes · Usuarios · Configuración · Auditoría</a:t>
            </a:r>
            <a:endParaRPr/>
          </a:p>
        </p:txBody>
      </p:sp>
      <p:sp>
        <p:nvSpPr>
          <p:cNvPr id="249" name="Google Shape;249;p7">
            <a:extLst xmlns:a="http://schemas.openxmlformats.org/drawingml/2006/main">
              <a:ext uri="{FF2B5EF4-FFF2-40B4-BE49-F238E27FC236}">
                <a16:creationId xmlns:a16="http://schemas.microsoft.com/office/drawing/2014/main" id="{7EBC2184-9707-43D1-B289-4556C9CB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>
            <a:extLst xmlns:a="http://schemas.openxmlformats.org/drawingml/2006/main">
              <a:ext uri="{FF2B5EF4-FFF2-40B4-BE49-F238E27FC236}">
                <a16:creationId xmlns:a16="http://schemas.microsoft.com/office/drawing/2014/main" id="{0186ED0A-1540-4FAD-85BA-B25DD921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67325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F4F8FC"/>
                </a:solidFill>
              </a:rPr>
              <a:t>Docente</a:t>
            </a:r>
            <a:endParaRPr/>
          </a:p>
        </p:txBody>
      </p:sp>
      <p:sp>
        <p:nvSpPr>
          <p:cNvPr id="251" name="Google Shape;251;p7">
            <a:extLst xmlns:a="http://schemas.openxmlformats.org/drawingml/2006/main">
              <a:ext uri="{FF2B5EF4-FFF2-40B4-BE49-F238E27FC236}">
                <a16:creationId xmlns:a16="http://schemas.microsoft.com/office/drawing/2014/main" id="{817043B8-DC23-4CFA-A0A3-2D5A721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67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A8B8C9"/>
                </a:solidFill>
              </a:rPr>
              <a:t>Reportes · Convivencia · Estudiantes</a:t>
            </a:r>
            <a:endParaRPr/>
          </a:p>
        </p:txBody>
      </p:sp>
      <p:sp>
        <p:nvSpPr>
          <p:cNvPr id="252" name="Google Shape;252;p7">
            <a:extLst xmlns:a="http://schemas.openxmlformats.org/drawingml/2006/main">
              <a:ext uri="{FF2B5EF4-FFF2-40B4-BE49-F238E27FC236}">
                <a16:creationId xmlns:a16="http://schemas.microsoft.com/office/drawing/2014/main" id="{CB8847CD-16E1-48BC-9BDD-1E68DBA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>
            <a:extLst xmlns:a="http://schemas.openxmlformats.org/drawingml/2006/main">
              <a:ext uri="{FF2B5EF4-FFF2-40B4-BE49-F238E27FC236}">
                <a16:creationId xmlns:a16="http://schemas.microsoft.com/office/drawing/2014/main" id="{0C3E6CD2-08FA-445C-BCD4-FD83C0DD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91175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F4F8FC"/>
                </a:solidFill>
              </a:rPr>
              <a:t>Portería</a:t>
            </a:r>
            <a:endParaRPr/>
          </a:p>
        </p:txBody>
      </p:sp>
      <p:sp>
        <p:nvSpPr>
          <p:cNvPr id="254" name="Google Shape;254;p7">
            <a:extLst xmlns:a="http://schemas.openxmlformats.org/drawingml/2006/main">
              <a:ext uri="{FF2B5EF4-FFF2-40B4-BE49-F238E27FC236}">
                <a16:creationId xmlns:a16="http://schemas.microsoft.com/office/drawing/2014/main" id="{AA14CE88-A936-46F0-A217-E25384C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911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A8B8C9"/>
                </a:solidFill>
              </a:rPr>
              <a:t>Salidas · Calendario · Perfil</a:t>
            </a:r>
            <a:endParaRPr/>
          </a:p>
        </p:txBody>
      </p:sp>
      <p:sp>
        <p:nvSpPr>
          <p:cNvPr id="255" name="Google Shape;255;p7">
            <a:extLst xmlns:a="http://schemas.openxmlformats.org/drawingml/2006/main">
              <a:ext uri="{FF2B5EF4-FFF2-40B4-BE49-F238E27FC236}">
                <a16:creationId xmlns:a16="http://schemas.microsoft.com/office/drawing/2014/main" id="{E1A02537-D9D7-40D2-BCC5-E931244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4838700" cy="238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291D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>
            <a:extLst xmlns:a="http://schemas.openxmlformats.org/drawingml/2006/main">
              <a:ext uri="{FF2B5EF4-FFF2-40B4-BE49-F238E27FC236}">
                <a16:creationId xmlns:a16="http://schemas.microsoft.com/office/drawing/2014/main" id="{DED468BD-BB8A-49A8-A7DA-3B86F203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91225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1" i="0">
                <a:solidFill>
                  <a:srgbClr val="F5B94C"/>
                </a:solidFill>
              </a:rPr>
              <a:t>Disponibles: Convivencia, Seguimiento, Estadísticas y Calendario.</a:t>
            </a:r>
            <a:endParaRPr/>
          </a:p>
        </p:txBody>
      </p:sp>
      <p:sp>
        <p:nvSpPr>
          <p:cNvPr id="257" name="Google Shape;257;p7">
            <a:extLst xmlns:a="http://schemas.openxmlformats.org/drawingml/2006/main">
              <a:ext uri="{FF2B5EF4-FFF2-40B4-BE49-F238E27FC236}">
                <a16:creationId xmlns:a16="http://schemas.microsoft.com/office/drawing/2014/main" id="{6DDF9F08-9E12-4167-B75C-4BF625D0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56388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0475" cmpd="sng">
            <a:solidFill>
              <a:srgbClr val="39C4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>
            <a:extLst xmlns:a="http://schemas.openxmlformats.org/drawingml/2006/main">
              <a:ext uri="{FF2B5EF4-FFF2-40B4-BE49-F238E27FC236}">
                <a16:creationId xmlns:a16="http://schemas.microsoft.com/office/drawing/2014/main" id="{EBB55963-14D0-4E78-B5B0-2A18C65A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39C4E6"/>
                </a:solidFill>
              </a:rPr>
              <a:t>3. CONTENIDOS Y ACCIONES</a:t>
            </a:r>
            <a:endParaRPr/>
          </a:p>
        </p:txBody>
      </p:sp>
      <p:sp>
        <p:nvSpPr>
          <p:cNvPr id="259" name="Google Shape;259;p7">
            <a:extLst xmlns:a="http://schemas.openxmlformats.org/drawingml/2006/main">
              <a:ext uri="{FF2B5EF4-FFF2-40B4-BE49-F238E27FC236}">
                <a16:creationId xmlns:a16="http://schemas.microsoft.com/office/drawing/2014/main" id="{1283AC4E-E3A9-4592-BFAD-6E3A78F7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 cmpd="sng">
            <a:solidFill>
              <a:srgbClr val="2B88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>
            <a:extLst xmlns:a="http://schemas.openxmlformats.org/drawingml/2006/main">
              <a:ext uri="{FF2B5EF4-FFF2-40B4-BE49-F238E27FC236}">
                <a16:creationId xmlns:a16="http://schemas.microsoft.com/office/drawing/2014/main" id="{C37B7957-2663-45D2-96C9-D28716A7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2B88D0"/>
                </a:solidFill>
              </a:rPr>
              <a:t>REPORTES</a:t>
            </a:r>
            <a:endParaRPr/>
          </a:p>
        </p:txBody>
      </p:sp>
      <p:cxnSp>
        <p:nvCxnSpPr>
          <p:cNvPr id="346" name="Google Shape;261;p7"/>
          <p:cNvCxnSpPr/>
          <p:nvPr/>
        </p:nvCxnSpPr>
        <p:spPr>
          <a:xfrm xmlns:a="http://schemas.openxmlformats.org/drawingml/2006/main">
            <a:off x="6362700" y="492442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" name="Google Shape;262;p7">
            <a:extLst xmlns:a="http://schemas.openxmlformats.org/drawingml/2006/main">
              <a:ext uri="{FF2B5EF4-FFF2-40B4-BE49-F238E27FC236}">
                <a16:creationId xmlns:a16="http://schemas.microsoft.com/office/drawing/2014/main" id="{B5EAFD80-FFC7-46B0-BC38-FDBFD03B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4F8FC"/>
                </a:solidFill>
              </a:rPr>
              <a:t>Consultar → filtrar</a:t>
            </a:r>
            <a:endParaRPr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4F8FC"/>
                </a:solidFill>
              </a:rPr>
              <a:t>→ crear reporte</a:t>
            </a:r>
            <a:endParaRPr/>
          </a:p>
        </p:txBody>
      </p:sp>
      <p:sp>
        <p:nvSpPr>
          <p:cNvPr id="263" name="Google Shape;263;p7">
            <a:extLst xmlns:a="http://schemas.openxmlformats.org/drawingml/2006/main">
              <a:ext uri="{FF2B5EF4-FFF2-40B4-BE49-F238E27FC236}">
                <a16:creationId xmlns:a16="http://schemas.microsoft.com/office/drawing/2014/main" id="{4CDB8BAC-D72D-406F-8FBB-5555A8B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 cmpd="sng">
            <a:solidFill>
              <a:srgbClr val="41C3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>
            <a:extLst xmlns:a="http://schemas.openxmlformats.org/drawingml/2006/main">
              <a:ext uri="{FF2B5EF4-FFF2-40B4-BE49-F238E27FC236}">
                <a16:creationId xmlns:a16="http://schemas.microsoft.com/office/drawing/2014/main" id="{7C859136-54F5-4681-B1FA-29001A7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41C39B"/>
                </a:solidFill>
              </a:rPr>
              <a:t>SALIDAS</a:t>
            </a:r>
            <a:endParaRPr/>
          </a:p>
        </p:txBody>
      </p:sp>
      <p:cxnSp>
        <p:nvCxnSpPr>
          <p:cNvPr id="350" name="Google Shape;265;p7"/>
          <p:cNvCxnSpPr/>
          <p:nvPr/>
        </p:nvCxnSpPr>
        <p:spPr>
          <a:xfrm xmlns:a="http://schemas.openxmlformats.org/drawingml/2006/main">
            <a:off x="8115300" y="492442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7">
            <a:extLst xmlns:a="http://schemas.openxmlformats.org/drawingml/2006/main">
              <a:ext uri="{FF2B5EF4-FFF2-40B4-BE49-F238E27FC236}">
                <a16:creationId xmlns:a16="http://schemas.microsoft.com/office/drawing/2014/main" id="{AB6FE252-3341-4C83-B072-D81CA226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387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4F8FC"/>
                </a:solidFill>
              </a:rPr>
              <a:t>Historial → seleccionar</a:t>
            </a:r>
            <a:endParaRPr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4F8FC"/>
                </a:solidFill>
              </a:rPr>
              <a:t>→ registrar salida</a:t>
            </a:r>
            <a:endParaRPr/>
          </a:p>
        </p:txBody>
      </p:sp>
      <p:sp>
        <p:nvSpPr>
          <p:cNvPr id="267" name="Google Shape;267;p7">
            <a:extLst xmlns:a="http://schemas.openxmlformats.org/drawingml/2006/main">
              <a:ext uri="{FF2B5EF4-FFF2-40B4-BE49-F238E27FC236}">
                <a16:creationId xmlns:a16="http://schemas.microsoft.com/office/drawing/2014/main" id="{4FBD8DB6-3BAB-4696-9730-72BB96C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5295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>
            <a:extLst xmlns:a="http://schemas.openxmlformats.org/drawingml/2006/main">
              <a:ext uri="{FF2B5EF4-FFF2-40B4-BE49-F238E27FC236}">
                <a16:creationId xmlns:a16="http://schemas.microsoft.com/office/drawing/2014/main" id="{ECA60C53-70ED-449C-91A5-9D715A9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5B94C"/>
                </a:solidFill>
              </a:rPr>
              <a:t>COMUNICACIONES</a:t>
            </a:r>
            <a:endParaRPr/>
          </a:p>
        </p:txBody>
      </p:sp>
      <p:cxnSp>
        <p:nvCxnSpPr>
          <p:cNvPr id="354" name="Google Shape;269;p7"/>
          <p:cNvCxnSpPr/>
          <p:nvPr/>
        </p:nvCxnSpPr>
        <p:spPr>
          <a:xfrm xmlns:a="http://schemas.openxmlformats.org/drawingml/2006/main">
            <a:off x="9867900" y="492442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9B03D500-AE3F-43F2-AD96-7630692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387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4F8FC"/>
                </a:solidFill>
              </a:rPr>
              <a:t>Seleccionar estudiante</a:t>
            </a:r>
            <a:endParaRPr/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4F8FC"/>
                </a:solidFill>
              </a:rPr>
              <a:t>→ mensaje → historial</a:t>
            </a:r>
            <a:endParaRPr/>
          </a:p>
        </p:txBody>
      </p:sp>
      <p:sp>
        <p:nvSpPr>
          <p:cNvPr id="271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85476BF9-8C79-4CF1-BEC7-910F38A8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52197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8CAB07F3-7E74-4E08-BB59-60D76A46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1" i="0">
                <a:solidFill>
                  <a:srgbClr val="39C4E6"/>
                </a:solidFill>
              </a:rPr>
              <a:t>FLUJO RESUMIDO</a:t>
            </a:r>
            <a:endParaRPr/>
          </a:p>
        </p:txBody>
      </p:sp>
      <p:sp>
        <p:nvSpPr>
          <p:cNvPr id="273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9BE5251E-26B0-4972-817A-ADEC09A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5310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F4F8FC"/>
                </a:solidFill>
              </a:rPr>
              <a:t>Ingreso → Dashboard por rol → Módulo → Acción → Base de datos → Auditoría / notificación</a:t>
            </a:r>
            <a:endParaRPr/>
          </a:p>
        </p:txBody>
      </p:sp>
      <p:cxnSp>
        <p:nvCxnSpPr>
          <p:cNvPr id="359" name="Google Shape;274;p7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7">
            <a:extLst xmlns:a="http://schemas.openxmlformats.org/drawingml/2006/main">
              <a:ext uri="{FF2B5EF4-FFF2-40B4-BE49-F238E27FC236}">
                <a16:creationId xmlns:a16="http://schemas.microsoft.com/office/drawing/2014/main" id="{C8C1C893-0BD9-48D4-8D0F-EE943895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276" name="Google Shape;276;p7">
            <a:extLst xmlns:a="http://schemas.openxmlformats.org/drawingml/2006/main">
              <a:ext uri="{FF2B5EF4-FFF2-40B4-BE49-F238E27FC236}">
                <a16:creationId xmlns:a16="http://schemas.microsoft.com/office/drawing/2014/main" id="{6956431A-824B-479A-BE0C-9F09CF7F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0401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2" name="Google Shape;282;p8">
            <a:extLst xmlns:a="http://schemas.openxmlformats.org/drawingml/2006/main">
              <a:ext uri="{FF2B5EF4-FFF2-40B4-BE49-F238E27FC236}">
                <a16:creationId xmlns:a16="http://schemas.microsoft.com/office/drawing/2014/main" id="{11D7BDB2-CA19-4578-995F-AE718877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08</a:t>
            </a:r>
            <a:endParaRPr/>
          </a:p>
        </p:txBody>
      </p:sp>
      <p:sp>
        <p:nvSpPr>
          <p:cNvPr id="283" name="Google Shape;283;p8">
            <a:extLst xmlns:a="http://schemas.openxmlformats.org/drawingml/2006/main">
              <a:ext uri="{FF2B5EF4-FFF2-40B4-BE49-F238E27FC236}">
                <a16:creationId xmlns:a16="http://schemas.microsoft.com/office/drawing/2014/main" id="{3F307AB2-4489-4AA6-8D61-6FB8CA1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8FC"/>
                </a:solidFill>
              </a:rPr>
              <a:t>Encabezado</a:t>
            </a:r>
            <a:endParaRPr/>
          </a:p>
        </p:txBody>
      </p:sp>
      <p:sp>
        <p:nvSpPr>
          <p:cNvPr id="284" name="Google Shape;284;p8">
            <a:extLst xmlns:a="http://schemas.openxmlformats.org/drawingml/2006/main">
              <a:ext uri="{FF2B5EF4-FFF2-40B4-BE49-F238E27FC236}">
                <a16:creationId xmlns:a16="http://schemas.microsoft.com/office/drawing/2014/main" id="{D633C88C-9EE6-4F6F-B434-F4D9715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Nombre de la aplicación y contexto del usuario permanecen visibles durante el trabajo.</a:t>
            </a:r>
            <a:endParaRPr/>
          </a:p>
        </p:txBody>
      </p:sp>
      <p:cxnSp>
        <p:nvCxnSpPr>
          <p:cNvPr id="311" name="Google Shape;285;p8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6" name="Google Shape;286;p8">
            <a:extLst xmlns:a="http://schemas.openxmlformats.org/drawingml/2006/main">
              <a:ext uri="{FF2B5EF4-FFF2-40B4-BE49-F238E27FC236}">
                <a16:creationId xmlns:a16="http://schemas.microsoft.com/office/drawing/2014/main" id="{01D324E5-B031-438B-B408-BAC98F2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8629650" cy="4162425"/>
          </a:xfrm>
          <a:prstGeom xmlns:a="http://schemas.openxmlformats.org/drawingml/2006/main" prst="roundRect">
            <a:avLst>
              <a:gd name="adj" fmla="val 411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28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5c31434df74a4a">
            <a:alphaModFix/>
          </a:blip>
          <a:srcRect xmlns:a="http://schemas.openxmlformats.org/drawingml/2006/main" l="0" t="29" r="0" b="29"/>
          <a:stretch xmlns:a="http://schemas.openxmlformats.org/drawingml/2006/main"/>
        </p:blipFill>
        <p:spPr>
          <a:xfrm xmlns:a="http://schemas.openxmlformats.org/drawingml/2006/main">
            <a:off x="571500" y="1857375"/>
            <a:ext cx="8572500" cy="4105275"/>
          </a:xfrm>
          <a:prstGeom xmlns:a="http://schemas.openxmlformats.org/drawingml/2006/main" prst="roundRect">
            <a:avLst>
              <a:gd name="adj" fmla="val 4176"/>
            </a:avLst>
          </a:prstGeom>
          <a:ln xmlns:a="http://schemas.openxmlformats.org/drawingml/2006/main">
            <a:noFill/>
          </a:ln>
        </p:spPr>
      </p:pic>
      <p:sp>
        <p:nvSpPr>
          <p:cNvPr id="288" name="Google Shape;288;p8">
            <a:extLst xmlns:a="http://schemas.openxmlformats.org/drawingml/2006/main">
              <a:ext uri="{FF2B5EF4-FFF2-40B4-BE49-F238E27FC236}">
                <a16:creationId xmlns:a16="http://schemas.microsoft.com/office/drawing/2014/main" id="{4A0AC13F-3A2C-4262-80C1-BF4067A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>
            <a:extLst xmlns:a="http://schemas.openxmlformats.org/drawingml/2006/main">
              <a:ext uri="{FF2B5EF4-FFF2-40B4-BE49-F238E27FC236}">
                <a16:creationId xmlns:a16="http://schemas.microsoft.com/office/drawing/2014/main" id="{30B629B7-A98E-4D60-B499-AEEA39EE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1</a:t>
            </a:r>
            <a:endParaRPr/>
          </a:p>
        </p:txBody>
      </p:sp>
      <p:sp>
        <p:nvSpPr>
          <p:cNvPr id="290" name="Google Shape;290;p8">
            <a:extLst xmlns:a="http://schemas.openxmlformats.org/drawingml/2006/main">
              <a:ext uri="{FF2B5EF4-FFF2-40B4-BE49-F238E27FC236}">
                <a16:creationId xmlns:a16="http://schemas.microsoft.com/office/drawing/2014/main" id="{0B4D07E4-9B39-4B58-8E43-10E8B24E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>
            <a:extLst xmlns:a="http://schemas.openxmlformats.org/drawingml/2006/main">
              <a:ext uri="{FF2B5EF4-FFF2-40B4-BE49-F238E27FC236}">
                <a16:creationId xmlns:a16="http://schemas.microsoft.com/office/drawing/2014/main" id="{1E6DCE77-4734-4288-A9F8-A4AE768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2</a:t>
            </a:r>
            <a:endParaRPr/>
          </a:p>
        </p:txBody>
      </p:sp>
      <p:sp>
        <p:nvSpPr>
          <p:cNvPr id="292" name="Google Shape;292;p8">
            <a:extLst xmlns:a="http://schemas.openxmlformats.org/drawingml/2006/main">
              <a:ext uri="{FF2B5EF4-FFF2-40B4-BE49-F238E27FC236}">
                <a16:creationId xmlns:a16="http://schemas.microsoft.com/office/drawing/2014/main" id="{F70FF2EB-966A-4640-A283-AF2D9F0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>
            <a:extLst xmlns:a="http://schemas.openxmlformats.org/drawingml/2006/main">
              <a:ext uri="{FF2B5EF4-FFF2-40B4-BE49-F238E27FC236}">
                <a16:creationId xmlns:a16="http://schemas.microsoft.com/office/drawing/2014/main" id="{EF4DA1D0-0D46-42C9-B198-E2DCDC6C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3</a:t>
            </a:r>
            <a:endParaRPr/>
          </a:p>
        </p:txBody>
      </p:sp>
      <p:sp>
        <p:nvSpPr>
          <p:cNvPr id="294" name="Google Shape;294;p8">
            <a:extLst xmlns:a="http://schemas.openxmlformats.org/drawingml/2006/main">
              <a:ext uri="{FF2B5EF4-FFF2-40B4-BE49-F238E27FC236}">
                <a16:creationId xmlns:a16="http://schemas.microsoft.com/office/drawing/2014/main" id="{B94F8A08-30EF-4C0F-AC8E-A3189E70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39C4E6"/>
                </a:solidFill>
              </a:rPr>
              <a:t>1</a:t>
            </a:r>
            <a:endParaRPr/>
          </a:p>
        </p:txBody>
      </p:sp>
      <p:sp>
        <p:nvSpPr>
          <p:cNvPr id="295" name="Google Shape;295;p8">
            <a:extLst xmlns:a="http://schemas.openxmlformats.org/drawingml/2006/main">
              <a:ext uri="{FF2B5EF4-FFF2-40B4-BE49-F238E27FC236}">
                <a16:creationId xmlns:a16="http://schemas.microsoft.com/office/drawing/2014/main" id="{250AAEC0-4982-46D2-8547-34A05AB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837" y="1979735"/>
            <a:ext cx="195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Nombre y marca</a:t>
            </a:r>
            <a:endParaRPr/>
          </a:p>
        </p:txBody>
      </p:sp>
      <p:sp>
        <p:nvSpPr>
          <p:cNvPr id="296" name="Google Shape;296;p8">
            <a:extLst xmlns:a="http://schemas.openxmlformats.org/drawingml/2006/main">
              <a:ext uri="{FF2B5EF4-FFF2-40B4-BE49-F238E27FC236}">
                <a16:creationId xmlns:a16="http://schemas.microsoft.com/office/drawing/2014/main" id="{17ABBEFC-57D3-4A22-9807-13BD2BA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2267"/>
            <a:ext cx="20955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SIGDE identifica la plataforma desde el extremo izquierdo.</a:t>
            </a:r>
            <a:endParaRPr/>
          </a:p>
        </p:txBody>
      </p:sp>
      <p:sp>
        <p:nvSpPr>
          <p:cNvPr id="297" name="Google Shape;297;p8">
            <a:extLst xmlns:a="http://schemas.openxmlformats.org/drawingml/2006/main">
              <a:ext uri="{FF2B5EF4-FFF2-40B4-BE49-F238E27FC236}">
                <a16:creationId xmlns:a16="http://schemas.microsoft.com/office/drawing/2014/main" id="{ABE05DF8-C979-4F2A-AC72-26BCE3FB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28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5B94C"/>
                </a:solidFill>
              </a:rPr>
              <a:t>2</a:t>
            </a:r>
            <a:endParaRPr/>
          </a:p>
        </p:txBody>
      </p:sp>
      <p:sp>
        <p:nvSpPr>
          <p:cNvPr id="298" name="Google Shape;298;p8">
            <a:extLst xmlns:a="http://schemas.openxmlformats.org/drawingml/2006/main">
              <a:ext uri="{FF2B5EF4-FFF2-40B4-BE49-F238E27FC236}">
                <a16:creationId xmlns:a16="http://schemas.microsoft.com/office/drawing/2014/main" id="{18DD5242-7F09-4034-9E44-E8F5F3F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83" y="3268296"/>
            <a:ext cx="16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Usuario activo</a:t>
            </a:r>
            <a:endParaRPr/>
          </a:p>
        </p:txBody>
      </p:sp>
      <p:sp>
        <p:nvSpPr>
          <p:cNvPr id="299" name="Google Shape;299;p8">
            <a:extLst xmlns:a="http://schemas.openxmlformats.org/drawingml/2006/main">
              <a:ext uri="{FF2B5EF4-FFF2-40B4-BE49-F238E27FC236}">
                <a16:creationId xmlns:a16="http://schemas.microsoft.com/office/drawing/2014/main" id="{3828C4C9-F5CC-4741-9AAE-330E5FD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90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El nombre y el rol dan contexto a la sesión abierta.</a:t>
            </a:r>
            <a:endParaRPr/>
          </a:p>
        </p:txBody>
      </p:sp>
      <p:sp>
        <p:nvSpPr>
          <p:cNvPr id="300" name="Google Shape;300;p8">
            <a:extLst xmlns:a="http://schemas.openxmlformats.org/drawingml/2006/main">
              <a:ext uri="{FF2B5EF4-FFF2-40B4-BE49-F238E27FC236}">
                <a16:creationId xmlns:a16="http://schemas.microsoft.com/office/drawing/2014/main" id="{11F75A1D-2AC8-4D0B-984E-F58BD0CA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053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41C39B"/>
                </a:solidFill>
              </a:rPr>
              <a:t>3</a:t>
            </a:r>
            <a:endParaRPr/>
          </a:p>
        </p:txBody>
      </p:sp>
      <p:sp>
        <p:nvSpPr>
          <p:cNvPr id="301" name="Google Shape;301;p8">
            <a:extLst xmlns:a="http://schemas.openxmlformats.org/drawingml/2006/main">
              <a:ext uri="{FF2B5EF4-FFF2-40B4-BE49-F238E27FC236}">
                <a16:creationId xmlns:a16="http://schemas.microsoft.com/office/drawing/2014/main" id="{C1B6F903-581D-447A-8431-C065EA66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471" y="4544646"/>
            <a:ext cx="181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Búsqueda global</a:t>
            </a:r>
            <a:endParaRPr/>
          </a:p>
        </p:txBody>
      </p:sp>
      <p:sp>
        <p:nvSpPr>
          <p:cNvPr id="302" name="Google Shape;302;p8">
            <a:extLst xmlns:a="http://schemas.openxmlformats.org/drawingml/2006/main">
              <a:ext uri="{FF2B5EF4-FFF2-40B4-BE49-F238E27FC236}">
                <a16:creationId xmlns:a16="http://schemas.microsoft.com/office/drawing/2014/main" id="{572BA8A7-77AC-41C4-8874-7179F579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64967"/>
            <a:ext cx="20955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Busca estudiantes y reportes desde la barra superior.</a:t>
            </a:r>
            <a:endParaRPr/>
          </a:p>
        </p:txBody>
      </p:sp>
      <p:sp>
        <p:nvSpPr>
          <p:cNvPr id="303" name="Google Shape;303;p8">
            <a:extLst xmlns:a="http://schemas.openxmlformats.org/drawingml/2006/main">
              <a:ext uri="{FF2B5EF4-FFF2-40B4-BE49-F238E27FC236}">
                <a16:creationId xmlns:a16="http://schemas.microsoft.com/office/drawing/2014/main" id="{5BF55EB8-2A20-4B0E-9594-3F3F8FA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8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85D8F0"/>
                </a:solidFill>
              </a:rPr>
              <a:t>La misma estructura reduce la desorientación al cambiar de módulo.</a:t>
            </a:r>
            <a:endParaRPr/>
          </a:p>
        </p:txBody>
      </p:sp>
      <p:cxnSp>
        <p:nvCxnSpPr>
          <p:cNvPr id="330" name="Google Shape;304;p8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5" name="Google Shape;305;p8">
            <a:extLst xmlns:a="http://schemas.openxmlformats.org/drawingml/2006/main">
              <a:ext uri="{FF2B5EF4-FFF2-40B4-BE49-F238E27FC236}">
                <a16:creationId xmlns:a16="http://schemas.microsoft.com/office/drawing/2014/main" id="{EBDAE021-41AC-4C37-A68E-9D3A753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306" name="Google Shape;306;p8">
            <a:extLst xmlns:a="http://schemas.openxmlformats.org/drawingml/2006/main">
              <a:ext uri="{FF2B5EF4-FFF2-40B4-BE49-F238E27FC236}">
                <a16:creationId xmlns:a16="http://schemas.microsoft.com/office/drawing/2014/main" id="{9293B85C-D8C3-4786-8D45-C4CC5346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8639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9">
            <a:extLst xmlns:a="http://schemas.openxmlformats.org/drawingml/2006/main">
              <a:ext uri="{FF2B5EF4-FFF2-40B4-BE49-F238E27FC236}">
                <a16:creationId xmlns:a16="http://schemas.microsoft.com/office/drawing/2014/main" id="{49350250-E0A7-4989-B891-6516C0FF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09</a:t>
            </a:r>
            <a:endParaRPr/>
          </a:p>
        </p:txBody>
      </p:sp>
      <p:sp>
        <p:nvSpPr>
          <p:cNvPr id="313" name="Google Shape;313;p9">
            <a:extLst xmlns:a="http://schemas.openxmlformats.org/drawingml/2006/main">
              <a:ext uri="{FF2B5EF4-FFF2-40B4-BE49-F238E27FC236}">
                <a16:creationId xmlns:a16="http://schemas.microsoft.com/office/drawing/2014/main" id="{CFF2B596-E4A0-4487-8C70-AC12FF72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8FC"/>
                </a:solidFill>
              </a:rPr>
              <a:t>Términos y Condiciones / Política de Tratamiento de Datos</a:t>
            </a:r>
            <a:endParaRPr/>
          </a:p>
        </p:txBody>
      </p:sp>
      <p:sp>
        <p:nvSpPr>
          <p:cNvPr id="314" name="Google Shape;314;p9">
            <a:extLst xmlns:a="http://schemas.openxmlformats.org/drawingml/2006/main">
              <a:ext uri="{FF2B5EF4-FFF2-40B4-BE49-F238E27FC236}">
                <a16:creationId xmlns:a16="http://schemas.microsoft.com/office/drawing/2014/main" id="{D8940329-E6D0-4B42-A698-D1CC844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Los documentos legales están enlazados desde el login y explican responsabilidades y límites.</a:t>
            </a:r>
            <a:endParaRPr/>
          </a:p>
        </p:txBody>
      </p:sp>
      <p:cxnSp>
        <p:nvCxnSpPr>
          <p:cNvPr id="334" name="Google Shape;315;p9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p9">
            <a:extLst xmlns:a="http://schemas.openxmlformats.org/drawingml/2006/main">
              <a:ext uri="{FF2B5EF4-FFF2-40B4-BE49-F238E27FC236}">
                <a16:creationId xmlns:a16="http://schemas.microsoft.com/office/drawing/2014/main" id="{D99070A7-7DF1-40C8-A8B9-2063516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76425"/>
            <a:ext cx="52006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1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6e54e552014e0f">
            <a:alphaModFix/>
          </a:blip>
          <a:srcRect xmlns:a="http://schemas.openxmlformats.org/drawingml/2006/main" l="18421" t="0" r="18421" b="0"/>
          <a:stretch xmlns:a="http://schemas.openxmlformats.org/drawingml/2006/main"/>
        </p:blipFill>
        <p:spPr>
          <a:xfrm xmlns:a="http://schemas.openxmlformats.org/drawingml/2006/main">
            <a:off x="666750" y="190500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  <a:ln xmlns:a="http://schemas.openxmlformats.org/drawingml/2006/main">
            <a:noFill/>
          </a:ln>
        </p:spPr>
      </p:pic>
      <p:sp>
        <p:nvSpPr>
          <p:cNvPr id="318" name="Google Shape;318;p9">
            <a:extLst xmlns:a="http://schemas.openxmlformats.org/drawingml/2006/main">
              <a:ext uri="{FF2B5EF4-FFF2-40B4-BE49-F238E27FC236}">
                <a16:creationId xmlns:a16="http://schemas.microsoft.com/office/drawing/2014/main" id="{5A1C91F3-6B8F-49BB-852A-B24D0537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76425"/>
            <a:ext cx="52006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19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597495854b407d">
            <a:alphaModFix/>
          </a:blip>
          <a:srcRect xmlns:a="http://schemas.openxmlformats.org/drawingml/2006/main" l="18300" t="0" r="18300" b="0"/>
          <a:stretch xmlns:a="http://schemas.openxmlformats.org/drawingml/2006/main"/>
        </p:blipFill>
        <p:spPr>
          <a:xfrm xmlns:a="http://schemas.openxmlformats.org/drawingml/2006/main">
            <a:off x="6381750" y="190500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  <a:ln xmlns:a="http://schemas.openxmlformats.org/drawingml/2006/main">
            <a:noFill/>
          </a:ln>
        </p:spPr>
      </p:pic>
      <p:sp>
        <p:nvSpPr>
          <p:cNvPr id="320" name="Google Shape;320;p9">
            <a:extLst xmlns:a="http://schemas.openxmlformats.org/drawingml/2006/main">
              <a:ext uri="{FF2B5EF4-FFF2-40B4-BE49-F238E27FC236}">
                <a16:creationId xmlns:a16="http://schemas.microsoft.com/office/drawing/2014/main" id="{61936626-FA1B-4C23-A386-764B15A6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>
            <a:extLst xmlns:a="http://schemas.openxmlformats.org/drawingml/2006/main">
              <a:ext uri="{FF2B5EF4-FFF2-40B4-BE49-F238E27FC236}">
                <a16:creationId xmlns:a16="http://schemas.microsoft.com/office/drawing/2014/main" id="{05A9A5C4-8585-486B-AD7A-C8CF8B7C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F4F8FC"/>
                </a:solidFill>
              </a:rPr>
              <a:t>TÉRMINOS Y CONDICIONES</a:t>
            </a:r>
            <a:endParaRPr/>
          </a:p>
        </p:txBody>
      </p:sp>
      <p:sp>
        <p:nvSpPr>
          <p:cNvPr id="322" name="Google Shape;322;p9">
            <a:extLst xmlns:a="http://schemas.openxmlformats.org/drawingml/2006/main">
              <a:ext uri="{FF2B5EF4-FFF2-40B4-BE49-F238E27FC236}">
                <a16:creationId xmlns:a16="http://schemas.microsoft.com/office/drawing/2014/main" id="{977B544D-77C6-4ABD-8076-19A19C2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4E6"/>
          </a:solidFill>
          <a:ln xmlns:a="http://schemas.openxmlformats.org/drawingml/2006/main" w="9525" cmpd="sng">
            <a:solidFill>
              <a:srgbClr val="39C4E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>
            <a:extLst xmlns:a="http://schemas.openxmlformats.org/drawingml/2006/main">
              <a:ext uri="{FF2B5EF4-FFF2-40B4-BE49-F238E27FC236}">
                <a16:creationId xmlns:a16="http://schemas.microsoft.com/office/drawing/2014/main" id="{332D2F76-DA6E-4428-8863-759FAFB7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7162B"/>
                </a:solidFill>
              </a:rPr>
              <a:t>TRATAMIENTO DE DATOS</a:t>
            </a:r>
            <a:endParaRPr/>
          </a:p>
        </p:txBody>
      </p:sp>
      <p:sp>
        <p:nvSpPr>
          <p:cNvPr id="324" name="Google Shape;324;p9">
            <a:extLst xmlns:a="http://schemas.openxmlformats.org/drawingml/2006/main">
              <a:ext uri="{FF2B5EF4-FFF2-40B4-BE49-F238E27FC236}">
                <a16:creationId xmlns:a16="http://schemas.microsoft.com/office/drawing/2014/main" id="{FC03003B-5F3E-42CF-AC1C-02732F8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858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>
            <a:extLst xmlns:a="http://schemas.openxmlformats.org/drawingml/2006/main">
              <a:ext uri="{FF2B5EF4-FFF2-40B4-BE49-F238E27FC236}">
                <a16:creationId xmlns:a16="http://schemas.microsoft.com/office/drawing/2014/main" id="{187F3962-937D-4D2A-9713-69692F1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>
                <a:solidFill>
                  <a:srgbClr val="F5B94C"/>
                </a:solidFill>
              </a:rPr>
              <a:t>Pendiente institucional: completar los correos de contacto y el teléfono en los documentos legales.</a:t>
            </a:r>
            <a:endParaRPr/>
          </a:p>
        </p:txBody>
      </p:sp>
      <p:cxnSp>
        <p:nvCxnSpPr>
          <p:cNvPr id="345" name="Google Shape;326;p9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7" name="Google Shape;327;p9">
            <a:extLst xmlns:a="http://schemas.openxmlformats.org/drawingml/2006/main">
              <a:ext uri="{FF2B5EF4-FFF2-40B4-BE49-F238E27FC236}">
                <a16:creationId xmlns:a16="http://schemas.microsoft.com/office/drawing/2014/main" id="{35336B6E-0CAA-4F71-B361-7DE6D678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328" name="Google Shape;328;p9">
            <a:extLst xmlns:a="http://schemas.openxmlformats.org/drawingml/2006/main">
              <a:ext uri="{FF2B5EF4-FFF2-40B4-BE49-F238E27FC236}">
                <a16:creationId xmlns:a16="http://schemas.microsoft.com/office/drawing/2014/main" id="{8C2AA7C1-5CB3-40B2-8103-58ED16C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09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0127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Google Shape;334;p10">
            <a:extLst xmlns:a="http://schemas.openxmlformats.org/drawingml/2006/main">
              <a:ext uri="{FF2B5EF4-FFF2-40B4-BE49-F238E27FC236}">
                <a16:creationId xmlns:a16="http://schemas.microsoft.com/office/drawing/2014/main" id="{98A88D27-76BD-48D5-8455-620AF16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10</a:t>
            </a:r>
            <a:endParaRPr/>
          </a:p>
        </p:txBody>
      </p:sp>
      <p:sp>
        <p:nvSpPr>
          <p:cNvPr id="335" name="Google Shape;335;p10">
            <a:extLst xmlns:a="http://schemas.openxmlformats.org/drawingml/2006/main">
              <a:ext uri="{FF2B5EF4-FFF2-40B4-BE49-F238E27FC236}">
                <a16:creationId xmlns:a16="http://schemas.microsoft.com/office/drawing/2014/main" id="{3330E5F1-F601-4E31-8D8F-CDCF39A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4F8FC"/>
                </a:solidFill>
              </a:rPr>
              <a:t>El menú cambia según la responsabilidad de cada usuario</a:t>
            </a:r>
            <a:endParaRPr/>
          </a:p>
        </p:txBody>
      </p:sp>
      <p:sp>
        <p:nvSpPr>
          <p:cNvPr id="336" name="Google Shape;336;p10">
            <a:extLst xmlns:a="http://schemas.openxmlformats.org/drawingml/2006/main">
              <a:ext uri="{FF2B5EF4-FFF2-40B4-BE49-F238E27FC236}">
                <a16:creationId xmlns:a16="http://schemas.microsoft.com/office/drawing/2014/main" id="{13C9BD17-B539-4CE6-9284-0E17E1A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La navegación aplica el principio de mínimo acceso y muestra solo las tareas relacionadas con el rol.</a:t>
            </a:r>
            <a:endParaRPr/>
          </a:p>
        </p:txBody>
      </p:sp>
      <p:cxnSp>
        <p:nvCxnSpPr>
          <p:cNvPr id="363" name="Google Shape;337;p10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" name="Google Shape;338;p10">
            <a:extLst xmlns:a="http://schemas.openxmlformats.org/drawingml/2006/main">
              <a:ext uri="{FF2B5EF4-FFF2-40B4-BE49-F238E27FC236}">
                <a16:creationId xmlns:a16="http://schemas.microsoft.com/office/drawing/2014/main" id="{FBADCECB-68DD-4EFE-8EC0-253950AB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3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629cb11c0f4d3c">
            <a:alphaModFix/>
          </a:blip>
          <a:srcRect xmlns:a="http://schemas.openxmlformats.org/drawingml/2006/main" l="0" t="492" r="0" b="492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  <a:ln xmlns:a="http://schemas.openxmlformats.org/drawingml/2006/main">
            <a:noFill/>
          </a:ln>
        </p:spPr>
      </p:pic>
      <p:sp>
        <p:nvSpPr>
          <p:cNvPr id="340" name="Google Shape;340;p10">
            <a:extLst xmlns:a="http://schemas.openxmlformats.org/drawingml/2006/main">
              <a:ext uri="{FF2B5EF4-FFF2-40B4-BE49-F238E27FC236}">
                <a16:creationId xmlns:a16="http://schemas.microsoft.com/office/drawing/2014/main" id="{1D334BFE-31C9-48C6-9F85-4DEF676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39C4E6"/>
                </a:solidFill>
              </a:rPr>
              <a:t>Coordinador</a:t>
            </a:r>
            <a:endParaRPr/>
          </a:p>
        </p:txBody>
      </p:sp>
      <p:sp>
        <p:nvSpPr>
          <p:cNvPr id="341" name="Google Shape;341;p10">
            <a:extLst xmlns:a="http://schemas.openxmlformats.org/drawingml/2006/main">
              <a:ext uri="{FF2B5EF4-FFF2-40B4-BE49-F238E27FC236}">
                <a16:creationId xmlns:a16="http://schemas.microsoft.com/office/drawing/2014/main" id="{9B40E6B3-48AE-4694-8CF2-6FA59C0A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Gestión institucional completa, con usuarios, configuración y auditoría.</a:t>
            </a:r>
            <a:endParaRPr/>
          </a:p>
        </p:txBody>
      </p:sp>
      <p:cxnSp>
        <p:nvCxnSpPr>
          <p:cNvPr id="368" name="Google Shape;342;p10"/>
          <p:cNvCxnSpPr/>
          <p:nvPr/>
        </p:nvCxnSpPr>
        <p:spPr>
          <a:xfrm xmlns:a="http://schemas.openxmlformats.org/drawingml/2006/main">
            <a:off x="4191000" y="209550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p10">
            <a:extLst xmlns:a="http://schemas.openxmlformats.org/drawingml/2006/main">
              <a:ext uri="{FF2B5EF4-FFF2-40B4-BE49-F238E27FC236}">
                <a16:creationId xmlns:a16="http://schemas.microsoft.com/office/drawing/2014/main" id="{41ACDB76-FBF7-407B-B553-61C34DA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4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db5f5495734229">
            <a:alphaModFix/>
          </a:blip>
          <a:srcRect xmlns:a="http://schemas.openxmlformats.org/drawingml/2006/main" l="0" t="248" r="0" b="248"/>
          <a:stretch xmlns:a="http://schemas.openxmlformats.org/drawingml/2006/main"/>
        </p:blipFill>
        <p:spPr>
          <a:xfrm xmlns:a="http://schemas.openxmlformats.org/drawingml/2006/main">
            <a:off x="438150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  <a:ln xmlns:a="http://schemas.openxmlformats.org/drawingml/2006/main">
            <a:noFill/>
          </a:ln>
        </p:spPr>
      </p:pic>
      <p:sp>
        <p:nvSpPr>
          <p:cNvPr id="345" name="Google Shape;345;p10">
            <a:extLst xmlns:a="http://schemas.openxmlformats.org/drawingml/2006/main">
              <a:ext uri="{FF2B5EF4-FFF2-40B4-BE49-F238E27FC236}">
                <a16:creationId xmlns:a16="http://schemas.microsoft.com/office/drawing/2014/main" id="{E4E3588E-3AA1-4F0C-B1A9-7D6FEE9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41C39B"/>
                </a:solidFill>
              </a:rPr>
              <a:t>Docente</a:t>
            </a:r>
            <a:endParaRPr/>
          </a:p>
        </p:txBody>
      </p:sp>
      <p:sp>
        <p:nvSpPr>
          <p:cNvPr id="346" name="Google Shape;346;p10">
            <a:extLst xmlns:a="http://schemas.openxmlformats.org/drawingml/2006/main">
              <a:ext uri="{FF2B5EF4-FFF2-40B4-BE49-F238E27FC236}">
                <a16:creationId xmlns:a16="http://schemas.microsoft.com/office/drawing/2014/main" id="{875C4A11-5F9E-4D95-A8A2-C3DF9F61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Reportes, convivencia, seguimiento, estadísticas, estudiantes y comunicaciones.</a:t>
            </a:r>
            <a:endParaRPr/>
          </a:p>
        </p:txBody>
      </p:sp>
      <p:cxnSp>
        <p:nvCxnSpPr>
          <p:cNvPr id="373" name="Google Shape;347;p10"/>
          <p:cNvCxnSpPr/>
          <p:nvPr/>
        </p:nvCxnSpPr>
        <p:spPr>
          <a:xfrm xmlns:a="http://schemas.openxmlformats.org/drawingml/2006/main">
            <a:off x="7905750" y="209550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>
            <a:extLst xmlns:a="http://schemas.openxmlformats.org/drawingml/2006/main">
              <a:ext uri="{FF2B5EF4-FFF2-40B4-BE49-F238E27FC236}">
                <a16:creationId xmlns:a16="http://schemas.microsoft.com/office/drawing/2014/main" id="{CBA97D81-E4E6-40DB-83AD-085B5F76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4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e502bc9bfa4b0d">
            <a:alphaModFix/>
          </a:blip>
          <a:srcRect xmlns:a="http://schemas.openxmlformats.org/drawingml/2006/main" l="131" t="0" r="131" b="0"/>
          <a:stretch xmlns:a="http://schemas.openxmlformats.org/drawingml/2006/main"/>
        </p:blipFill>
        <p:spPr>
          <a:xfrm xmlns:a="http://schemas.openxmlformats.org/drawingml/2006/main">
            <a:off x="809625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  <a:ln xmlns:a="http://schemas.openxmlformats.org/drawingml/2006/main">
            <a:noFill/>
          </a:ln>
        </p:spPr>
      </p:pic>
      <p:sp>
        <p:nvSpPr>
          <p:cNvPr id="350" name="Google Shape;350;p10">
            <a:extLst xmlns:a="http://schemas.openxmlformats.org/drawingml/2006/main">
              <a:ext uri="{FF2B5EF4-FFF2-40B4-BE49-F238E27FC236}">
                <a16:creationId xmlns:a16="http://schemas.microsoft.com/office/drawing/2014/main" id="{8D0DEACC-FE5B-4773-A1C7-5CB2B56A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>
                <a:solidFill>
                  <a:srgbClr val="F5B94C"/>
                </a:solidFill>
              </a:rPr>
              <a:t>Portería</a:t>
            </a:r>
            <a:endParaRPr/>
          </a:p>
        </p:txBody>
      </p:sp>
      <p:sp>
        <p:nvSpPr>
          <p:cNvPr id="351" name="Google Shape;351;p10">
            <a:extLst xmlns:a="http://schemas.openxmlformats.org/drawingml/2006/main">
              <a:ext uri="{FF2B5EF4-FFF2-40B4-BE49-F238E27FC236}">
                <a16:creationId xmlns:a16="http://schemas.microsoft.com/office/drawing/2014/main" id="{BA73811B-FCDA-4C8D-BD45-0DBCC64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Dashboard, salidas, calendario y perfil.</a:t>
            </a:r>
            <a:endParaRPr/>
          </a:p>
        </p:txBody>
      </p:sp>
      <p:sp>
        <p:nvSpPr>
          <p:cNvPr id="352" name="Google Shape;352;p10">
            <a:extLst xmlns:a="http://schemas.openxmlformats.org/drawingml/2006/main">
              <a:ext uri="{FF2B5EF4-FFF2-40B4-BE49-F238E27FC236}">
                <a16:creationId xmlns:a16="http://schemas.microsoft.com/office/drawing/2014/main" id="{7469593C-3FAD-4D0D-900A-961D736A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244A6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>
            <a:extLst xmlns:a="http://schemas.openxmlformats.org/drawingml/2006/main">
              <a:ext uri="{FF2B5EF4-FFF2-40B4-BE49-F238E27FC236}">
                <a16:creationId xmlns:a16="http://schemas.microsoft.com/office/drawing/2014/main" id="{2F99DEA9-C0FE-40C6-8258-54E8EFD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85D8F0"/>
                </a:solidFill>
              </a:rPr>
              <a:t>El menú móvil conserva los permisos por rol. Cada usuario accede a las funciones autorizadas.</a:t>
            </a:r>
            <a:endParaRPr/>
          </a:p>
        </p:txBody>
      </p:sp>
      <p:cxnSp>
        <p:nvCxnSpPr>
          <p:cNvPr id="380" name="Google Shape;354;p10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5" name="Google Shape;355;p10">
            <a:extLst xmlns:a="http://schemas.openxmlformats.org/drawingml/2006/main">
              <a:ext uri="{FF2B5EF4-FFF2-40B4-BE49-F238E27FC236}">
                <a16:creationId xmlns:a16="http://schemas.microsoft.com/office/drawing/2014/main" id="{D5F4BDDB-B82C-4F70-BF88-3A4324D2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356" name="Google Shape;356;p10">
            <a:extLst xmlns:a="http://schemas.openxmlformats.org/drawingml/2006/main">
              <a:ext uri="{FF2B5EF4-FFF2-40B4-BE49-F238E27FC236}">
                <a16:creationId xmlns:a16="http://schemas.microsoft.com/office/drawing/2014/main" id="{CC6F1F18-D55B-49DD-93AB-EC0F4039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0987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" name="Google Shape;362;p11">
            <a:extLst xmlns:a="http://schemas.openxmlformats.org/drawingml/2006/main">
              <a:ext uri="{FF2B5EF4-FFF2-40B4-BE49-F238E27FC236}">
                <a16:creationId xmlns:a16="http://schemas.microsoft.com/office/drawing/2014/main" id="{F5E5789D-3997-4D97-BBBD-632EA19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11</a:t>
            </a:r>
            <a:endParaRPr/>
          </a:p>
        </p:txBody>
      </p:sp>
      <p:sp>
        <p:nvSpPr>
          <p:cNvPr id="363" name="Google Shape;363;p11">
            <a:extLst xmlns:a="http://schemas.openxmlformats.org/drawingml/2006/main">
              <a:ext uri="{FF2B5EF4-FFF2-40B4-BE49-F238E27FC236}">
                <a16:creationId xmlns:a16="http://schemas.microsoft.com/office/drawing/2014/main" id="{EE1E720C-D274-4862-A287-543E6106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8FC"/>
                </a:solidFill>
              </a:rPr>
              <a:t>Botón</a:t>
            </a:r>
            <a:r>
              <a:rPr sz="2700" b="1">
                <a:solidFill>
                  <a:srgbClr val="F4F8FC"/>
                </a:solidFill>
              </a:rPr>
              <a:t> de Regresar</a:t>
            </a:r>
            <a:endParaRPr/>
          </a:p>
        </p:txBody>
      </p:sp>
      <p:sp>
        <p:nvSpPr>
          <p:cNvPr id="364" name="Google Shape;364;p11">
            <a:extLst xmlns:a="http://schemas.openxmlformats.org/drawingml/2006/main">
              <a:ext uri="{FF2B5EF4-FFF2-40B4-BE49-F238E27FC236}">
                <a16:creationId xmlns:a16="http://schemas.microsoft.com/office/drawing/2014/main" id="{784A1E83-15B2-4859-9962-D53D0EB1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SIGDE usa controles visibles para volver, cerrar formularios o recuperar el menú.</a:t>
            </a:r>
            <a:endParaRPr/>
          </a:p>
        </p:txBody>
      </p:sp>
      <p:cxnSp>
        <p:nvCxnSpPr>
          <p:cNvPr id="389" name="Google Shape;365;p11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11">
            <a:extLst xmlns:a="http://schemas.openxmlformats.org/drawingml/2006/main">
              <a:ext uri="{FF2B5EF4-FFF2-40B4-BE49-F238E27FC236}">
                <a16:creationId xmlns:a16="http://schemas.microsoft.com/office/drawing/2014/main" id="{0BD91844-BBAD-479A-B56A-FD9AA420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5962650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67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8c17f20a2b4794">
            <a:alphaModFix/>
          </a:blip>
          <a:srcRect xmlns:a="http://schemas.openxmlformats.org/drawingml/2006/main" l="11912" t="0" r="11912" b="0"/>
          <a:stretch xmlns:a="http://schemas.openxmlformats.org/drawingml/2006/main"/>
        </p:blipFill>
        <p:spPr>
          <a:xfrm xmlns:a="http://schemas.openxmlformats.org/drawingml/2006/main">
            <a:off x="666750" y="1952625"/>
            <a:ext cx="5905500" cy="3714750"/>
          </a:xfrm>
          <a:prstGeom xmlns:a="http://schemas.openxmlformats.org/drawingml/2006/main" prst="roundRect">
            <a:avLst>
              <a:gd name="adj" fmla="val 4615"/>
            </a:avLst>
          </a:prstGeom>
          <a:ln xmlns:a="http://schemas.openxmlformats.org/drawingml/2006/main">
            <a:noFill/>
          </a:ln>
        </p:spPr>
      </p:pic>
      <p:sp>
        <p:nvSpPr>
          <p:cNvPr id="368" name="Google Shape;368;p11">
            <a:extLst xmlns:a="http://schemas.openxmlformats.org/drawingml/2006/main">
              <a:ext uri="{FF2B5EF4-FFF2-40B4-BE49-F238E27FC236}">
                <a16:creationId xmlns:a16="http://schemas.microsoft.com/office/drawing/2014/main" id="{25422C42-EF2F-4106-A9A9-0AE92644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86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>
            <a:extLst xmlns:a="http://schemas.openxmlformats.org/drawingml/2006/main">
              <a:ext uri="{FF2B5EF4-FFF2-40B4-BE49-F238E27FC236}">
                <a16:creationId xmlns:a16="http://schemas.microsoft.com/office/drawing/2014/main" id="{D0731105-3105-4FF8-AA8D-A62AAEE1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24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1</a:t>
            </a:r>
            <a:endParaRPr/>
          </a:p>
        </p:txBody>
      </p:sp>
      <p:sp>
        <p:nvSpPr>
          <p:cNvPr id="370" name="Google Shape;370;p11">
            <a:extLst xmlns:a="http://schemas.openxmlformats.org/drawingml/2006/main">
              <a:ext uri="{FF2B5EF4-FFF2-40B4-BE49-F238E27FC236}">
                <a16:creationId xmlns:a16="http://schemas.microsoft.com/office/drawing/2014/main" id="{97242ECB-5D82-4E96-AF4A-1168D74A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24050"/>
            <a:ext cx="4438650" cy="2181225"/>
          </a:xfrm>
          <a:prstGeom xmlns:a="http://schemas.openxmlformats.org/drawingml/2006/main" prst="roundRect">
            <a:avLst>
              <a:gd name="adj" fmla="val 7860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7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a143d14eea4767">
            <a:alphaModFix/>
          </a:blip>
          <a:srcRect xmlns:a="http://schemas.openxmlformats.org/drawingml/2006/main" l="0" t="80" r="0" b="80"/>
          <a:stretch xmlns:a="http://schemas.openxmlformats.org/drawingml/2006/main"/>
        </p:blipFill>
        <p:spPr>
          <a:xfrm xmlns:a="http://schemas.openxmlformats.org/drawingml/2006/main">
            <a:off x="7143750" y="1952625"/>
            <a:ext cx="4381500" cy="2124075"/>
          </a:xfrm>
          <a:prstGeom xmlns:a="http://schemas.openxmlformats.org/drawingml/2006/main" prst="roundRect">
            <a:avLst>
              <a:gd name="adj" fmla="val 8072"/>
            </a:avLst>
          </a:prstGeom>
          <a:ln xmlns:a="http://schemas.openxmlformats.org/drawingml/2006/main">
            <a:noFill/>
          </a:ln>
        </p:spPr>
      </p:pic>
      <p:sp>
        <p:nvSpPr>
          <p:cNvPr id="372" name="Google Shape;372;p11">
            <a:extLst xmlns:a="http://schemas.openxmlformats.org/drawingml/2006/main">
              <a:ext uri="{FF2B5EF4-FFF2-40B4-BE49-F238E27FC236}">
                <a16:creationId xmlns:a16="http://schemas.microsoft.com/office/drawing/2014/main" id="{38B6FC31-F12C-46B8-BEAC-AD101156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>
            <a:extLst xmlns:a="http://schemas.openxmlformats.org/drawingml/2006/main">
              <a:ext uri="{FF2B5EF4-FFF2-40B4-BE49-F238E27FC236}">
                <a16:creationId xmlns:a16="http://schemas.microsoft.com/office/drawing/2014/main" id="{CC0BD7C3-3E00-48C9-8F93-E7B1C3F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7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2</a:t>
            </a:r>
            <a:endParaRPr/>
          </a:p>
        </p:txBody>
      </p:sp>
      <p:sp>
        <p:nvSpPr>
          <p:cNvPr id="374" name="Google Shape;374;p11">
            <a:extLst xmlns:a="http://schemas.openxmlformats.org/drawingml/2006/main">
              <a:ext uri="{FF2B5EF4-FFF2-40B4-BE49-F238E27FC236}">
                <a16:creationId xmlns:a16="http://schemas.microsoft.com/office/drawing/2014/main" id="{E449EE69-667B-45F5-99B4-156F5C99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5B94C"/>
                </a:solidFill>
              </a:rPr>
              <a:t>1</a:t>
            </a:r>
            <a:endParaRPr/>
          </a:p>
        </p:txBody>
      </p:sp>
      <p:sp>
        <p:nvSpPr>
          <p:cNvPr id="375" name="Google Shape;375;p11">
            <a:extLst xmlns:a="http://schemas.openxmlformats.org/drawingml/2006/main">
              <a:ext uri="{FF2B5EF4-FFF2-40B4-BE49-F238E27FC236}">
                <a16:creationId xmlns:a16="http://schemas.microsoft.com/office/drawing/2014/main" id="{0C328AD9-EF34-4EAB-9046-9CECEE45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672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Botón “Regresar”</a:t>
            </a:r>
            <a:endParaRPr/>
          </a:p>
        </p:txBody>
      </p:sp>
      <p:sp>
        <p:nvSpPr>
          <p:cNvPr id="376" name="Google Shape;376;p11">
            <a:extLst xmlns:a="http://schemas.openxmlformats.org/drawingml/2006/main">
              <a:ext uri="{FF2B5EF4-FFF2-40B4-BE49-F238E27FC236}">
                <a16:creationId xmlns:a16="http://schemas.microsoft.com/office/drawing/2014/main" id="{BDB5F584-2CF4-4D1D-B8BD-C9E94D0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39079"/>
            <a:ext cx="1952700" cy="7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Devuelve al paso anterior del flujo de autenticación sin perder la referencia visual.</a:t>
            </a:r>
            <a:endParaRPr/>
          </a:p>
        </p:txBody>
      </p:sp>
      <p:sp>
        <p:nvSpPr>
          <p:cNvPr id="377" name="Google Shape;377;p11">
            <a:extLst xmlns:a="http://schemas.openxmlformats.org/drawingml/2006/main">
              <a:ext uri="{FF2B5EF4-FFF2-40B4-BE49-F238E27FC236}">
                <a16:creationId xmlns:a16="http://schemas.microsoft.com/office/drawing/2014/main" id="{3EB32BC9-2C49-4515-8AF4-43C9415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39C4E6"/>
                </a:solidFill>
              </a:rPr>
              <a:t>2</a:t>
            </a:r>
            <a:endParaRPr/>
          </a:p>
        </p:txBody>
      </p:sp>
      <p:sp>
        <p:nvSpPr>
          <p:cNvPr id="378" name="Google Shape;378;p11">
            <a:extLst xmlns:a="http://schemas.openxmlformats.org/drawingml/2006/main">
              <a:ext uri="{FF2B5EF4-FFF2-40B4-BE49-F238E27FC236}">
                <a16:creationId xmlns:a16="http://schemas.microsoft.com/office/drawing/2014/main" id="{3010CAC3-C7C4-4024-95EE-3A0B1996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67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>
                <a:solidFill>
                  <a:srgbClr val="F4F8FC"/>
                </a:solidFill>
              </a:rPr>
              <a:t>Control del menú</a:t>
            </a:r>
            <a:endParaRPr/>
          </a:p>
        </p:txBody>
      </p:sp>
      <p:sp>
        <p:nvSpPr>
          <p:cNvPr id="379" name="Google Shape;379;p11">
            <a:extLst xmlns:a="http://schemas.openxmlformats.org/drawingml/2006/main">
              <a:ext uri="{FF2B5EF4-FFF2-40B4-BE49-F238E27FC236}">
                <a16:creationId xmlns:a16="http://schemas.microsoft.com/office/drawing/2014/main" id="{7C6AF57B-FF5B-4112-859C-07BF524C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1290"/>
            <a:ext cx="2095500" cy="7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>
                <a:solidFill>
                  <a:srgbClr val="A8B8C9"/>
                </a:solidFill>
              </a:rPr>
              <a:t>En escritorio contrae el menú. En móvil abre un panel y conserva el módulo activo.</a:t>
            </a:r>
            <a:endParaRPr/>
          </a:p>
        </p:txBody>
      </p:sp>
      <p:sp>
        <p:nvSpPr>
          <p:cNvPr id="380" name="Google Shape;380;p11">
            <a:extLst xmlns:a="http://schemas.openxmlformats.org/drawingml/2006/main">
              <a:ext uri="{FF2B5EF4-FFF2-40B4-BE49-F238E27FC236}">
                <a16:creationId xmlns:a16="http://schemas.microsoft.com/office/drawing/2014/main" id="{C83F36E0-B0F4-4B87-AF09-9AE83CA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85D8F0"/>
                </a:solidFill>
              </a:rPr>
              <a:t>En los documentos legales también aparece “← Volver al inicio de sesión”.</a:t>
            </a:r>
            <a:endParaRPr/>
          </a:p>
        </p:txBody>
      </p:sp>
      <p:cxnSp>
        <p:nvCxnSpPr>
          <p:cNvPr id="405" name="Google Shape;381;p11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" name="Google Shape;382;p11">
            <a:extLst xmlns:a="http://schemas.openxmlformats.org/drawingml/2006/main">
              <a:ext uri="{FF2B5EF4-FFF2-40B4-BE49-F238E27FC236}">
                <a16:creationId xmlns:a16="http://schemas.microsoft.com/office/drawing/2014/main" id="{F24B27AE-C74C-42B1-A4BE-E73F2562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383" name="Google Shape;383;p11">
            <a:extLst xmlns:a="http://schemas.openxmlformats.org/drawingml/2006/main">
              <a:ext uri="{FF2B5EF4-FFF2-40B4-BE49-F238E27FC236}">
                <a16:creationId xmlns:a16="http://schemas.microsoft.com/office/drawing/2014/main" id="{B0003506-8445-4064-B155-413A759D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85588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Google Shape;389;p12">
            <a:extLst xmlns:a="http://schemas.openxmlformats.org/drawingml/2006/main">
              <a:ext uri="{FF2B5EF4-FFF2-40B4-BE49-F238E27FC236}">
                <a16:creationId xmlns:a16="http://schemas.microsoft.com/office/drawing/2014/main" id="{16429331-19C2-48B4-AAC9-6EC96589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12</a:t>
            </a:r>
            <a:endParaRPr/>
          </a:p>
        </p:txBody>
      </p:sp>
      <p:sp>
        <p:nvSpPr>
          <p:cNvPr id="390" name="Google Shape;390;p12">
            <a:extLst xmlns:a="http://schemas.openxmlformats.org/drawingml/2006/main">
              <a:ext uri="{FF2B5EF4-FFF2-40B4-BE49-F238E27FC236}">
                <a16:creationId xmlns:a16="http://schemas.microsoft.com/office/drawing/2014/main" id="{D51E3BAE-F712-4E9A-8C8E-E095C34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4F8FC"/>
                </a:solidFill>
              </a:rPr>
              <a:t>La base de datos conecta personas, servicios y trazabilidad</a:t>
            </a:r>
            <a:endParaRPr/>
          </a:p>
        </p:txBody>
      </p:sp>
      <p:sp>
        <p:nvSpPr>
          <p:cNvPr id="391" name="Google Shape;391;p12">
            <a:extLst xmlns:a="http://schemas.openxmlformats.org/drawingml/2006/main">
              <a:ext uri="{FF2B5EF4-FFF2-40B4-BE49-F238E27FC236}">
                <a16:creationId xmlns:a16="http://schemas.microsoft.com/office/drawing/2014/main" id="{25DFC91E-0542-4073-8FF9-3404662E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El producto es la plataforma web; sus servicios operan sobre datos relacionados y permisos por rol.</a:t>
            </a:r>
            <a:endParaRPr/>
          </a:p>
        </p:txBody>
      </p:sp>
      <p:cxnSp>
        <p:nvCxnSpPr>
          <p:cNvPr id="425" name="Google Shape;392;p12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3" name="Google Shape;393;p12">
            <a:extLst xmlns:a="http://schemas.openxmlformats.org/drawingml/2006/main">
              <a:ext uri="{FF2B5EF4-FFF2-40B4-BE49-F238E27FC236}">
                <a16:creationId xmlns:a16="http://schemas.microsoft.com/office/drawing/2014/main" id="{83566845-8F49-4B58-8EB6-215A648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200150" cy="20955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>
            <a:extLst xmlns:a="http://schemas.openxmlformats.org/drawingml/2006/main">
              <a:ext uri="{FF2B5EF4-FFF2-40B4-BE49-F238E27FC236}">
                <a16:creationId xmlns:a16="http://schemas.microsoft.com/office/drawing/2014/main" id="{901520EF-F437-4A4F-AC17-AA548CD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1200150" cy="20955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9525" cmpd="sng">
            <a:solidFill>
              <a:srgbClr val="1F6FB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>
            <a:extLst xmlns:a="http://schemas.openxmlformats.org/drawingml/2006/main">
              <a:ext uri="{FF2B5EF4-FFF2-40B4-BE49-F238E27FC236}">
                <a16:creationId xmlns:a16="http://schemas.microsoft.com/office/drawing/2014/main" id="{A3AAB921-F55D-4E7C-9F85-B8CF2B61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33675"/>
            <a:ext cx="247650" cy="247650"/>
          </a:xfrm>
          <a:prstGeom xmlns:a="http://schemas.openxmlformats.org/drawingml/2006/main" prst="down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41C39B"/>
          </a:solidFill>
          <a:ln xmlns:a="http://schemas.openxmlformats.org/drawingml/2006/main" w="9525" cmpd="sng">
            <a:solidFill>
              <a:srgbClr val="41C39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>
            <a:extLst xmlns:a="http://schemas.openxmlformats.org/drawingml/2006/main">
              <a:ext uri="{FF2B5EF4-FFF2-40B4-BE49-F238E27FC236}">
                <a16:creationId xmlns:a16="http://schemas.microsoft.com/office/drawing/2014/main" id="{3647CB9C-2CD6-40CC-AEA3-60074AC2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85750" cy="457200"/>
          </a:xfrm>
          <a:prstGeom xmlns:a="http://schemas.openxmlformats.org/drawingml/2006/main" prst="down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5B94C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>
            <a:extLst xmlns:a="http://schemas.openxmlformats.org/drawingml/2006/main">
              <a:ext uri="{FF2B5EF4-FFF2-40B4-BE49-F238E27FC236}">
                <a16:creationId xmlns:a16="http://schemas.microsoft.com/office/drawing/2014/main" id="{E0CE1625-1178-4A7A-A790-54BF3BB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762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39C4E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>
            <a:extLst xmlns:a="http://schemas.openxmlformats.org/drawingml/2006/main">
              <a:ext uri="{FF2B5EF4-FFF2-40B4-BE49-F238E27FC236}">
                <a16:creationId xmlns:a16="http://schemas.microsoft.com/office/drawing/2014/main" id="{E72B498F-D336-4F9E-97D7-244E4273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Usuarios</a:t>
            </a:r>
            <a:endParaRPr/>
          </a:p>
        </p:txBody>
      </p:sp>
      <p:sp>
        <p:nvSpPr>
          <p:cNvPr id="399" name="Google Shape;399;p12">
            <a:extLst xmlns:a="http://schemas.openxmlformats.org/drawingml/2006/main">
              <a:ext uri="{FF2B5EF4-FFF2-40B4-BE49-F238E27FC236}">
                <a16:creationId xmlns:a16="http://schemas.microsoft.com/office/drawing/2014/main" id="{E7EEAA0A-F95D-492A-8C5B-C560E2BC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Roles, cuenta y sesión</a:t>
            </a:r>
            <a:endParaRPr/>
          </a:p>
        </p:txBody>
      </p:sp>
      <p:sp>
        <p:nvSpPr>
          <p:cNvPr id="400" name="Google Shape;400;p12">
            <a:extLst xmlns:a="http://schemas.openxmlformats.org/drawingml/2006/main">
              <a:ext uri="{FF2B5EF4-FFF2-40B4-BE49-F238E27FC236}">
                <a16:creationId xmlns:a16="http://schemas.microsoft.com/office/drawing/2014/main" id="{2076CF51-1002-4F3C-A8AC-8AE21FE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84012"/>
            <a:ext cx="23622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B88D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>
            <a:extLst xmlns:a="http://schemas.openxmlformats.org/drawingml/2006/main">
              <a:ext uri="{FF2B5EF4-FFF2-40B4-BE49-F238E27FC236}">
                <a16:creationId xmlns:a16="http://schemas.microsoft.com/office/drawing/2014/main" id="{31E24991-5310-4B44-88B0-327402B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SIGDE</a:t>
            </a:r>
            <a:endParaRPr/>
          </a:p>
        </p:txBody>
      </p:sp>
      <p:sp>
        <p:nvSpPr>
          <p:cNvPr id="402" name="Google Shape;402;p12">
            <a:extLst xmlns:a="http://schemas.openxmlformats.org/drawingml/2006/main">
              <a:ext uri="{FF2B5EF4-FFF2-40B4-BE49-F238E27FC236}">
                <a16:creationId xmlns:a16="http://schemas.microsoft.com/office/drawing/2014/main" id="{DB3BDB83-F19D-4C51-BBF2-8D4F72F8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48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Servicios digitales</a:t>
            </a:r>
            <a:endParaRPr/>
          </a:p>
        </p:txBody>
      </p:sp>
      <p:sp>
        <p:nvSpPr>
          <p:cNvPr id="403" name="Google Shape;403;p12">
            <a:extLst xmlns:a="http://schemas.openxmlformats.org/drawingml/2006/main">
              <a:ext uri="{FF2B5EF4-FFF2-40B4-BE49-F238E27FC236}">
                <a16:creationId xmlns:a16="http://schemas.microsoft.com/office/drawing/2014/main" id="{9DF3B2E2-724F-4CA8-B45A-37F41E8F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62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41C39B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>
            <a:extLst xmlns:a="http://schemas.openxmlformats.org/drawingml/2006/main">
              <a:ext uri="{FF2B5EF4-FFF2-40B4-BE49-F238E27FC236}">
                <a16:creationId xmlns:a16="http://schemas.microsoft.com/office/drawing/2014/main" id="{D4E0E9BA-8530-41F2-A390-56B36314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Estudiantes</a:t>
            </a:r>
            <a:endParaRPr/>
          </a:p>
        </p:txBody>
      </p:sp>
      <p:sp>
        <p:nvSpPr>
          <p:cNvPr id="405" name="Google Shape;405;p12">
            <a:extLst xmlns:a="http://schemas.openxmlformats.org/drawingml/2006/main">
              <a:ext uri="{FF2B5EF4-FFF2-40B4-BE49-F238E27FC236}">
                <a16:creationId xmlns:a16="http://schemas.microsoft.com/office/drawing/2014/main" id="{BFD4A0F2-0236-402C-9E1A-D1AE6C1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Acudientes y grupos</a:t>
            </a:r>
            <a:endParaRPr/>
          </a:p>
        </p:txBody>
      </p:sp>
      <p:sp>
        <p:nvSpPr>
          <p:cNvPr id="406" name="Google Shape;406;p12">
            <a:extLst xmlns:a="http://schemas.openxmlformats.org/drawingml/2006/main">
              <a:ext uri="{FF2B5EF4-FFF2-40B4-BE49-F238E27FC236}">
                <a16:creationId xmlns:a16="http://schemas.microsoft.com/office/drawing/2014/main" id="{9DE6C53E-79DC-41C1-9A8C-8FCDEB7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85D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>
            <a:extLst xmlns:a="http://schemas.openxmlformats.org/drawingml/2006/main">
              <a:ext uri="{FF2B5EF4-FFF2-40B4-BE49-F238E27FC236}">
                <a16:creationId xmlns:a16="http://schemas.microsoft.com/office/drawing/2014/main" id="{7A927E69-08D2-4E70-8691-ED328DD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Reportes</a:t>
            </a:r>
            <a:endParaRPr/>
          </a:p>
        </p:txBody>
      </p:sp>
      <p:sp>
        <p:nvSpPr>
          <p:cNvPr id="408" name="Google Shape;408;p12">
            <a:extLst xmlns:a="http://schemas.openxmlformats.org/drawingml/2006/main">
              <a:ext uri="{FF2B5EF4-FFF2-40B4-BE49-F238E27FC236}">
                <a16:creationId xmlns:a16="http://schemas.microsoft.com/office/drawing/2014/main" id="{5B1FBC53-104D-4FFA-B3FC-E7E5606A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Evidencias y observaciones</a:t>
            </a:r>
            <a:endParaRPr/>
          </a:p>
        </p:txBody>
      </p:sp>
      <p:sp>
        <p:nvSpPr>
          <p:cNvPr id="409" name="Google Shape;409;p12">
            <a:extLst xmlns:a="http://schemas.openxmlformats.org/drawingml/2006/main">
              <a:ext uri="{FF2B5EF4-FFF2-40B4-BE49-F238E27FC236}">
                <a16:creationId xmlns:a16="http://schemas.microsoft.com/office/drawing/2014/main" id="{7771820A-56AD-404C-A115-6AAD6ED2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F5B94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>
            <a:extLst xmlns:a="http://schemas.openxmlformats.org/drawingml/2006/main">
              <a:ext uri="{FF2B5EF4-FFF2-40B4-BE49-F238E27FC236}">
                <a16:creationId xmlns:a16="http://schemas.microsoft.com/office/drawing/2014/main" id="{DBCC80DF-BF85-4252-9573-B25736F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434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4F8FC"/>
                </a:solidFill>
              </a:rPr>
              <a:t>Salidas</a:t>
            </a:r>
            <a:endParaRPr/>
          </a:p>
        </p:txBody>
      </p:sp>
      <p:sp>
        <p:nvSpPr>
          <p:cNvPr id="411" name="Google Shape;411;p12">
            <a:extLst xmlns:a="http://schemas.openxmlformats.org/drawingml/2006/main">
              <a:ext uri="{FF2B5EF4-FFF2-40B4-BE49-F238E27FC236}">
                <a16:creationId xmlns:a16="http://schemas.microsoft.com/office/drawing/2014/main" id="{50C32F6A-A169-405C-A600-B4F692E4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48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A8B8C9"/>
                </a:solidFill>
              </a:rPr>
              <a:t>Autorizaciones y responsables</a:t>
            </a:r>
            <a:endParaRPr/>
          </a:p>
        </p:txBody>
      </p:sp>
      <p:sp>
        <p:nvSpPr>
          <p:cNvPr id="412" name="Google Shape;412;p12">
            <a:extLst xmlns:a="http://schemas.openxmlformats.org/drawingml/2006/main">
              <a:ext uri="{FF2B5EF4-FFF2-40B4-BE49-F238E27FC236}">
                <a16:creationId xmlns:a16="http://schemas.microsoft.com/office/drawing/2014/main" id="{A7E46780-A6AE-41F9-8617-76ABC28D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626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39C4E6"/>
                </a:solidFill>
              </a:rPr>
              <a:t>COMUNICACIONES · NOTIFICACIONES · AUDITORÍA</a:t>
            </a:r>
            <a:endParaRPr/>
          </a:p>
        </p:txBody>
      </p:sp>
      <p:cxnSp>
        <p:nvCxnSpPr>
          <p:cNvPr id="446" name="Google Shape;413;p12"/>
          <p:cNvCxnSpPr/>
          <p:nvPr/>
        </p:nvCxnSpPr>
        <p:spPr>
          <a:xfrm xmlns:a="http://schemas.openxmlformats.org/drawingml/2006/main">
            <a:off x="4000500" y="6067425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4" name="Google Shape;414;p12">
            <a:extLst xmlns:a="http://schemas.openxmlformats.org/drawingml/2006/main">
              <a:ext uri="{FF2B5EF4-FFF2-40B4-BE49-F238E27FC236}">
                <a16:creationId xmlns:a16="http://schemas.microsoft.com/office/drawing/2014/main" id="{68FFEDAE-F4BA-4EE5-A0DA-6E2C9FB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626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8B8C9"/>
                </a:solidFill>
              </a:rPr>
              <a:t>Prisma - </a:t>
            </a:r>
            <a:r>
              <a:rPr sz="1050" b="0" i="0">
                <a:solidFill>
                  <a:srgbClr val="A8B8C9"/>
                </a:solidFill>
              </a:rPr>
              <a:t>SQLite · Turso en</a:t>
            </a:r>
            <a:r>
              <a:rPr sz="1050">
                <a:solidFill>
                  <a:srgbClr val="A8B8C9"/>
                </a:solidFill>
              </a:rPr>
              <a:t> la nube</a:t>
            </a:r>
            <a:endParaRPr/>
          </a:p>
        </p:txBody>
      </p:sp>
      <p:sp>
        <p:nvSpPr>
          <p:cNvPr id="415" name="Google Shape;415;p12">
            <a:extLst xmlns:a="http://schemas.openxmlformats.org/drawingml/2006/main">
              <a:ext uri="{FF2B5EF4-FFF2-40B4-BE49-F238E27FC236}">
                <a16:creationId xmlns:a16="http://schemas.microsoft.com/office/drawing/2014/main" id="{33FE9B66-46FE-49F7-A85C-99831A93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4F8FC"/>
                </a:solidFill>
              </a:rPr>
              <a:t>Producto</a:t>
            </a:r>
            <a:endParaRPr/>
          </a:p>
        </p:txBody>
      </p:sp>
      <p:sp>
        <p:nvSpPr>
          <p:cNvPr id="416" name="Google Shape;416;p12">
            <a:extLst xmlns:a="http://schemas.openxmlformats.org/drawingml/2006/main">
              <a:ext uri="{FF2B5EF4-FFF2-40B4-BE49-F238E27FC236}">
                <a16:creationId xmlns:a16="http://schemas.microsoft.com/office/drawing/2014/main" id="{6DDAFA04-617D-48E1-A784-E1F74F8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Plataforma web SIGDE</a:t>
            </a:r>
            <a:endParaRPr/>
          </a:p>
        </p:txBody>
      </p:sp>
      <p:sp>
        <p:nvSpPr>
          <p:cNvPr id="417" name="Google Shape;417;p12">
            <a:extLst xmlns:a="http://schemas.openxmlformats.org/drawingml/2006/main">
              <a:ext uri="{FF2B5EF4-FFF2-40B4-BE49-F238E27FC236}">
                <a16:creationId xmlns:a16="http://schemas.microsoft.com/office/drawing/2014/main" id="{85DC5CDE-351A-4B4D-8CEA-D6A169AB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4F8FC"/>
                </a:solidFill>
              </a:rPr>
              <a:t>Servicios</a:t>
            </a:r>
            <a:endParaRPr/>
          </a:p>
        </p:txBody>
      </p:sp>
      <p:sp>
        <p:nvSpPr>
          <p:cNvPr id="418" name="Google Shape;418;p12">
            <a:extLst xmlns:a="http://schemas.openxmlformats.org/drawingml/2006/main">
              <a:ext uri="{FF2B5EF4-FFF2-40B4-BE49-F238E27FC236}">
                <a16:creationId xmlns:a16="http://schemas.microsoft.com/office/drawing/2014/main" id="{330AAFA3-D4E5-4662-B740-E6F6353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720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Convivencia, salidas, agenda, comunicación y seguridad</a:t>
            </a:r>
            <a:endParaRPr/>
          </a:p>
        </p:txBody>
      </p:sp>
      <p:cxnSp>
        <p:nvCxnSpPr>
          <p:cNvPr id="452" name="Google Shape;419;p12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0" name="Google Shape;420;p12">
            <a:extLst xmlns:a="http://schemas.openxmlformats.org/drawingml/2006/main">
              <a:ext uri="{FF2B5EF4-FFF2-40B4-BE49-F238E27FC236}">
                <a16:creationId xmlns:a16="http://schemas.microsoft.com/office/drawing/2014/main" id="{8786EFE2-D00D-4A64-830A-BE991F42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421" name="Google Shape;421;p12">
            <a:extLst xmlns:a="http://schemas.openxmlformats.org/drawingml/2006/main">
              <a:ext uri="{FF2B5EF4-FFF2-40B4-BE49-F238E27FC236}">
                <a16:creationId xmlns:a16="http://schemas.microsoft.com/office/drawing/2014/main" id="{FFFFA2FB-A743-4923-B6D4-4723B8D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12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467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13">
            <a:extLst xmlns:a="http://schemas.openxmlformats.org/drawingml/2006/main">
              <a:ext uri="{FF2B5EF4-FFF2-40B4-BE49-F238E27FC236}">
                <a16:creationId xmlns:a16="http://schemas.microsoft.com/office/drawing/2014/main" id="{A83A3189-B538-4788-A04D-F4A86AF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>
                <a:solidFill>
                  <a:srgbClr val="39C4E6"/>
                </a:solidFill>
              </a:rPr>
              <a:t>SIGDE  /  13</a:t>
            </a:r>
            <a:endParaRPr/>
          </a:p>
        </p:txBody>
      </p:sp>
      <p:sp>
        <p:nvSpPr>
          <p:cNvPr id="428" name="Google Shape;428;p13">
            <a:extLst xmlns:a="http://schemas.openxmlformats.org/drawingml/2006/main">
              <a:ext uri="{FF2B5EF4-FFF2-40B4-BE49-F238E27FC236}">
                <a16:creationId xmlns:a16="http://schemas.microsoft.com/office/drawing/2014/main" id="{35E98703-1E5E-4FC5-9620-01F44C88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F4F8FC"/>
                </a:solidFill>
              </a:rPr>
              <a:t>Autenticación</a:t>
            </a:r>
            <a:endParaRPr/>
          </a:p>
        </p:txBody>
      </p:sp>
      <p:sp>
        <p:nvSpPr>
          <p:cNvPr id="429" name="Google Shape;429;p13">
            <a:extLst xmlns:a="http://schemas.openxmlformats.org/drawingml/2006/main">
              <a:ext uri="{FF2B5EF4-FFF2-40B4-BE49-F238E27FC236}">
                <a16:creationId xmlns:a16="http://schemas.microsoft.com/office/drawing/2014/main" id="{DAEE697A-583D-4A84-A468-1DCF8E8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>
                <a:solidFill>
                  <a:srgbClr val="A8B8C9"/>
                </a:solidFill>
              </a:rPr>
              <a:t>El flujo incorpora mostrar/ocultar en ambos campos de nueva contraseña.</a:t>
            </a:r>
            <a:endParaRPr/>
          </a:p>
        </p:txBody>
      </p:sp>
      <p:cxnSp>
        <p:nvCxnSpPr>
          <p:cNvPr id="462" name="Google Shape;430;p13"/>
          <p:cNvCxnSpPr/>
          <p:nvPr/>
        </p:nvCxn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1" name="Google Shape;431;p13">
            <a:extLst xmlns:a="http://schemas.openxmlformats.org/drawingml/2006/main">
              <a:ext uri="{FF2B5EF4-FFF2-40B4-BE49-F238E27FC236}">
                <a16:creationId xmlns:a16="http://schemas.microsoft.com/office/drawing/2014/main" id="{65467123-E7A5-4D6E-97B5-0F7EF594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4" name="Google Shape;43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05c0749322423a">
            <a:alphaModFix/>
          </a:blip>
          <a:srcRect xmlns:a="http://schemas.openxmlformats.org/drawingml/2006/main" l="78" t="0" r="78" b="0"/>
          <a:stretch xmlns:a="http://schemas.openxmlformats.org/drawingml/2006/main"/>
        </p:blipFill>
        <p:spPr>
          <a:xfrm xmlns:a="http://schemas.openxmlformats.org/drawingml/2006/main">
            <a:off x="666750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  <a:ln xmlns:a="http://schemas.openxmlformats.org/drawingml/2006/main">
            <a:noFill/>
          </a:ln>
        </p:spPr>
      </p:pic>
      <p:sp>
        <p:nvSpPr>
          <p:cNvPr id="433" name="Google Shape;433;p13">
            <a:extLst xmlns:a="http://schemas.openxmlformats.org/drawingml/2006/main">
              <a:ext uri="{FF2B5EF4-FFF2-40B4-BE49-F238E27FC236}">
                <a16:creationId xmlns:a16="http://schemas.microsoft.com/office/drawing/2014/main" id="{006FFC50-4987-4822-85F9-01366987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>
            <a:extLst xmlns:a="http://schemas.openxmlformats.org/drawingml/2006/main">
              <a:ext uri="{FF2B5EF4-FFF2-40B4-BE49-F238E27FC236}">
                <a16:creationId xmlns:a16="http://schemas.microsoft.com/office/drawing/2014/main" id="{8DA21B84-8037-4E1A-8A62-3AE5136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1</a:t>
            </a:r>
            <a:endParaRPr/>
          </a:p>
        </p:txBody>
      </p:sp>
      <p:sp>
        <p:nvSpPr>
          <p:cNvPr id="435" name="Google Shape;435;p13">
            <a:extLst xmlns:a="http://schemas.openxmlformats.org/drawingml/2006/main">
              <a:ext uri="{FF2B5EF4-FFF2-40B4-BE49-F238E27FC236}">
                <a16:creationId xmlns:a16="http://schemas.microsoft.com/office/drawing/2014/main" id="{44261B48-A3FE-4101-8565-74359C60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4F8FC"/>
                </a:solidFill>
              </a:rPr>
              <a:t>Ingreso</a:t>
            </a:r>
            <a:endParaRPr/>
          </a:p>
        </p:txBody>
      </p:sp>
      <p:sp>
        <p:nvSpPr>
          <p:cNvPr id="436" name="Google Shape;436;p13">
            <a:extLst xmlns:a="http://schemas.openxmlformats.org/drawingml/2006/main">
              <a:ext uri="{FF2B5EF4-FFF2-40B4-BE49-F238E27FC236}">
                <a16:creationId xmlns:a16="http://schemas.microsoft.com/office/drawing/2014/main" id="{9CE4D207-6951-42A1-B236-16666F2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Correo, contraseña, recordar usuario y enlace de recuperación.</a:t>
            </a:r>
            <a:endParaRPr/>
          </a:p>
        </p:txBody>
      </p:sp>
      <p:sp>
        <p:nvSpPr>
          <p:cNvPr id="437" name="Google Shape;437;p13">
            <a:extLst xmlns:a="http://schemas.openxmlformats.org/drawingml/2006/main">
              <a:ext uri="{FF2B5EF4-FFF2-40B4-BE49-F238E27FC236}">
                <a16:creationId xmlns:a16="http://schemas.microsoft.com/office/drawing/2014/main" id="{1F9D6461-6BF0-4729-B3AA-37310CB4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3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59d66ffb73440e">
            <a:alphaModFix/>
          </a:blip>
          <a:srcRect xmlns:a="http://schemas.openxmlformats.org/drawingml/2006/main" l="78" t="0" r="78" b="0"/>
          <a:stretch xmlns:a="http://schemas.openxmlformats.org/drawingml/2006/main"/>
        </p:blipFill>
        <p:spPr>
          <a:xfrm xmlns:a="http://schemas.openxmlformats.org/drawingml/2006/main">
            <a:off x="4429125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  <a:ln xmlns:a="http://schemas.openxmlformats.org/drawingml/2006/main">
            <a:noFill/>
          </a:ln>
        </p:spPr>
      </p:pic>
      <p:sp>
        <p:nvSpPr>
          <p:cNvPr id="439" name="Google Shape;439;p13">
            <a:extLst xmlns:a="http://schemas.openxmlformats.org/drawingml/2006/main">
              <a:ext uri="{FF2B5EF4-FFF2-40B4-BE49-F238E27FC236}">
                <a16:creationId xmlns:a16="http://schemas.microsoft.com/office/drawing/2014/main" id="{76E63C4B-4B6E-4545-B5D6-62D8FA7C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>
            <a:extLst xmlns:a="http://schemas.openxmlformats.org/drawingml/2006/main">
              <a:ext uri="{FF2B5EF4-FFF2-40B4-BE49-F238E27FC236}">
                <a16:creationId xmlns:a16="http://schemas.microsoft.com/office/drawing/2014/main" id="{A0F1D935-EDBD-485C-99C0-5110024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2</a:t>
            </a:r>
            <a:endParaRPr/>
          </a:p>
        </p:txBody>
      </p:sp>
      <p:sp>
        <p:nvSpPr>
          <p:cNvPr id="441" name="Google Shape;441;p13">
            <a:extLst xmlns:a="http://schemas.openxmlformats.org/drawingml/2006/main">
              <a:ext uri="{FF2B5EF4-FFF2-40B4-BE49-F238E27FC236}">
                <a16:creationId xmlns:a16="http://schemas.microsoft.com/office/drawing/2014/main" id="{E0C8E977-2836-45A6-AB30-956D0FD5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4F8FC"/>
                </a:solidFill>
              </a:rPr>
              <a:t>Verificación</a:t>
            </a:r>
            <a:endParaRPr/>
          </a:p>
        </p:txBody>
      </p:sp>
      <p:sp>
        <p:nvSpPr>
          <p:cNvPr id="442" name="Google Shape;442;p13">
            <a:extLst xmlns:a="http://schemas.openxmlformats.org/drawingml/2006/main">
              <a:ext uri="{FF2B5EF4-FFF2-40B4-BE49-F238E27FC236}">
                <a16:creationId xmlns:a16="http://schemas.microsoft.com/office/drawing/2014/main" id="{C0E6B8B6-7955-4817-BBA6-8DA19752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Código de 6 dígitos y espera controlada para reenviar.</a:t>
            </a:r>
            <a:endParaRPr/>
          </a:p>
        </p:txBody>
      </p:sp>
      <p:sp>
        <p:nvSpPr>
          <p:cNvPr id="443" name="Google Shape;443;p13">
            <a:extLst xmlns:a="http://schemas.openxmlformats.org/drawingml/2006/main">
              <a:ext uri="{FF2B5EF4-FFF2-40B4-BE49-F238E27FC236}">
                <a16:creationId xmlns:a16="http://schemas.microsoft.com/office/drawing/2014/main" id="{57D0A428-F986-4642-8115-FD70F0B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75" cmpd="sng">
            <a:solidFill>
              <a:srgbClr val="244A6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4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9012e566dc48b7">
            <a:alphaModFix/>
          </a:blip>
          <a:srcRect xmlns:a="http://schemas.openxmlformats.org/drawingml/2006/main" l="24" t="0" r="24" b="0"/>
          <a:stretch xmlns:a="http://schemas.openxmlformats.org/drawingml/2006/main"/>
        </p:blipFill>
        <p:spPr>
          <a:xfrm xmlns:a="http://schemas.openxmlformats.org/drawingml/2006/main">
            <a:off x="8191500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  <a:ln xmlns:a="http://schemas.openxmlformats.org/drawingml/2006/main">
            <a:noFill/>
          </a:ln>
        </p:spPr>
      </p:pic>
      <p:sp>
        <p:nvSpPr>
          <p:cNvPr id="445" name="Google Shape;445;p13">
            <a:extLst xmlns:a="http://schemas.openxmlformats.org/drawingml/2006/main">
              <a:ext uri="{FF2B5EF4-FFF2-40B4-BE49-F238E27FC236}">
                <a16:creationId xmlns:a16="http://schemas.microsoft.com/office/drawing/2014/main" id="{C7555EF6-76AF-4FA0-AFFA-5965D097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 cmpd="sng">
            <a:solidFill>
              <a:srgbClr val="F4F8F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9050" dist="9525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>
            <a:extLst xmlns:a="http://schemas.openxmlformats.org/drawingml/2006/main">
              <a:ext uri="{FF2B5EF4-FFF2-40B4-BE49-F238E27FC236}">
                <a16:creationId xmlns:a16="http://schemas.microsoft.com/office/drawing/2014/main" id="{D895D54A-F9D0-4BDF-AE9B-77A5DECE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7162B"/>
                </a:solidFill>
              </a:rPr>
              <a:t>3</a:t>
            </a:r>
            <a:endParaRPr/>
          </a:p>
        </p:txBody>
      </p:sp>
      <p:sp>
        <p:nvSpPr>
          <p:cNvPr id="447" name="Google Shape;447;p13">
            <a:extLst xmlns:a="http://schemas.openxmlformats.org/drawingml/2006/main">
              <a:ext uri="{FF2B5EF4-FFF2-40B4-BE49-F238E27FC236}">
                <a16:creationId xmlns:a16="http://schemas.microsoft.com/office/drawing/2014/main" id="{5D1FD76E-AC97-4F95-B9BD-2B967FE3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75" b="1" i="0">
                <a:solidFill>
                  <a:srgbClr val="F4F8FC"/>
                </a:solidFill>
              </a:rPr>
              <a:t>Nueva contraseña</a:t>
            </a:r>
            <a:endParaRPr/>
          </a:p>
        </p:txBody>
      </p:sp>
      <p:sp>
        <p:nvSpPr>
          <p:cNvPr id="448" name="Google Shape;448;p13">
            <a:extLst xmlns:a="http://schemas.openxmlformats.org/drawingml/2006/main">
              <a:ext uri="{FF2B5EF4-FFF2-40B4-BE49-F238E27FC236}">
                <a16:creationId xmlns:a16="http://schemas.microsoft.com/office/drawing/2014/main" id="{AFF5D6D7-F90C-43C3-86B8-3280D32F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A8B8C9"/>
                </a:solidFill>
              </a:rPr>
              <a:t>Fortaleza, confirmación y control de visibilidad en ambos campos.</a:t>
            </a:r>
            <a:endParaRPr/>
          </a:p>
        </p:txBody>
      </p:sp>
      <p:sp>
        <p:nvSpPr>
          <p:cNvPr id="449" name="Google Shape;449;p13">
            <a:extLst xmlns:a="http://schemas.openxmlformats.org/drawingml/2006/main">
              <a:ext uri="{FF2B5EF4-FFF2-40B4-BE49-F238E27FC236}">
                <a16:creationId xmlns:a16="http://schemas.microsoft.com/office/drawing/2014/main" id="{04995C6F-FD00-420A-9A39-23ED3A8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 cmpd="sng">
            <a:solidFill>
              <a:srgbClr val="F5B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>
            <a:extLst xmlns:a="http://schemas.openxmlformats.org/drawingml/2006/main">
              <a:ext uri="{FF2B5EF4-FFF2-40B4-BE49-F238E27FC236}">
                <a16:creationId xmlns:a16="http://schemas.microsoft.com/office/drawing/2014/main" id="{5A5824EB-176A-44DA-B727-65FDEC8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5B94C"/>
                </a:solidFill>
              </a:rPr>
              <a:t>Mejora aplicada</a:t>
            </a:r>
            <a:endParaRPr/>
          </a:p>
        </p:txBody>
      </p:sp>
      <p:sp>
        <p:nvSpPr>
          <p:cNvPr id="451" name="Google Shape;451;p13">
            <a:extLst xmlns:a="http://schemas.openxmlformats.org/drawingml/2006/main">
              <a:ext uri="{FF2B5EF4-FFF2-40B4-BE49-F238E27FC236}">
                <a16:creationId xmlns:a16="http://schemas.microsoft.com/office/drawing/2014/main" id="{F0D5D32B-8943-4EC2-81D1-F182894E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0070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F4F8FC"/>
                </a:solidFill>
              </a:rPr>
              <a:t>El usuario puede revisar la nueva contraseña y su confirmación antes de guardar.</a:t>
            </a:r>
            <a:endParaRPr/>
          </a:p>
        </p:txBody>
      </p:sp>
      <p:cxnSp>
        <p:nvCxnSpPr>
          <p:cNvPr id="484" name="Google Shape;452;p13"/>
          <p:cNvCxnSpPr/>
          <p:nvPr/>
        </p:nvCxn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244A6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13">
            <a:extLst xmlns:a="http://schemas.openxmlformats.org/drawingml/2006/main">
              <a:ext uri="{FF2B5EF4-FFF2-40B4-BE49-F238E27FC236}">
                <a16:creationId xmlns:a16="http://schemas.microsoft.com/office/drawing/2014/main" id="{9A69E0E9-24FA-4384-82E9-8492AEDC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  <a:endParaRPr/>
          </a:p>
        </p:txBody>
      </p:sp>
      <p:sp>
        <p:nvSpPr>
          <p:cNvPr id="454" name="Google Shape;454;p13">
            <a:extLst xmlns:a="http://schemas.openxmlformats.org/drawingml/2006/main">
              <a:ext uri="{FF2B5EF4-FFF2-40B4-BE49-F238E27FC236}">
                <a16:creationId xmlns:a16="http://schemas.microsoft.com/office/drawing/2014/main" id="{484CD939-EA5C-4923-B29E-8A39707C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39C4E6"/>
                </a:solidFill>
              </a:rPr>
              <a:t>13</a:t>
            </a:r>
            <a:endParaRPr/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0D0ADFF7-A6A9-4A10-B921-9BF77C0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Capturas de referencia anteriores al ajuste.</a:t>
            </a:r>
          </a:p>
        </p:txBody>
      </p:sp>
    </p:spTree>
    <p:extLst>
      <p:ext uri="{BB962C8B-B14F-4D97-AF65-F5344CB8AC3E}">
        <p14:creationId xmlns:p14="http://schemas.microsoft.com/office/powerpoint/2010/main" val="14864865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6537-BBC7-499A-B996-94050752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C0E21-3F1B-4EB1-82B3-32BB476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E0F3F-48C7-4DD7-A338-29C5FB19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76CC0-3E0C-4223-935A-603A50B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5B274-76D2-48F7-AEC7-3F72A6E1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Avances desde el 1 al 15 de septiembre</a:t>
            </a:r>
          </a:p>
        </p:txBody>
      </p:sp>
    </p:spTree>
    <p:extLst>
      <p:ext uri="{BB962C8B-B14F-4D97-AF65-F5344CB8AC3E}">
        <p14:creationId xmlns:p14="http://schemas.microsoft.com/office/powerpoint/2010/main" val="80227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DB912-B8AE-4550-9851-B29A1EAC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305B3-F05C-436A-9D5F-ADD5F30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B676D-39E2-4A38-996D-A8A5CEB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5857E-665B-4557-A73C-CC0A84EA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0178F-7497-42A2-9E27-94441E6D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Reportes disciplinarios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29505-076D-4C3B-B68C-7D061DA7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Consulta, filtros y detalle conectados con información del sistema.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B9B5B-A7B3-45DF-9916-09F3D47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44587115d4605"/>
          <a:stretch xmlns:a="http://schemas.openxmlformats.org/drawingml/2006/main"/>
        </p:blipFill>
        <p:spPr>
          <a:xfrm xmlns:a="http://schemas.openxmlformats.org/drawingml/2006/main">
            <a:off x="587096" y="1857375"/>
            <a:ext cx="7969809" cy="4238625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8FA0A-2290-4763-A7E5-DFD1CDE1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7A7B4-EF80-4E66-BE75-ED3FDC5A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Se conectó el listado con la API. El usuario puede buscar, filtrar y consultar cada reporte. El detalle conserva evidencias y observaciones.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70CBE-0836-4D2F-9E98-48650DD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Reportes listos para consulta y seguimiento</a:t>
            </a:r>
          </a:p>
        </p:txBody>
      </p:sp>
    </p:spTree>
    <p:extLst>
      <p:ext uri="{BB962C8B-B14F-4D97-AF65-F5344CB8AC3E}">
        <p14:creationId xmlns:p14="http://schemas.microsoft.com/office/powerpoint/2010/main" val="21199670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507D3-4470-443E-809E-1D35AFF3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7A9C2-1636-4F41-A7DB-80D1BF1B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304BF-D587-468F-8BAD-F816FE8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5E942-C73E-4654-873D-EBF8F853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52BBC-C970-4316-90B4-30425980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Ruta de Convivencia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2308A-602B-4094-B91C-A6C7A27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Registro de procesos y aplicación de las etapas definidas por el manual.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5A8AB-2FA5-460B-84BB-9147CB03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2e01376664129"/>
          <a:stretch xmlns:a="http://schemas.openxmlformats.org/drawingml/2006/main"/>
        </p:blipFill>
        <p:spPr>
          <a:xfrm xmlns:a="http://schemas.openxmlformats.org/drawingml/2006/main">
            <a:off x="571500" y="1888718"/>
            <a:ext cx="8001000" cy="4175939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8F7EC-4DF8-4A61-A6D8-3A6B2120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C3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C39B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06F32-AF80-4997-BF3B-5D86EBD2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Se creó el historial de procesos y el formulario para activar la ruta. Cada caso guarda la etapa, el responsable y su estado.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54721-7F4E-42E6-8FD4-2651BD8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Ruta institucional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2906895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CA85D-3BDA-4E43-A577-0362340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C3E66-EC25-4D34-B55D-C5F8FE69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420BA-2DD1-465B-9F1A-F0E34FC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5CE1-8077-4992-8FB9-433C4B44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8FD75-461E-49BC-84F6-66F3129E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Seguimiento de alertas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799DE-E3E2-495D-A7CD-F66E193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Casos priorizados mediante reglas configurables de reincidencia.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9A7E-DA53-48F9-AFDF-02422599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732ebcfaa48fe"/>
          <a:stretch xmlns:a="http://schemas.openxmlformats.org/drawingml/2006/main"/>
        </p:blipFill>
        <p:spPr>
          <a:xfrm xmlns:a="http://schemas.openxmlformats.org/drawingml/2006/main">
            <a:off x="571500" y="1870637"/>
            <a:ext cx="8001000" cy="4212101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35474-AC1B-43B7-B576-848640E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B9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94C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71B0F-DBE0-427C-8148-7D5CD5E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Las alertas se calculan con umbrales verificables. Coordinación puede actualizar el estado del caso y guardar notas de seguimiento.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967DD-4063-4131-93B5-ED9B7875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Alertas con revisión humana</a:t>
            </a:r>
          </a:p>
        </p:txBody>
      </p:sp>
    </p:spTree>
    <p:extLst>
      <p:ext uri="{BB962C8B-B14F-4D97-AF65-F5344CB8AC3E}">
        <p14:creationId xmlns:p14="http://schemas.microsoft.com/office/powerpoint/2010/main" val="4618802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E83D9-7674-4587-891E-E771CC3F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086EA-F327-44F9-869C-F02D6542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90825-93D9-4F30-81ED-8F54554B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28BD-3DB7-4DD0-B25F-2E01A75A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63B2A-EF56-4AD4-B2D4-3D44AECB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Estadísticas institucionales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F2F8A-465A-40AB-8E75-6CBB2F6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Indicadores reales de convivencia y control de salidas.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4CDCE-2A9A-4B80-9FBB-1858ABD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31cab76ce4376"/>
          <a:stretch xmlns:a="http://schemas.openxmlformats.org/drawingml/2006/main"/>
        </p:blipFill>
        <p:spPr>
          <a:xfrm xmlns:a="http://schemas.openxmlformats.org/drawingml/2006/main">
            <a:off x="571500" y="1858043"/>
            <a:ext cx="8001000" cy="4237290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6DDF1-6A81-49AD-9091-51D29DAE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ACD90-03FD-4FBC-92D8-E3B3EE28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Las métricas utilizan datos del sistema. También se habilitaron exportaciones de resúmenes y registros en PDF o Excel.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EAC98-FA5E-49E7-AA10-9A141CB9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Información lista para análisis y exportación</a:t>
            </a:r>
          </a:p>
        </p:txBody>
      </p:sp>
    </p:spTree>
    <p:extLst>
      <p:ext uri="{BB962C8B-B14F-4D97-AF65-F5344CB8AC3E}">
        <p14:creationId xmlns:p14="http://schemas.microsoft.com/office/powerpoint/2010/main" val="2841232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90E59-01EB-45D0-BFA5-C60302BA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36DCE-873C-4A76-BBA0-C850D14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2E94A-EC6C-47EF-AB1A-6A3CD241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B2BE3-8059-49C6-BEFC-7CBC8EE3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BEE83-24F8-46C2-B970-9D015979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Calendario institucional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BA258-0CB1-48E2-A177-16A35DD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Registro y consulta de los próximos eventos escolares.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A7259-405F-489F-A9C4-68D20829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955360b8b487c"/>
          <a:stretch xmlns:a="http://schemas.openxmlformats.org/drawingml/2006/main"/>
        </p:blipFill>
        <p:spPr>
          <a:xfrm xmlns:a="http://schemas.openxmlformats.org/drawingml/2006/main">
            <a:off x="571500" y="2312480"/>
            <a:ext cx="8001000" cy="332841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2BABC-BBEC-49A1-ABB2-077BD81A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C3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C39B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F4BEE-6092-45FE-8716-AFECFD9D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Coordinación puede registrar eventos con fecha, hora, ubicación y descripción. Los demás roles consultan la agenda en hora de Colombia.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6EB4D-EB93-437F-9534-AABF9120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Agenda compartida entre los roles</a:t>
            </a:r>
          </a:p>
        </p:txBody>
      </p:sp>
    </p:spTree>
    <p:extLst>
      <p:ext uri="{BB962C8B-B14F-4D97-AF65-F5344CB8AC3E}">
        <p14:creationId xmlns:p14="http://schemas.microsoft.com/office/powerpoint/2010/main" val="7425608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2D3B4-E891-4F96-99FB-06427C1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64864-D48C-4B64-AB98-BBD0A635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F3403-F175-4604-AB01-7107816B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36EE-3A33-4363-B90F-3462CFDD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DE35B-05C3-43B3-A959-97C9DA21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Cambio de contraseña de usuarios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C075-384B-4855-B9E2-A0BC6BB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Actualización segura desde la edición de cada cuenta.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16FF8-2739-4AC3-9539-224901F9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7a376363548e9"/>
          <a:stretch xmlns:a="http://schemas.openxmlformats.org/drawingml/2006/main"/>
        </p:blipFill>
        <p:spPr>
          <a:xfrm xmlns:a="http://schemas.openxmlformats.org/drawingml/2006/main">
            <a:off x="2842502" y="1762125"/>
            <a:ext cx="3744746" cy="4619625"/>
          </a:xfrm>
          <a:prstGeom xmlns:a="http://schemas.openxmlformats.org/drawingml/2006/main" prst="roundRect">
            <a:avLst>
              <a:gd name="adj" fmla="val 288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FA196-85DC-4EBB-96FE-7BCC7769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C3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C39B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AC4D5-BA35-4174-BFB1-DD942BF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Se añadió una nueva contraseña opcional y su confirmación al editar un usuario. Si los campos quedan vacíos, se conserva la contraseña actual. Al guardar el cambio, se cierran las sesiones anteriores.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F0453-94C1-459B-9FC9-D6EAAEB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Credenciales administradas desde Usuarios</a:t>
            </a:r>
          </a:p>
        </p:txBody>
      </p:sp>
    </p:spTree>
    <p:extLst>
      <p:ext uri="{BB962C8B-B14F-4D97-AF65-F5344CB8AC3E}">
        <p14:creationId xmlns:p14="http://schemas.microsoft.com/office/powerpoint/2010/main" val="384956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9065E-21E2-4F40-B0FE-F70B81A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SIGDE  / 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ABED-F957-43F8-960C-D4D2AD1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34E6E-0B07-4E0F-8534-DD39E3A1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7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79D"/>
                </a:solidFill>
                <a:latin typeface="Arial"/>
                <a:ea typeface="Arial"/>
                <a:cs typeface="Arial"/>
              </a:rPr>
              <a:t>SIGDE · Avances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B9E70-0079-4FE8-A300-67DF1E05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53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C4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4E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D330F-CBCC-4723-BACD-057E90BE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Visibilidad de la contraseña temporal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A4C69-41FA-4D5B-BCC3-CF553BA4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8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8C9"/>
                </a:solidFill>
                <a:latin typeface="Arial"/>
                <a:ea typeface="Arial"/>
                <a:cs typeface="Arial"/>
              </a:rPr>
              <a:t>Control para revisar la contraseña antes de crear un usuario.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39A09-6600-4F52-B9FD-E54775F9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0266f0eed4abd"/>
          <a:srcRect xmlns:a="http://schemas.openxmlformats.org/drawingml/2006/main" l="0" t="19885" r="0" b="198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857500"/>
            <a:ext cx="7762875" cy="1562100"/>
          </a:xfrm>
          <a:prstGeom xmlns:a="http://schemas.openxmlformats.org/drawingml/2006/main" prst="roundRect">
            <a:avLst>
              <a:gd name="adj" fmla="val 85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9575B-4AF9-40A3-BBE3-D49C9879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B9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94C"/>
                </a:solidFill>
                <a:latin typeface="Arial"/>
                <a:ea typeface="Arial"/>
                <a:cs typeface="Arial"/>
              </a:rPr>
              <a:t>Qué se hizo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A4A48-2B39-4A23-91EE-AC89224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0CDD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0CDDA"/>
                </a:solidFill>
                <a:latin typeface="Arial"/>
                <a:ea typeface="Arial"/>
                <a:cs typeface="Arial"/>
              </a:rPr>
              <a:t>Al crear un usuario, Coordinación puede mostrar u ocultar la contraseña temporal antes de guardarla. La captura oculta el valor escrito.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D7969-F635-43EF-89BC-37DBF482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625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D8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5D8F0"/>
                </a:solidFill>
                <a:latin typeface="Arial"/>
                <a:ea typeface="Arial"/>
                <a:cs typeface="Arial"/>
              </a:rPr>
              <a:t>Contraseña revisable sin dejarla visible</a:t>
            </a:r>
          </a:p>
        </p:txBody>
      </p:sp>
    </p:spTree>
    <p:extLst>
      <p:ext uri="{BB962C8B-B14F-4D97-AF65-F5344CB8AC3E}">
        <p14:creationId xmlns:p14="http://schemas.microsoft.com/office/powerpoint/2010/main" val="1636116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2026-09-15T04:42:48.1480000Z</dcterms:created>
  <dcterms:modified xsi:type="dcterms:W3CDTF">2026-09-15T04:42:48.1480000Z</dcterms:modified>
</coreProperties>
</file>